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34614" y="146304"/>
            <a:ext cx="8029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099206" y="18274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Secrets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030199" y="182743"/>
            <a:ext cx="98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Audit Logs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147481" y="182743"/>
            <a:ext cx="6481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Stats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923655" y="182743"/>
            <a:ext cx="6750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Risks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726765" y="182743"/>
            <a:ext cx="839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Settings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pic>
        <p:nvPicPr>
          <p:cNvPr id="15" name="Image 1" descr="/home/claude/decks/kit2/worlds/../logos/concealer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02407"/>
            <a:ext cx="801860" cy="8018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834675" y="1201704"/>
            <a:ext cx="8229600" cy="884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900" spc="-137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4900" dirty="0"/>
          </a:p>
        </p:txBody>
      </p:sp>
      <p:sp>
        <p:nvSpPr>
          <p:cNvPr id="17" name="Shape 13"/>
          <p:cNvSpPr/>
          <p:nvPr/>
        </p:nvSpPr>
        <p:spPr>
          <a:xfrm>
            <a:off x="4518157" y="1246510"/>
            <a:ext cx="1311684" cy="71365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840757" y="1201704"/>
            <a:ext cx="1032243" cy="713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900" spc="-98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4900" dirty="0"/>
          </a:p>
        </p:txBody>
      </p:sp>
      <p:sp>
        <p:nvSpPr>
          <p:cNvPr id="19" name="Shape 15"/>
          <p:cNvSpPr/>
          <p:nvPr/>
        </p:nvSpPr>
        <p:spPr>
          <a:xfrm>
            <a:off x="658368" y="2182546"/>
            <a:ext cx="3558540" cy="384048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914400" y="2248383"/>
            <a:ext cx="35585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spc="135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AI SECRET MANAGER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" y="2766024"/>
            <a:ext cx="5184648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b="1" spc="-46" kern="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Stop pasting keys into chat windows.</a:t>
            </a:r>
            <a:endParaRPr lang="en-US" sz="33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3987571"/>
            <a:ext cx="5074920" cy="112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Your agents need secrets. Handing them the real key is how it leaks. concealer keeps one encrypted file on your own disk — SOPS and age underneath — and gives every interface, including an MCP server your AI can call, a way to use a secret without ever seeing it.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58368" y="5256809"/>
            <a:ext cx="728091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58368" y="5338948"/>
            <a:ext cx="728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68" kern="0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CLI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1496187" y="5256809"/>
            <a:ext cx="980694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496187" y="5338948"/>
            <a:ext cx="98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68" kern="0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WEB UI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2586609" y="5256809"/>
            <a:ext cx="728091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586609" y="5338948"/>
            <a:ext cx="728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68" kern="0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TUI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424428" y="5256809"/>
            <a:ext cx="1317498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424428" y="5338948"/>
            <a:ext cx="1317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68" kern="0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MCP SERVER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58368" y="5659145"/>
            <a:ext cx="980694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58368" y="5741284"/>
            <a:ext cx="98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68" kern="0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CHROME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58368" y="6053328"/>
            <a:ext cx="5074920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58368" y="6251799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concealer.fxerkan.com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2688336" y="6251799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MIT  ·  macOS · Linux · Windows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108192" y="1408176"/>
            <a:ext cx="5827471" cy="3759258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37" name="Image 2" descr="/home/claude/deck/imgc/app-secre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335024"/>
            <a:ext cx="5827471" cy="375925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6053328" y="1335024"/>
            <a:ext cx="5827471" cy="3759258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053328" y="5292752"/>
            <a:ext cx="58274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Every secret, scoped and tagged — and none of it leaves this machine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099206" y="18274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Secrets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030199" y="182743"/>
            <a:ext cx="98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Audit Logs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147481" y="182743"/>
            <a:ext cx="6481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Stats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59063" y="146304"/>
            <a:ext cx="675094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23655" y="182743"/>
            <a:ext cx="6750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Risks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726765" y="182743"/>
            <a:ext cx="839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Settings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1058144"/>
            <a:ext cx="55046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spc="-75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And it tells you what already leaked.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2269856"/>
            <a:ext cx="539496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secret you rotate is safe. A secret sitting in last year's commit is not. concealer scans the working tree, the git history, .env files and imports, and lists what is already public as exposure — not as a warning you can dismiss.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" y="3302457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" y="3408253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$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408253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scan ./repo --history --envvars --import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58368" y="3796233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9536" y="3902029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$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902029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expose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58368" y="4290009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9536" y="4395805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$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4395805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gitscan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4994600"/>
            <a:ext cx="53949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same scan runs from the web UI, and every rotation is written to a tamper-evident audit chain.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6053328"/>
            <a:ext cx="5394960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6251799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docs/security.md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68796" y="1551054"/>
            <a:ext cx="5468112" cy="3966204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30" name="Image 1" descr="/home/claude/deck/imgc/app-risks-exposu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500762"/>
            <a:ext cx="5468112" cy="3966204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6327648" y="1500762"/>
            <a:ext cx="5468112" cy="3966204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327648" y="6142071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Risks → Exposure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100214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1002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14476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Your coding assistant reads every file in the repo.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035040" cy="83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Claude Code, Codex, Gemini CLI, opencode, Cursor — all of them are wonderful, and all of them read your project files. The moment a key lands in a .env, a credentials.json, or a chat window, it has four ways out.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2891092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" y="293187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3816" y="3220276"/>
            <a:ext cx="0" cy="256032"/>
          </a:xfrm>
          <a:prstGeom prst="line">
            <a:avLst/>
          </a:prstGeom>
          <a:noFill/>
          <a:ln w="17780">
            <a:solidFill>
              <a:srgbClr val="2626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33856" y="286612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Read by the agent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sent to a model provider.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349459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4070D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8368" y="353537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3816" y="3823780"/>
            <a:ext cx="0" cy="256032"/>
          </a:xfrm>
          <a:prstGeom prst="line">
            <a:avLst/>
          </a:prstGeom>
          <a:noFill/>
          <a:ln w="17780">
            <a:solidFill>
              <a:srgbClr val="26262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33856" y="346963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Captured in logs or telemetry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of whatever tool you happen to be using.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8368" y="40981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F9E6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8368" y="413888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13816" y="4427284"/>
            <a:ext cx="0" cy="256032"/>
          </a:xfrm>
          <a:prstGeom prst="line">
            <a:avLst/>
          </a:prstGeom>
          <a:noFill/>
          <a:ln w="17780">
            <a:solidFill>
              <a:srgbClr val="2626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133856" y="4073136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Committed to git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by accident — and it stays in the history.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8368" y="470160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D8963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58368" y="474238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133856" y="46766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Copied across a dozen repos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under the same name, with no way to tell them apart.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205472" y="954725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that costs you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205472" y="1389888"/>
            <a:ext cx="992810" cy="1060704"/>
          </a:xfrm>
          <a:prstGeom prst="roundRect">
            <a:avLst>
              <a:gd name="adj" fmla="val 8289"/>
            </a:avLst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06640" y="1524853"/>
            <a:ext cx="627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04A4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397496" y="2142444"/>
            <a:ext cx="645338" cy="319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50" spc="39" kern="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WAYS A KEY ESCAPES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8317154" y="1389888"/>
            <a:ext cx="992810" cy="1060704"/>
          </a:xfrm>
          <a:prstGeom prst="roundRect">
            <a:avLst>
              <a:gd name="adj" fmla="val 8289"/>
            </a:avLst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518322" y="1524853"/>
            <a:ext cx="627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070D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8509178" y="2174377"/>
            <a:ext cx="645338" cy="29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550" spc="33" kern="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PASTE YOU'LL REGRET</a:t>
            </a:r>
            <a:endParaRPr lang="en-US" sz="550" dirty="0"/>
          </a:p>
        </p:txBody>
      </p:sp>
      <p:sp>
        <p:nvSpPr>
          <p:cNvPr id="35" name="Shape 32"/>
          <p:cNvSpPr/>
          <p:nvPr/>
        </p:nvSpPr>
        <p:spPr>
          <a:xfrm>
            <a:off x="9428836" y="1389888"/>
            <a:ext cx="992810" cy="1060704"/>
          </a:xfrm>
          <a:prstGeom prst="roundRect">
            <a:avLst>
              <a:gd name="adj" fmla="val 8289"/>
            </a:avLst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30004" y="1524853"/>
            <a:ext cx="627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F9E6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9620860" y="2214293"/>
            <a:ext cx="645338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25" spc="26" kern="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TOOLS THAT STOP IT IN THE TRANSCRIPT</a:t>
            </a:r>
            <a:endParaRPr lang="en-US" sz="425" dirty="0"/>
          </a:p>
        </p:txBody>
      </p:sp>
      <p:sp>
        <p:nvSpPr>
          <p:cNvPr id="38" name="Shape 35"/>
          <p:cNvSpPr/>
          <p:nvPr/>
        </p:nvSpPr>
        <p:spPr>
          <a:xfrm>
            <a:off x="10540517" y="1389888"/>
            <a:ext cx="992810" cy="1060704"/>
          </a:xfrm>
          <a:prstGeom prst="roundRect">
            <a:avLst>
              <a:gd name="adj" fmla="val 8289"/>
            </a:avLst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741685" y="1524853"/>
            <a:ext cx="627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8963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∞</a:t>
            </a:r>
            <a:endParaRPr lang="en-US" sz="2200" dirty="0"/>
          </a:p>
        </p:txBody>
      </p:sp>
      <p:sp>
        <p:nvSpPr>
          <p:cNvPr id="40" name="Text 37"/>
          <p:cNvSpPr txBox="1"/>
          <p:nvPr/>
        </p:nvSpPr>
        <p:spPr>
          <a:xfrm>
            <a:off x="10732541" y="2142444"/>
            <a:ext cx="645338" cy="319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50" spc="39" kern="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REACH ONCE IT'S OUT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7237476" y="2902031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443216" y="2791389"/>
            <a:ext cx="4090111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Nothing on this list is a bug in the agent — it is what reading your files </a:t>
            </a:r>
            <a:pPr algn="l" indent="0" marL="0">
              <a:lnSpc>
                <a:spcPts val="1562"/>
              </a:lnSpc>
              <a:buNone/>
            </a:pPr>
            <a:r>
              <a:rPr lang="en-US" sz="1100" i="1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means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237476" y="3481659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443216" y="3371017"/>
            <a:ext cx="4090111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 the fix cannot be "be careful". It has to be that the value is never in the file, the transcript, or the history in the first place.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237476" y="4061287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443216" y="3950645"/>
            <a:ext cx="4090111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If you have ever pasted a secret into a chat window and regretted it a second later — that is the itch concealer scratches.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README.md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100214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1002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24240"/>
            <a:ext cx="10808208" cy="1242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spc="-79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Doppler, Infisical, Vault and 1Password all solve a different problem.</a:t>
            </a:r>
            <a:endParaRPr lang="en-US" sz="33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65168"/>
            <a:ext cx="8595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They are built for fleets, teams and sync. A single developer with an AI agent on one laptop needs five things none of them lead with: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2512911"/>
            <a:ext cx="3503066" cy="1547876"/>
          </a:xfrm>
          <a:prstGeom prst="roundRect">
            <a:avLst>
              <a:gd name="adj" fmla="val 5907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2640927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2694328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01 · Offline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2918996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Local-only, provably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" y="3250324"/>
            <a:ext cx="3064154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Secrets never leave the machine. No account, no sync server, no telemetry — you can put a firewall in front of it and watch nothing phone home.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44314" y="2512911"/>
            <a:ext cx="3503066" cy="1547876"/>
          </a:xfrm>
          <a:prstGeom prst="roundRect">
            <a:avLst>
              <a:gd name="adj" fmla="val 5907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44314" y="2640927"/>
            <a:ext cx="0" cy="822960"/>
          </a:xfrm>
          <a:prstGeom prst="line">
            <a:avLst/>
          </a:prstGeom>
          <a:noFill/>
          <a:ln w="38100">
            <a:solidFill>
              <a:srgbClr val="4070D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63770" y="2694328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 · Portable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4563770" y="2918996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Password, not hardware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63770" y="3250324"/>
            <a:ext cx="3064154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vault decrypts on any machine with just the master password. It is not tied to this laptop's Keychain or TPM. Copy the files, type the password, done.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30261" y="2512911"/>
            <a:ext cx="3503066" cy="1547876"/>
          </a:xfrm>
          <a:prstGeom prst="roundRect">
            <a:avLst>
              <a:gd name="adj" fmla="val 5907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30261" y="2640927"/>
            <a:ext cx="0" cy="822960"/>
          </a:xfrm>
          <a:prstGeom prst="line">
            <a:avLst/>
          </a:prstGeom>
          <a:noFill/>
          <a:ln w="38100">
            <a:solidFill>
              <a:srgbClr val="2F9E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49717" y="2694328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03 · Git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8249717" y="2918996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Inspectable, versionable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249717" y="3250324"/>
            <a:ext cx="3064154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encrypted vault is a plain SOPS file you can commit — keys visible, values encrypted. The tool itself is one readable Python script, not a black box.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58368" y="4243667"/>
            <a:ext cx="3503066" cy="1547876"/>
          </a:xfrm>
          <a:prstGeom prst="roundRect">
            <a:avLst>
              <a:gd name="adj" fmla="val 5907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4371683"/>
            <a:ext cx="0" cy="822960"/>
          </a:xfrm>
          <a:prstGeom prst="line">
            <a:avLst/>
          </a:prstGeom>
          <a:noFill/>
          <a:ln w="38100">
            <a:solidFill>
              <a:srgbClr val="D896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77824" y="4425084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D8963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04 · AI-safe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877824" y="4649752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Agents use, never see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77824" y="4981080"/>
            <a:ext cx="3064154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MCP server lets an agent list names and inject values into a command's environment. Plaintext is redacted from everything it reads back.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344314" y="4243667"/>
            <a:ext cx="3503066" cy="1547876"/>
          </a:xfrm>
          <a:prstGeom prst="roundRect">
            <a:avLst>
              <a:gd name="adj" fmla="val 5907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44314" y="4371683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63770" y="4425084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05 · Scoped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4563770" y="4649752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place, many projects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563770" y="4981080"/>
            <a:ext cx="3064154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same value across many repos is disambiguated by tenant / project / environment / repo instead of one ambiguous name.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030261" y="4243667"/>
            <a:ext cx="3503066" cy="1547876"/>
          </a:xfrm>
          <a:prstGeom prst="roundRect">
            <a:avLst>
              <a:gd name="adj" fmla="val 5907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030261" y="4371683"/>
            <a:ext cx="0" cy="822960"/>
          </a:xfrm>
          <a:prstGeom prst="line">
            <a:avLst/>
          </a:prstGeom>
          <a:noFill/>
          <a:ln w="38100">
            <a:solidFill>
              <a:srgbClr val="407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49717" y="4425084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06 · Honest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249717" y="4649752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Documented ceilings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8249717" y="4981080"/>
            <a:ext cx="3064154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limit is written down, not hidden: the local audit key, CPython's un-zeroed memory, the single-user web server. A security review can read them.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README.md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69543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69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 thin, auditable wrapper around two battle-tested tools.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83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concealer implements no cryptography of its own. SOPS encrypts the vault; age is the backend. concealer adds only the part that was missing: typed secrets, four-dimension scoping, tags, a professional local web console, a tamper-evident audit chain, and an MCP server.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940195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2829552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One encrypted file.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secrets.enc.yaml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per-value AES-256-GCM over age X25519, git-friendly.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321449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3210806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One readable script.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Python 3, standard library only. MIT licensed. No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pip install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for the tool itself.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702703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592060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interfaces, one core.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CLI · Web UI · TUI · MCP · Chrome extension all funnel into the same code path — and the same audit log.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282331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4171688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Three platforms.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macOS, Linux and Windows, each verified in CI.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663585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552942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Key-at-rest.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The age private key is never written to disk in plaintext — only wrapped copies exist.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520940" y="2515823"/>
            <a:ext cx="4053535" cy="2128106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4" name="Image 1" descr="/home/claude/deck/img/hero-o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465531"/>
            <a:ext cx="4053535" cy="212810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479792" y="2465531"/>
            <a:ext cx="4053535" cy="2128106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README.md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69543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69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Agents use secrets. They never read them.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Register an agent, hand it a revocable token, and it can run psql or curl with a live credential — while the value stays out of its context entirely.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728422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2617780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list_secrets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search_secrets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names, types, scopes and tags.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Never values.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109676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2999034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run_with_secrets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runs a command with the matching secrets injected into a child environment; values are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redacted from the returned output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689304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578662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set_secret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writes a value, and cannot retrieve the one it just wrote.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070558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3959916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Registration is mandatory.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 human token, or no token, gets </a:t>
            </a:r>
            <a:pPr algn="l" indent="0" marL="0">
              <a:lnSpc>
                <a:spcPts val="1562"/>
              </a:lnSpc>
              <a:buNone/>
            </a:pPr>
            <a:r>
              <a:rPr lang="en-US" sz="1100" i="1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access denied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On a hardened vault the server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fails closed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650186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539544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Anti-bulk-exfiltration.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Per-agent quotas: 10 rows per call, 25 distinct names per rolling hour. Set the quota to 0 to block an agent outright.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5229814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5119172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Every call is audited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with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source=mcp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the agent's label as the actor.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0372" y="5611068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96112" y="5500426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Works with Claude Code, Codex CLI, Gemini CLI, opencode, Cursor, Cline and Continue — same stdio server, one config line.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520940" y="2404351"/>
            <a:ext cx="4053535" cy="235105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8" name="Image 1" descr="/home/claude/deck/img/concealer-mcp-flo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354059"/>
            <a:ext cx="4053535" cy="235105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479792" y="2354059"/>
            <a:ext cx="4053535" cy="2351050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docs/mcp.md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69543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69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One script, delegated crypto, five ways in.</a:t>
            </a:r>
            <a:endParaRPr lang="en-US" sz="3100" dirty="0"/>
          </a:p>
        </p:txBody>
      </p:sp>
      <p:sp>
        <p:nvSpPr>
          <p:cNvPr id="12" name="Shape 9"/>
          <p:cNvSpPr/>
          <p:nvPr/>
        </p:nvSpPr>
        <p:spPr>
          <a:xfrm>
            <a:off x="690372" y="2105563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96112" y="1994921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Every operation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is load → decrypt to a dict → mutate → save → re-encrypt, shelling out to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sops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both ways.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0372" y="2685191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96112" y="2574549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age key reaches sops in memory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via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SOPS_AGE_KEY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never through a temp file.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0372" y="3066445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6112" y="2955803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Wrapped three ways: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by the master password (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age-key.txt.age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), by each recovery code, and by each unlock token.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" y="3646073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96112" y="3535431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Tokens, not prompts.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Humans get a ~8 h TTL token from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unlock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; each agent gets its own long-lived revocable token.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" y="4225701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96112" y="411505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External dependencies: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sops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age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expect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installed for you by Homebrew, or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pywinpty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on Windows.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90372" y="4805329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96112" y="469468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Nothing is committed: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keys/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secrets.enc.yaml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.sops.yaml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are git-ignored. The repo ships the tool, never a vault.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520940" y="2239594"/>
            <a:ext cx="4053535" cy="2680564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5" name="Image 1" descr="/home/claude/deck/img/concealer-architectu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189302"/>
            <a:ext cx="4053535" cy="2680564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479792" y="2189302"/>
            <a:ext cx="4053535" cy="2680564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docs/concepts.md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837914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8379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Security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1080820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Four layers, and every ceiling written down.</a:t>
            </a:r>
            <a:endParaRPr lang="en-US" sz="3100" dirty="0"/>
          </a:p>
        </p:txBody>
      </p:sp>
      <p:sp>
        <p:nvSpPr>
          <p:cNvPr id="12" name="Shape 9"/>
          <p:cNvSpPr/>
          <p:nvPr/>
        </p:nvSpPr>
        <p:spPr>
          <a:xfrm>
            <a:off x="658368" y="1586814"/>
            <a:ext cx="2581580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1714830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1768231"/>
            <a:ext cx="2142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Crypto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" y="1992899"/>
            <a:ext cx="2179244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Delegated, not invented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2324227"/>
            <a:ext cx="2142668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AES-256-GCM via SOPS over age X25519. The only crypto concealer writes itself is a stdlib scrypt password verifier and the HMAC audit chain.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22828" y="1586814"/>
            <a:ext cx="2581580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22828" y="1714830"/>
            <a:ext cx="0" cy="822960"/>
          </a:xfrm>
          <a:prstGeom prst="line">
            <a:avLst/>
          </a:prstGeom>
          <a:noFill/>
          <a:ln w="38100">
            <a:solidFill>
              <a:srgbClr val="4070D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42284" y="1768231"/>
            <a:ext cx="2142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Key-at-rest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3642284" y="1992899"/>
            <a:ext cx="2179244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plaintext key on disk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642284" y="2324227"/>
            <a:ext cx="2142668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Only master-password-, recovery-code- and token-wrapped copies exist. A stolen folder is inert without a password or a code.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87288" y="1586814"/>
            <a:ext cx="2581580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87288" y="1714830"/>
            <a:ext cx="0" cy="822960"/>
          </a:xfrm>
          <a:prstGeom prst="line">
            <a:avLst/>
          </a:prstGeom>
          <a:noFill/>
          <a:ln w="38100">
            <a:solidFill>
              <a:srgbClr val="2F9E6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6744" y="1768231"/>
            <a:ext cx="2142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Tokens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6406744" y="1992899"/>
            <a:ext cx="2179244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Revocable, client-side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06744" y="2326193"/>
            <a:ext cx="2142668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token value lives only in CONCEALER_TOKEN. The vault keeps a scrypt hash and a token-wrapped key. Revoke it and that copy is dead.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951747" y="1586814"/>
            <a:ext cx="2581580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951747" y="1714830"/>
            <a:ext cx="0" cy="822960"/>
          </a:xfrm>
          <a:prstGeom prst="line">
            <a:avLst/>
          </a:prstGeom>
          <a:noFill/>
          <a:ln w="38100">
            <a:solidFill>
              <a:srgbClr val="D8963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71203" y="1768231"/>
            <a:ext cx="2142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D8963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Recovery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9171203" y="1992899"/>
            <a:ext cx="2179244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real second factor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171203" y="2324227"/>
            <a:ext cx="2142668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 one-time codes. Any one recovers the vault — and passwd consumes one, so a stolen master password alone cannot take the vault over.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8368" y="3557209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Threat model — mitigation and residual risk, as documented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58368" y="3854526"/>
            <a:ext cx="10874959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86384" y="3943670"/>
            <a:ext cx="277469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Threat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3817110" y="3943670"/>
            <a:ext cx="384436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7917505" y="3943670"/>
            <a:ext cx="348780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Residual risk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58368" y="416542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86384" y="425283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Secret pasted into an AI chat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3817110" y="425283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MCP injects without revealing; output redacted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7917505" y="425283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Agent must be registered and rate-limited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58368" y="4531182"/>
            <a:ext cx="10874959" cy="36576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42" name="Shape 39"/>
          <p:cNvSpPr/>
          <p:nvPr/>
        </p:nvSpPr>
        <p:spPr>
          <a:xfrm>
            <a:off x="658368" y="453118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86384" y="461859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Laptop stolen, disk copied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3817110" y="461859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Key-at-rest — wrapped key only, no plaintext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7917505" y="461859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Master password strength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58368" y="489694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86384" y="498435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Master password leaked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3817110" y="498435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passwd</a:t>
            </a:r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requires a recovery code as 2nd factor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7917505" y="498435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Codes must be stored separately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658368" y="5262702"/>
            <a:ext cx="10874959" cy="36576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51" name="Shape 48"/>
          <p:cNvSpPr/>
          <p:nvPr/>
        </p:nvSpPr>
        <p:spPr>
          <a:xfrm>
            <a:off x="658368" y="526270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86384" y="535011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Vault committed by accident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3817110" y="535011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.gitignore</a:t>
            </a:r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covers the vault files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7917505" y="535011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User discipline on </a:t>
            </a:r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git add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658368" y="562846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86384" y="571587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Audit log tampered with</a:t>
            </a:r>
            <a:endParaRPr lang="en-US" sz="800" dirty="0"/>
          </a:p>
        </p:txBody>
      </p:sp>
      <p:sp>
        <p:nvSpPr>
          <p:cNvPr id="57" name="Text 54"/>
          <p:cNvSpPr txBox="1"/>
          <p:nvPr/>
        </p:nvSpPr>
        <p:spPr>
          <a:xfrm>
            <a:off x="3817110" y="571587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HMAC chain + </a:t>
            </a:r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seq</a:t>
            </a:r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+ tail anchor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7917505" y="571587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FS-root attacker with the local key can re-forge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658368" y="5994222"/>
            <a:ext cx="10874959" cy="36576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60" name="Shape 57"/>
          <p:cNvSpPr/>
          <p:nvPr/>
        </p:nvSpPr>
        <p:spPr>
          <a:xfrm>
            <a:off x="658368" y="599422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86384" y="608163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Agent tries to dump the vault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3817110" y="608163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Registration gate + per-agent quotas</a:t>
            </a:r>
            <a:endParaRPr lang="en-US" sz="800" dirty="0"/>
          </a:p>
        </p:txBody>
      </p:sp>
      <p:sp>
        <p:nvSpPr>
          <p:cNvPr id="63" name="Text 60"/>
          <p:cNvSpPr txBox="1"/>
          <p:nvPr/>
        </p:nvSpPr>
        <p:spPr>
          <a:xfrm>
            <a:off x="7917505" y="608163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Limits are tunable per agent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658368" y="3854526"/>
            <a:ext cx="10874959" cy="2505456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docs/security.md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837914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8379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Security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Every read, write, copy and inject — chained.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append-only log across all five interfaces. It records names and actions, never values.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51665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2406007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HMAC-SHA256 chained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each entry's hash depends on the previous one.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2897904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278726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Monotonic seq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inside the signed payload, so reordering is detectable.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279158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168515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 tail anchor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audit.head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 catches truncation — deleting the last lines breaks verification.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3660412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354976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In the Web UI: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filter by action / source / key / date, page through it, open a row, verify the chain, export CSV or JSON.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24004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129397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From the CLI: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audit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audit verify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4621294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4510651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Stated ceiling: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keys/audit.key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is local, so a filesystem-root attacker could re-forge the chain. An off-machine anchor push mitigates a full re-forge; true immutability needs an off-machine key.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20940" y="2274638"/>
            <a:ext cx="4053535" cy="2610477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6" name="Image 1" descr="/home/claude/deck/img/app-audit-log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224346"/>
            <a:ext cx="4053535" cy="261047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79792" y="2224346"/>
            <a:ext cx="4053535" cy="2610477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docs/concepts.md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1080820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same encrypted vault, however you like to work.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486733"/>
            <a:ext cx="8595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surface hits the same core and writes the same audit log. None of them is a bypass.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2125917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CLI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Set, get, run-with and deploy from the terminal. Scriptable, CI-friendly.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869936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69936" y="2125917"/>
            <a:ext cx="0" cy="822960"/>
          </a:xfrm>
          <a:prstGeom prst="line">
            <a:avLst/>
          </a:prstGeom>
          <a:noFill/>
          <a:ln w="38100">
            <a:solidFill>
              <a:srgbClr val="4070D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89392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3089392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Web UI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089392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local console: type-aware forms, filters, deploy renderers, audit viewer.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81504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81504" y="2125917"/>
            <a:ext cx="0" cy="822960"/>
          </a:xfrm>
          <a:prstGeom prst="line">
            <a:avLst/>
          </a:prstGeom>
          <a:noFill/>
          <a:ln w="38100">
            <a:solidFill>
              <a:srgbClr val="2F9E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300960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5300960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TUI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300960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panels, keyboard-only. Browse, search, reveal and edit in the terminal.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93072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93072" y="2125917"/>
            <a:ext cx="0" cy="822960"/>
          </a:xfrm>
          <a:prstGeom prst="line">
            <a:avLst/>
          </a:prstGeom>
          <a:noFill/>
          <a:ln w="38100">
            <a:solidFill>
              <a:srgbClr val="D896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12528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D8963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7512528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MCP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512528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Agents list names and inject values. Registered tokens only, quota-gated.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504639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504639" y="2125917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724095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9724095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Chrome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724095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Copy a secret from the toolbar. Per-field copy, generator, three themes.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58368" y="4009581"/>
            <a:ext cx="10874959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86384" y="4086292"/>
            <a:ext cx="740992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You want…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8452339" y="4086292"/>
            <a:ext cx="295297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Reach for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58368" y="4320477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86384" y="4401995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Scripting, CI, piping into </a:t>
            </a:r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run</a:t>
            </a:r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or </a:t>
            </a:r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deploy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8452339" y="4401995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CLI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58368" y="4710240"/>
            <a:ext cx="10874959" cy="389763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45" name="Shape 42"/>
          <p:cNvSpPr/>
          <p:nvPr/>
        </p:nvSpPr>
        <p:spPr>
          <a:xfrm>
            <a:off x="658368" y="471024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86384" y="4791758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Rich forms, filters, risk views, the audit viewer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452339" y="4791758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Web UI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58368" y="510000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86384" y="5181521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Fast keyboard browsing without leaving the terminal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8452339" y="5181521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TUI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58368" y="5489765"/>
            <a:ext cx="10874959" cy="389763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52" name="Shape 49"/>
          <p:cNvSpPr/>
          <p:nvPr/>
        </p:nvSpPr>
        <p:spPr>
          <a:xfrm>
            <a:off x="658368" y="5489765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86384" y="5571284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agent that uses secrets without seeing them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8452339" y="5571284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MCP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58368" y="5879528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86384" y="5961047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password or Wi-Fi key copied while you're in the browser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8452339" y="5961047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Chrome extension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658368" y="4009581"/>
            <a:ext cx="10874959" cy="2259711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 · concealer.fxerkan.com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One command, any secret, nothing printed.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cer is the short alias for concealer — both names work identically. Every command takes a scope; an omitted dimension is a wildcard.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2679319"/>
            <a:ext cx="6309360" cy="1720596"/>
          </a:xfrm>
          <a:prstGeom prst="roundRect">
            <a:avLst>
              <a:gd name="adj" fmla="val 3720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9536" y="2811930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set --name OPENAI_API_KEY --project web --env prod </a:t>
            </a:r>
            <a:pPr indent="0" marL="0">
              <a:buNone/>
            </a:pPr>
            <a:r>
              <a:rPr lang="en-US" sz="925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'sk-…'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--tags ai</a:t>
            </a:r>
            <a:endParaRPr lang="en-US" sz="925" dirty="0"/>
          </a:p>
        </p:txBody>
      </p:sp>
      <p:sp>
        <p:nvSpPr>
          <p:cNvPr id="15" name="Text 12"/>
          <p:cNvSpPr txBox="1"/>
          <p:nvPr/>
        </p:nvSpPr>
        <p:spPr>
          <a:xfrm>
            <a:off x="859536" y="2988142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list --type database --tenant acme</a:t>
            </a:r>
            <a:endParaRPr lang="en-US" sz="925" dirty="0"/>
          </a:p>
        </p:txBody>
      </p:sp>
      <p:sp>
        <p:nvSpPr>
          <p:cNvPr id="16" name="Text 13"/>
          <p:cNvSpPr txBox="1"/>
          <p:nvPr/>
        </p:nvSpPr>
        <p:spPr>
          <a:xfrm>
            <a:off x="859536" y="3164355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get --name OPENAI_API_KEY --project web --env prod</a:t>
            </a:r>
            <a:endParaRPr lang="en-US" sz="925" dirty="0"/>
          </a:p>
        </p:txBody>
      </p:sp>
      <p:sp>
        <p:nvSpPr>
          <p:cNvPr id="17" name="Text 14"/>
          <p:cNvSpPr txBox="1"/>
          <p:nvPr/>
        </p:nvSpPr>
        <p:spPr>
          <a:xfrm>
            <a:off x="859536" y="3340567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rotate --name OPENAI_API_KEY --project web   </a:t>
            </a:r>
            <a:pPr indent="0" marL="0">
              <a:buNone/>
            </a:pPr>
            <a:r>
              <a:rPr lang="en-US" sz="925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# 32 random bytes</a:t>
            </a:r>
            <a:endParaRPr lang="en-US" sz="925" dirty="0"/>
          </a:p>
        </p:txBody>
      </p:sp>
      <p:sp>
        <p:nvSpPr>
          <p:cNvPr id="18" name="Text 15"/>
          <p:cNvSpPr txBox="1"/>
          <p:nvPr/>
        </p:nvSpPr>
        <p:spPr>
          <a:xfrm>
            <a:off x="859536" y="3516780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run --project web --env prod npm run deploy</a:t>
            </a:r>
            <a:endParaRPr lang="en-US" sz="925" dirty="0"/>
          </a:p>
        </p:txBody>
      </p:sp>
      <p:sp>
        <p:nvSpPr>
          <p:cNvPr id="19" name="Text 16"/>
          <p:cNvSpPr txBox="1"/>
          <p:nvPr/>
        </p:nvSpPr>
        <p:spPr>
          <a:xfrm>
            <a:off x="859536" y="3692992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deploy --target k8s --project web --env prod</a:t>
            </a:r>
            <a:endParaRPr lang="en-US" sz="925" dirty="0"/>
          </a:p>
        </p:txBody>
      </p:sp>
      <p:sp>
        <p:nvSpPr>
          <p:cNvPr id="20" name="Text 17"/>
          <p:cNvSpPr txBox="1"/>
          <p:nvPr/>
        </p:nvSpPr>
        <p:spPr>
          <a:xfrm>
            <a:off x="859536" y="3869205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scan ./myrepo --history --envvars --import</a:t>
            </a:r>
            <a:endParaRPr lang="en-US" sz="925" dirty="0"/>
          </a:p>
        </p:txBody>
      </p:sp>
      <p:sp>
        <p:nvSpPr>
          <p:cNvPr id="21" name="Text 18"/>
          <p:cNvSpPr txBox="1"/>
          <p:nvPr/>
        </p:nvSpPr>
        <p:spPr>
          <a:xfrm>
            <a:off x="859536" y="4045417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audit verify</a:t>
            </a:r>
            <a:endParaRPr lang="en-US" sz="925" dirty="0"/>
          </a:p>
        </p:txBody>
      </p:sp>
      <p:sp>
        <p:nvSpPr>
          <p:cNvPr id="22" name="Shape 19"/>
          <p:cNvSpPr/>
          <p:nvPr/>
        </p:nvSpPr>
        <p:spPr>
          <a:xfrm>
            <a:off x="690372" y="4765949"/>
            <a:ext cx="86411" cy="86411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96112" y="4675424"/>
            <a:ext cx="6071616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Scope auto-detect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repo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project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come from the current git repo when you omit them.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90372" y="5111135"/>
            <a:ext cx="86411" cy="864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96112" y="5020610"/>
            <a:ext cx="607161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Typed injection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a 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database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secret becomes 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PG_HOST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PG_PORT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PG_PASSWORD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…; an 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api_key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becomes one variable.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90372" y="5618627"/>
            <a:ext cx="86411" cy="86411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96112" y="5528102"/>
            <a:ext cx="607161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8 deploy targets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dotenv · export · docker · json · k8s · aws-secrets · aws-ssm · github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Rendered to stdout; nothing is pushed for you.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0372" y="6126119"/>
            <a:ext cx="86411" cy="86411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96112" y="6035594"/>
            <a:ext cx="6071616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Guard rails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get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rm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</a:t>
            </a:r>
            <a:pPr algn="l" indent="0" marL="0">
              <a:lnSpc>
                <a:spcPts val="1278"/>
              </a:lnSpc>
              <a:buNone/>
            </a:pPr>
            <a:r>
              <a:rPr lang="en-US" sz="81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rotate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refuse an ambiguous scope rather than guess.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520940" y="2363815"/>
            <a:ext cx="4053535" cy="2432121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31" name="Image 1" descr="/home/claude/deck/img/cli-termin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313523"/>
            <a:ext cx="4053535" cy="2432121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7479792" y="2313523"/>
            <a:ext cx="4053535" cy="2432121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docs/cli-reference.md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 professional console that never leaves localhost.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cer web serves a single-page app and a JSON API on 127.0.0.1 only. Single-user, unlocked with the master password.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728422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2617780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Bilingual TR / EN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throughout, with Dark · Light · Matrix themes and a responsive phone/tablet layout.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308050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3197408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Type-aware CRUD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each of the 15 types renders exactly the fields it needs; secret fields are stored masked.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887678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777036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Searchable multi-select filters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for type, tenant, project, environment, repo and tags; sortable and reorderable columns, including any custom field as its own column.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467306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4356664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Per-secret Deploy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render the exact CLI or manifest for eight targets, right from the row.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84856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737918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Clipboard copy with auto-clear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(20 s), show/hide toggle, and a hard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idle auto-lock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(300 s by default).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5428188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5317546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Risks · Policy · Scan folder · Audit · Settings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as first-class tabs.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20940" y="2228698"/>
            <a:ext cx="4053535" cy="2702357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6" name="Image 1" descr="/home/claude/deck/img/app-secre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178406"/>
            <a:ext cx="4053535" cy="270235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79792" y="2178406"/>
            <a:ext cx="4053535" cy="2702357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docs/web-ui.md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Find the weak, stale, reused and already-leaked.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Four sub-views — and not one of them sends a secret value anywhere.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51665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240600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Overview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A health dashboard: expired, expiring soon, rotation overdue, high-risk reuse, most used — each with how far past due it is.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096278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2985635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Reused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Finds the same value under more than one record and scores the blast radius. If it leaks, everything sharing it is exposed at once.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675906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565263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History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Scans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bash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zsh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fish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history for credentials typed in the clear. Import them, then purge the lines.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255534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4144891"/>
            <a:ext cx="6071616" cy="81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Exposure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HIBP Pwned Passwords via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k-anonymity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only the first 5 hex characters of a SHA-1 leave the machine. Plus email breach lookup and a git-history / tracked-files / logs scan with a generated cleanup guide.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20940" y="2458398"/>
            <a:ext cx="4053535" cy="2242956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2" name="Image 1" descr="/home/claude/deck/img/app-risk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408106"/>
            <a:ext cx="4053535" cy="22429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479792" y="2408106"/>
            <a:ext cx="4053535" cy="2242956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docs/risks.md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32764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Your rules, enforced — and the agent gate.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21792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Define reminder rules, see exactly which secrets violate them, and bulk-fix the violators. Each rule carries a target audience: user · agent · cli · web · tui · mcp · all.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2661031"/>
            <a:ext cx="6217920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384" y="2737743"/>
            <a:ext cx="147683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Rule kind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519247" y="2737743"/>
            <a:ext cx="422902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Flags a secret when…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58368" y="2971927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" y="3053446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Rotation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2519247" y="3053446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has no rotation policy, is overdue, or its interval exceeds your maximum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58368" y="3361690"/>
            <a:ext cx="6217920" cy="389763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20" name="Shape 17"/>
          <p:cNvSpPr/>
          <p:nvPr/>
        </p:nvSpPr>
        <p:spPr>
          <a:xfrm>
            <a:off x="658368" y="3361690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" y="3443209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Expiry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2519247" y="3443209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is expired, expiring within N days, or missing an expiry field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58368" y="3751453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" y="3832972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Reuse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2519247" y="3832972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its value is shared with another record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58368" y="4141216"/>
            <a:ext cx="6217920" cy="389763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27" name="Shape 24"/>
          <p:cNvSpPr/>
          <p:nvPr/>
        </p:nvSpPr>
        <p:spPr>
          <a:xfrm>
            <a:off x="658368" y="4141216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6384" y="4222735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Naming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2519247" y="4222735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its name doesn't match a regex you provide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58368" y="4530979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6384" y="4612498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Tagging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2519247" y="4612498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is missing tags you require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58368" y="2661031"/>
            <a:ext cx="6217920" cy="2259711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8368" y="5176774"/>
            <a:ext cx="6217920" cy="634746"/>
          </a:xfrm>
          <a:prstGeom prst="roundRect">
            <a:avLst>
              <a:gd name="adj" fmla="val 10084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59536" y="5311237"/>
            <a:ext cx="5815584" cy="28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8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policy list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859536" y="5473162"/>
            <a:ext cx="5815584" cy="28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8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policy check   </a:t>
            </a:r>
            <a:pPr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# non-zero exit on any violation — cron- and CI-friendly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429500" y="2362635"/>
            <a:ext cx="4144975" cy="243448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38" name="Image 1" descr="/home/claude/deck/img/app-polic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2312343"/>
            <a:ext cx="4144975" cy="2434482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388352" y="2312343"/>
            <a:ext cx="4144975" cy="243448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docs/policy.md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whole vault, keyboard only.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486733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panels — Filters, Secrets, Details. Browse, search, reveal, copy and edit without leaving the shell.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295352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2184710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Vim-style navigation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j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Tab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between panels,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3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to jump.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2676606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2565964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Live search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with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or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/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;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x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clears every filter.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057860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2947218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Reveal per field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on a record, or pick a single field in Details. Copy value, username or url with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u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3637488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3526846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Clipboard auto-clears after 45 s.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There is no paste — to put a value in, use add/edit.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018742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3908100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Bilingual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toggles TR/EN,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?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shows the shortcut table in-app.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4399996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4289354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Not a bypass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every reveal, create, update and delete is audited with its source.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20940" y="2266531"/>
            <a:ext cx="4053535" cy="2626691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6" name="Image 1" descr="/home/claude/deck/img/tui-secre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216239"/>
            <a:ext cx="4053535" cy="2626691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79792" y="2216239"/>
            <a:ext cx="4053535" cy="2626691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docs/tui.md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720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720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Five ways in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589727" y="839602"/>
            <a:ext cx="6053328" cy="725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spc="-70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Copy a secret from the toolbar.</a:t>
            </a:r>
            <a:endParaRPr lang="en-US" sz="2900" dirty="0"/>
          </a:p>
        </p:txBody>
      </p:sp>
      <p:sp>
        <p:nvSpPr>
          <p:cNvPr id="12" name="Text 9"/>
          <p:cNvSpPr txBox="1"/>
          <p:nvPr/>
        </p:nvSpPr>
        <p:spPr>
          <a:xfrm>
            <a:off x="5589727" y="1469309"/>
            <a:ext cx="594360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thin popover over your local vault. It talks only to 127.0.0.1 — no cloud, no account, no telemetry. On the Chrome Web Store.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21731" y="2277928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827471" y="2167285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Per-field copy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multi-field secrets expand into child rows; copy or reveal exactly the field you need.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21731" y="2857556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827471" y="2746913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On-demand server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the popup starts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 web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when you open it and self-exits after 15 min idle. Nothing lingers.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21731" y="3437184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27471" y="3326541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Auto-lock countdown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in the header, blinking as it runs out; clipboard auto-clears; values are never logged.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21731" y="4016812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827471" y="3906169"/>
            <a:ext cx="570585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🎲 Generator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strong passwords, hex, base64url, UUID. Works before you unlock.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21731" y="4398066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827471" y="4287423"/>
            <a:ext cx="570585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Three themes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Dark · White · Matrix, matching the web console.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21731" y="4779320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827471" y="4668677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native helper ships inside concealer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 native-host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 —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chrome-extension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just registers it, once per machine.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85266" y="836676"/>
            <a:ext cx="3847795" cy="24048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6" name="Image 1" descr="/home/claude/deck/img/ext-field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18" y="786384"/>
            <a:ext cx="3847795" cy="240487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944118" y="786384"/>
            <a:ext cx="3847795" cy="240487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44118" y="3353151"/>
            <a:ext cx="384779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Per-field copy for multi-field secrets.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985266" y="3790188"/>
            <a:ext cx="3847795" cy="24048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30" name="Image 2" descr="/home/claude/deck/img/ext-matrix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3739896"/>
            <a:ext cx="3847795" cy="2404872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944118" y="3739896"/>
            <a:ext cx="3847795" cy="240487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44118" y="6306663"/>
            <a:ext cx="384779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Matrix theme.</a:t>
            </a:r>
            <a:endParaRPr lang="en-US" sz="850" dirty="0"/>
          </a:p>
        </p:txBody>
      </p:sp>
      <p:sp>
        <p:nvSpPr>
          <p:cNvPr id="33" name="Text 28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docs/chrome-extension.md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69543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69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589727" y="839602"/>
            <a:ext cx="6053328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spc="-70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Typed secrets, four-dimension scope.</a:t>
            </a:r>
            <a:endParaRPr lang="en-US" sz="2900" dirty="0"/>
          </a:p>
        </p:txBody>
      </p:sp>
      <p:sp>
        <p:nvSpPr>
          <p:cNvPr id="12" name="Text 9"/>
          <p:cNvSpPr txBox="1"/>
          <p:nvPr/>
        </p:nvSpPr>
        <p:spPr>
          <a:xfrm>
            <a:off x="5589727" y="1874439"/>
            <a:ext cx="594360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credential is not a string. Each type renders exactly the inputs it needs, and secret fields are stored masked and revealed only on demand — audited.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21731" y="2683058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827471" y="2572415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15 types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api_key · access_token · oauth · jwt · ssh_key · certificate · database · server · website · login · pin · wifi · membership · secure_note · custom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21731" y="3262686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827471" y="3152043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Masking is record-aware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resolved in order: per-field override → type template → field-name heuristic → value heuristic (a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scheme://user:pass@host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DSN is masked even in a plain field).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21731" y="3842314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27471" y="3731671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Scope: tenant / project / environment / repo.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 empty dimension is a wildcard; the most-specific match wins at inject time.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21731" y="4421942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827471" y="4311299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 PII by design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there are deliberately no credit-card, passport or national-ID types. This is a machine-and-account credential vault.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880275" y="836676"/>
            <a:ext cx="2057777" cy="24048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2" name="Image 1" descr="/home/claude/deck/img/secret-typ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27" y="786384"/>
            <a:ext cx="2057777" cy="240487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839127" y="786384"/>
            <a:ext cx="2057777" cy="240487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839127" y="3353151"/>
            <a:ext cx="205777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type picker.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1825582" y="3790188"/>
            <a:ext cx="2167163" cy="24048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6" name="Image 2" descr="/home/claude/deck/img/secrets-d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434" y="3739896"/>
            <a:ext cx="2167163" cy="240487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784434" y="3739896"/>
            <a:ext cx="2167163" cy="240487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784434" y="6306663"/>
            <a:ext cx="2167163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 database secret's form.</a:t>
            </a:r>
            <a:endParaRPr lang="en-US" sz="850" dirty="0"/>
          </a:p>
        </p:txBody>
      </p:sp>
      <p:sp>
        <p:nvSpPr>
          <p:cNvPr id="29" name="Text 2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docs/secret-types.md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1673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16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Who it's for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950976"/>
            <a:ext cx="1259332" cy="274320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 w="12700">
            <a:solidFill>
              <a:srgbClr val="F04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1023971"/>
            <a:ext cx="1259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51" kern="0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Persona 01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1233343"/>
            <a:ext cx="10808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spc="-86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DevOps / Platform Engineer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1932630"/>
            <a:ext cx="95097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Owns the pipelines and the blast radius. Needs secrets out of .env files, out of shell history, out of CI logs — and a gate that fails the build when they creep back in.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pain today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3039618"/>
            <a:ext cx="3320186" cy="0"/>
          </a:xfrm>
          <a:prstGeom prst="line">
            <a:avLst/>
          </a:prstGeom>
          <a:noFill/>
          <a:ln w="22860">
            <a:solidFill>
              <a:srgbClr val="F04A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" y="3268538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162925"/>
            <a:ext cx="308244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dozen repos each carrying their own 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.env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all with a key called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OPENAI_API_KEY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no way to tell them apart.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0372" y="4019489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3913876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export AWS_SECRET_ACCESS_KEY=…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sitting in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~/.zsh_history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in the clear.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0372" y="4581083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475470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key was committed six months ago and nobody knows which repos still carry it.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0372" y="5142677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5037064"/>
            <a:ext cx="3082442" cy="4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record of who read which credential, or when.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90372" y="5514914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96112" y="5409301"/>
            <a:ext cx="3082442" cy="4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New laptop = chasing credentials in Slack threads.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435754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070D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they use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435754" y="3039618"/>
            <a:ext cx="3320186" cy="0"/>
          </a:xfrm>
          <a:prstGeom prst="line">
            <a:avLst/>
          </a:prstGeom>
          <a:noFill/>
          <a:ln w="22860">
            <a:solidFill>
              <a:srgbClr val="4070D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67758" y="3256285"/>
            <a:ext cx="81610" cy="81610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73498" y="3170789"/>
            <a:ext cx="3082442" cy="5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run</a:t>
            </a:r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injects the scoped secrets into a child process and redacts them from its output. Nothing lands in the shell.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467758" y="3745743"/>
            <a:ext cx="81610" cy="81610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673498" y="3660247"/>
            <a:ext cx="3082442" cy="679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deploy --target</a:t>
            </a:r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renders to </a:t>
            </a:r>
            <a:pPr algn="l" indent="0" marL="0">
              <a:lnSpc>
                <a:spcPts val="1207"/>
              </a:lnSpc>
              <a:buNone/>
            </a:pPr>
            <a:r>
              <a:rPr lang="en-US" sz="76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dotenv · export · docker · k8s · json · aws-secrets · aws-ssm · github</a:t>
            </a:r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Nothing is pushed; you pipe it.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467758" y="4388490"/>
            <a:ext cx="81610" cy="81610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673498" y="4302994"/>
            <a:ext cx="3082442" cy="5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scan</a:t>
            </a:r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sweeps a folder, shell history and live env vars, then imports what it finds tagged by origin.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467758" y="4877948"/>
            <a:ext cx="81610" cy="81610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673498" y="4792452"/>
            <a:ext cx="3082442" cy="5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policy check</a:t>
            </a:r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exits non-zero on any violation. Drop it in cron, a pre-commit hook or CI.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467758" y="5367406"/>
            <a:ext cx="81610" cy="81610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673498" y="5281910"/>
            <a:ext cx="3082442" cy="679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gitscan</a:t>
            </a:r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pickaxes git history and tracked files for vault values, then writes a cleanup guide (it never rewrites history for you).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467758" y="6010153"/>
            <a:ext cx="81610" cy="81610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673498" y="5924657"/>
            <a:ext cx="3082442" cy="5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audit verify</a:t>
            </a:r>
            <a:pPr algn="l" indent="0" marL="0">
              <a:lnSpc>
                <a:spcPts val="1207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recomputes the HMAC chain and the tail anchor.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8213141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they get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8213141" y="3039618"/>
            <a:ext cx="3320186" cy="0"/>
          </a:xfrm>
          <a:prstGeom prst="line">
            <a:avLst/>
          </a:prstGeom>
          <a:noFill/>
          <a:ln w="22860">
            <a:solidFill>
              <a:srgbClr val="2F9E6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45145" y="3268538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450885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Values never reach the terminal, the transcript or the log.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45145" y="3830132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450885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Scope is auto-detected from the git repo —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--repo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--project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fill themselves in.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45145" y="4391726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450885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Most-specific scope wins at inject time: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acme/proj-a/prod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beats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proj-a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beats global.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245145" y="4953320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450885" y="4847707"/>
            <a:ext cx="3082442" cy="4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Zero infrastructure to run, patch or pay for.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245145" y="5325557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450885" y="5219944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vault is an encrypted SOPS file — it diffs and versions next to the code.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docs/cli-reference.md · docs/risks.md · docs/policy.md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1673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16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Who it's for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950976"/>
            <a:ext cx="1259332" cy="274320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 w="12700">
            <a:solidFill>
              <a:srgbClr val="F04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1023971"/>
            <a:ext cx="1259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51" kern="0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Persona 02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1233343"/>
            <a:ext cx="10808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spc="-86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Cloud Architect / Solution Architect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1932630"/>
            <a:ext cx="95097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Runs demos, PoCs and pilots across many customers and three clouds. Has to defend the design in a security review — and hand the whole thing over without standing up a server.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pain today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3039618"/>
            <a:ext cx="3320186" cy="0"/>
          </a:xfrm>
          <a:prstGeom prst="line">
            <a:avLst/>
          </a:prstGeom>
          <a:noFill/>
          <a:ln w="22860">
            <a:solidFill>
              <a:srgbClr val="F04A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" y="3268538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Customer credentials for a PoC mixed in with personal and internal keys.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0372" y="3830132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clouds, a dozen tenants, four environments — one flat namespace can't express that.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0372" y="4391726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security review asks "where does this credential go?" and the honest answer is a shrug.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0372" y="4953320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4847707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Standing up Vault for a two-week PoC is absurd; a SaaS vault means procurement and a DPA.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90372" y="5514914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96112" y="5409301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vault is tied to one laptop's Keychain, so the handover is a rebuild.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435754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070D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they use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435754" y="3039618"/>
            <a:ext cx="3320186" cy="0"/>
          </a:xfrm>
          <a:prstGeom prst="line">
            <a:avLst/>
          </a:prstGeom>
          <a:noFill/>
          <a:ln w="22860">
            <a:solidFill>
              <a:srgbClr val="4070D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67758" y="3260880"/>
            <a:ext cx="88811" cy="888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73498" y="3167840"/>
            <a:ext cx="3082442" cy="71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tenant / project / environment / repo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as the taxonomy — the same </a:t>
            </a:r>
            <a:pPr algn="l" indent="0" marL="0">
              <a:lnSpc>
                <a:spcPts val="1314"/>
              </a:lnSpc>
              <a:buNone/>
            </a:pPr>
            <a:r>
              <a:rPr lang="en-US" sz="833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DATABASE_URL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exists once per customer and stage without name mangling.</a:t>
            </a:r>
            <a:endParaRPr lang="en-US" sz="925" dirty="0"/>
          </a:p>
        </p:txBody>
      </p:sp>
      <p:sp>
        <p:nvSpPr>
          <p:cNvPr id="31" name="Shape 28"/>
          <p:cNvSpPr/>
          <p:nvPr/>
        </p:nvSpPr>
        <p:spPr>
          <a:xfrm>
            <a:off x="4467758" y="3944203"/>
            <a:ext cx="88811" cy="888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673498" y="3851163"/>
            <a:ext cx="3082442" cy="55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Web UI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as the console: type-aware forms, multi-select filters, sortable columns, per-secret deploy renderers.</a:t>
            </a:r>
            <a:endParaRPr lang="en-US" sz="925" dirty="0"/>
          </a:p>
        </p:txBody>
      </p:sp>
      <p:sp>
        <p:nvSpPr>
          <p:cNvPr id="33" name="Shape 30"/>
          <p:cNvSpPr/>
          <p:nvPr/>
        </p:nvSpPr>
        <p:spPr>
          <a:xfrm>
            <a:off x="4467758" y="4460712"/>
            <a:ext cx="88811" cy="888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673498" y="4367672"/>
            <a:ext cx="3082442" cy="55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threat-model table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documented ceilings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as review artefacts — including what the tool does </a:t>
            </a:r>
            <a:pPr algn="l" indent="0" marL="0">
              <a:lnSpc>
                <a:spcPts val="1314"/>
              </a:lnSpc>
              <a:buNone/>
            </a:pPr>
            <a:r>
              <a:rPr lang="en-US" sz="925" i="1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protect.</a:t>
            </a:r>
            <a:endParaRPr lang="en-US" sz="925" dirty="0"/>
          </a:p>
        </p:txBody>
      </p:sp>
      <p:sp>
        <p:nvSpPr>
          <p:cNvPr id="35" name="Shape 32"/>
          <p:cNvSpPr/>
          <p:nvPr/>
        </p:nvSpPr>
        <p:spPr>
          <a:xfrm>
            <a:off x="4467758" y="4977221"/>
            <a:ext cx="88811" cy="888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673498" y="4884181"/>
            <a:ext cx="3082442" cy="55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export / import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one password-protected </a:t>
            </a:r>
            <a:pPr algn="l" indent="0" marL="0">
              <a:lnSpc>
                <a:spcPts val="1314"/>
              </a:lnSpc>
              <a:buNone/>
            </a:pPr>
            <a:r>
              <a:rPr lang="en-US" sz="833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.cerbak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bundle to hand to the customer.</a:t>
            </a:r>
            <a:endParaRPr lang="en-US" sz="925" dirty="0"/>
          </a:p>
        </p:txBody>
      </p:sp>
      <p:sp>
        <p:nvSpPr>
          <p:cNvPr id="37" name="Shape 34"/>
          <p:cNvSpPr/>
          <p:nvPr/>
        </p:nvSpPr>
        <p:spPr>
          <a:xfrm>
            <a:off x="4467758" y="5493730"/>
            <a:ext cx="88811" cy="888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673498" y="5400690"/>
            <a:ext cx="3082442" cy="71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Portability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copy </a:t>
            </a:r>
            <a:pPr algn="l" indent="0" marL="0">
              <a:lnSpc>
                <a:spcPts val="1314"/>
              </a:lnSpc>
              <a:buNone/>
            </a:pPr>
            <a:r>
              <a:rPr lang="en-US" sz="833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secrets.enc.yaml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+ </a:t>
            </a:r>
            <a:pPr algn="l" indent="0" marL="0">
              <a:lnSpc>
                <a:spcPts val="1314"/>
              </a:lnSpc>
              <a:buNone/>
            </a:pPr>
            <a:r>
              <a:rPr lang="en-US" sz="833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keys/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type the master password on the new machine. No TPM, no Keychain, no re-key.</a:t>
            </a:r>
            <a:endParaRPr lang="en-US" sz="925" dirty="0"/>
          </a:p>
        </p:txBody>
      </p:sp>
      <p:sp>
        <p:nvSpPr>
          <p:cNvPr id="39" name="Shape 36"/>
          <p:cNvSpPr/>
          <p:nvPr/>
        </p:nvSpPr>
        <p:spPr>
          <a:xfrm>
            <a:off x="4467758" y="6177054"/>
            <a:ext cx="88811" cy="888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673498" y="6084014"/>
            <a:ext cx="3082442" cy="386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comparison matrix</a:t>
            </a:r>
            <a:pPr algn="l" indent="0" marL="0">
              <a:lnSpc>
                <a:spcPts val="1314"/>
              </a:lnSpc>
              <a:buNone/>
            </a:pPr>
            <a:r>
              <a:rPr lang="en-US" sz="9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for the build-vs-buy conversation.</a:t>
            </a:r>
            <a:endParaRPr lang="en-US" sz="925" dirty="0"/>
          </a:p>
        </p:txBody>
      </p:sp>
      <p:sp>
        <p:nvSpPr>
          <p:cNvPr id="41" name="Text 38"/>
          <p:cNvSpPr txBox="1"/>
          <p:nvPr/>
        </p:nvSpPr>
        <p:spPr>
          <a:xfrm>
            <a:off x="8213141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they get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8213141" y="3039618"/>
            <a:ext cx="3320186" cy="0"/>
          </a:xfrm>
          <a:prstGeom prst="line">
            <a:avLst/>
          </a:prstGeom>
          <a:noFill/>
          <a:ln w="22860">
            <a:solidFill>
              <a:srgbClr val="2F9E6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45145" y="3268538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450885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server, no container, no cloud tenant, no procurement —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init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there is a vault.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45145" y="3830132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450885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Crypto is delegated to 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SOPS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(CNCF) and 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age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AES-256-GCM over X25519. Nothing home-grown.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45145" y="4391726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450885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readable MIT-licensed Python script a customer's security team can actually read.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245145" y="4953320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450885" y="4847707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copied folder is 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inert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without the master password or a recovery code.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245145" y="5514914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450885" y="5409301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PII types by design — this is a machine-credential vault, not an identity store.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docs/security.md · docs/portability.md · docs/comparison.md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1673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16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Who it's for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950976"/>
            <a:ext cx="1259332" cy="274320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 w="12700">
            <a:solidFill>
              <a:srgbClr val="F04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1023971"/>
            <a:ext cx="1259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51" kern="0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Persona 03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1233343"/>
            <a:ext cx="10808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spc="-86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End User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1932630"/>
            <a:ext cx="95097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 a DevOps engineer. Has Wi-Fi passwords, door PINs, logins and a couple of API keys — and wants none of it in a notes app, a browser profile or someone else's cloud.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pain today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3039618"/>
            <a:ext cx="3320186" cy="0"/>
          </a:xfrm>
          <a:prstGeom prst="line">
            <a:avLst/>
          </a:prstGeom>
          <a:noFill/>
          <a:ln w="22860">
            <a:solidFill>
              <a:srgbClr val="F04A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" y="3268538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Passwords in a notes file, a spreadsheet, or the browser's password manager.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0372" y="3830132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same password reused across half a dozen sites, with no idea which ones have leaked.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0372" y="4391726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Another $3–12 a month subscription, and an account on someone else's server.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0372" y="4953320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4847707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Forgetting the master password means losing everything.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435754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070D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they use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435754" y="3039618"/>
            <a:ext cx="3320186" cy="0"/>
          </a:xfrm>
          <a:prstGeom prst="line">
            <a:avLst/>
          </a:prstGeom>
          <a:noFill/>
          <a:ln w="22860">
            <a:solidFill>
              <a:srgbClr val="4070D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67758" y="326547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673498" y="3164891"/>
            <a:ext cx="3082442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Chrome extension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click the toolbar icon, unlock, copy. Multi-field secrets expand so you copy exactly the field you need.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467758" y="398937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73498" y="3888791"/>
            <a:ext cx="3082442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Web UI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at </a:t>
            </a:r>
            <a:pPr algn="l" indent="0" marL="0">
              <a:lnSpc>
                <a:spcPts val="1420"/>
              </a:lnSpc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fully bilingual TR/EN, with forms for </a:t>
            </a:r>
            <a:pPr algn="l" indent="0" marL="0">
              <a:lnSpc>
                <a:spcPts val="1420"/>
              </a:lnSpc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wifi · pin · login · website · membership · secure_note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467758" y="471327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673498" y="4612691"/>
            <a:ext cx="3082442" cy="58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🎲 Generate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for strong passwords, hex, base64url or a UUID — one click to copy.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467758" y="525683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673498" y="5156251"/>
            <a:ext cx="3082442" cy="58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Risks → Exposure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check a value against HIBP Pwned Passwords, and an address against HIBP breaches.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467758" y="580039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673498" y="5699811"/>
            <a:ext cx="3082442" cy="58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8 recovery codes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printed at setup — any one of them gets you back in.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8213141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they get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213141" y="3039618"/>
            <a:ext cx="3320186" cy="0"/>
          </a:xfrm>
          <a:prstGeom prst="line">
            <a:avLst/>
          </a:prstGeom>
          <a:noFill/>
          <a:ln w="22860">
            <a:solidFill>
              <a:srgbClr val="2F9E6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245145" y="3268538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450885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account, no subscription, no sync server. Nothing leaves the machine.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245145" y="3830132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450885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Clipboard auto-clears after 20 s; the session auto-locks on idle (300 s by default).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245145" y="4391726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450885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Leak checks use 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k-anonymity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only the first 5 hex characters of a SHA-1 ever leave the box.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45145" y="4953320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450885" y="4847707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themes (Dark · White · Matrix) and a Turkish interface throughout.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45145" y="5514914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450885" y="5409301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Honest limits: no mobile app and no browser autofill — the copy button is the workflow.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docs/chrome-extension.md · docs/web-ui.md · docs/risks.md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17403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174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market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5762"/>
            <a:ext cx="10808208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spc="-72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Local-only, zero-infra, agent-native — the gap the other three markets leave open.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21353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✓ yes    ~ partial    ✕ no    ★ only concealer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58368" y="2253234"/>
            <a:ext cx="10874959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38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Capability</a:t>
            </a:r>
            <a:endParaRPr lang="en-US" sz="600" dirty="0"/>
          </a:p>
        </p:txBody>
      </p:sp>
      <p:sp>
        <p:nvSpPr>
          <p:cNvPr id="15" name="Text 12"/>
          <p:cNvSpPr txBox="1"/>
          <p:nvPr/>
        </p:nvSpPr>
        <p:spPr>
          <a:xfrm>
            <a:off x="214575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</a:t>
            </a:r>
            <a:endParaRPr lang="en-US" sz="600" dirty="0"/>
          </a:p>
        </p:txBody>
      </p:sp>
      <p:sp>
        <p:nvSpPr>
          <p:cNvPr id="16" name="Text 13"/>
          <p:cNvSpPr txBox="1"/>
          <p:nvPr/>
        </p:nvSpPr>
        <p:spPr>
          <a:xfrm>
            <a:off x="350512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1Password / Bitwarden</a:t>
            </a:r>
            <a:endParaRPr lang="en-US" sz="600" dirty="0"/>
          </a:p>
        </p:txBody>
      </p:sp>
      <p:sp>
        <p:nvSpPr>
          <p:cNvPr id="17" name="Text 14"/>
          <p:cNvSpPr txBox="1"/>
          <p:nvPr/>
        </p:nvSpPr>
        <p:spPr>
          <a:xfrm>
            <a:off x="486449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HashiCorp Vault</a:t>
            </a:r>
            <a:endParaRPr lang="en-US" sz="600" dirty="0"/>
          </a:p>
        </p:txBody>
      </p:sp>
      <p:sp>
        <p:nvSpPr>
          <p:cNvPr id="18" name="Text 15"/>
          <p:cNvSpPr txBox="1"/>
          <p:nvPr/>
        </p:nvSpPr>
        <p:spPr>
          <a:xfrm>
            <a:off x="622386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Doppler / Infisical</a:t>
            </a:r>
            <a:endParaRPr lang="en-US" sz="600" dirty="0"/>
          </a:p>
        </p:txBody>
      </p:sp>
      <p:sp>
        <p:nvSpPr>
          <p:cNvPr id="19" name="Text 16"/>
          <p:cNvSpPr txBox="1"/>
          <p:nvPr/>
        </p:nvSpPr>
        <p:spPr>
          <a:xfrm>
            <a:off x="758323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SOPS + age (raw)</a:t>
            </a:r>
            <a:endParaRPr lang="en-US" sz="600" dirty="0"/>
          </a:p>
        </p:txBody>
      </p:sp>
      <p:sp>
        <p:nvSpPr>
          <p:cNvPr id="20" name="Text 17"/>
          <p:cNvSpPr txBox="1"/>
          <p:nvPr/>
        </p:nvSpPr>
        <p:spPr>
          <a:xfrm>
            <a:off x="8942603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pass / gopass</a:t>
            </a:r>
            <a:endParaRPr lang="en-US" sz="600" dirty="0"/>
          </a:p>
        </p:txBody>
      </p:sp>
      <p:sp>
        <p:nvSpPr>
          <p:cNvPr id="21" name="Text 18"/>
          <p:cNvSpPr txBox="1"/>
          <p:nvPr/>
        </p:nvSpPr>
        <p:spPr>
          <a:xfrm>
            <a:off x="10301973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secretctl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658368" y="256413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638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Deployment</a:t>
            </a:r>
            <a:endParaRPr lang="en-US" sz="600" dirty="0"/>
          </a:p>
        </p:txBody>
      </p:sp>
      <p:sp>
        <p:nvSpPr>
          <p:cNvPr id="24" name="Text 21"/>
          <p:cNvSpPr txBox="1"/>
          <p:nvPr/>
        </p:nvSpPr>
        <p:spPr>
          <a:xfrm>
            <a:off x="214575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Local, single file</a:t>
            </a:r>
            <a:endParaRPr lang="en-US" sz="600" dirty="0"/>
          </a:p>
        </p:txBody>
      </p:sp>
      <p:sp>
        <p:nvSpPr>
          <p:cNvPr id="25" name="Text 22"/>
          <p:cNvSpPr txBox="1"/>
          <p:nvPr/>
        </p:nvSpPr>
        <p:spPr>
          <a:xfrm>
            <a:off x="350512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SaaS</a:t>
            </a:r>
            <a:endParaRPr lang="en-US" sz="600" dirty="0"/>
          </a:p>
        </p:txBody>
      </p:sp>
      <p:sp>
        <p:nvSpPr>
          <p:cNvPr id="26" name="Text 23"/>
          <p:cNvSpPr txBox="1"/>
          <p:nvPr/>
        </p:nvSpPr>
        <p:spPr>
          <a:xfrm>
            <a:off x="486449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Self-host / HCP</a:t>
            </a:r>
            <a:endParaRPr lang="en-US" sz="600" dirty="0"/>
          </a:p>
        </p:txBody>
      </p:sp>
      <p:sp>
        <p:nvSpPr>
          <p:cNvPr id="27" name="Text 24"/>
          <p:cNvSpPr txBox="1"/>
          <p:nvPr/>
        </p:nvSpPr>
        <p:spPr>
          <a:xfrm>
            <a:off x="622386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SaaS (or self-host)</a:t>
            </a:r>
            <a:endParaRPr lang="en-US" sz="600" dirty="0"/>
          </a:p>
        </p:txBody>
      </p:sp>
      <p:sp>
        <p:nvSpPr>
          <p:cNvPr id="28" name="Text 25"/>
          <p:cNvSpPr txBox="1"/>
          <p:nvPr/>
        </p:nvSpPr>
        <p:spPr>
          <a:xfrm>
            <a:off x="758323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</a:t>
            </a:r>
            <a:endParaRPr lang="en-US" sz="600" dirty="0"/>
          </a:p>
        </p:txBody>
      </p:sp>
      <p:sp>
        <p:nvSpPr>
          <p:cNvPr id="29" name="Text 26"/>
          <p:cNvSpPr txBox="1"/>
          <p:nvPr/>
        </p:nvSpPr>
        <p:spPr>
          <a:xfrm>
            <a:off x="8942603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</a:t>
            </a:r>
            <a:endParaRPr lang="en-US" sz="600" dirty="0"/>
          </a:p>
        </p:txBody>
      </p:sp>
      <p:sp>
        <p:nvSpPr>
          <p:cNvPr id="30" name="Text 27"/>
          <p:cNvSpPr txBox="1"/>
          <p:nvPr/>
        </p:nvSpPr>
        <p:spPr>
          <a:xfrm>
            <a:off x="10301973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Local, single binary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658368" y="2843022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32" name="Shape 29"/>
          <p:cNvSpPr/>
          <p:nvPr/>
        </p:nvSpPr>
        <p:spPr>
          <a:xfrm>
            <a:off x="658368" y="284302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8638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Server or daemon needed</a:t>
            </a:r>
            <a:endParaRPr lang="en-US" sz="600" dirty="0"/>
          </a:p>
        </p:txBody>
      </p:sp>
      <p:sp>
        <p:nvSpPr>
          <p:cNvPr id="34" name="Text 31"/>
          <p:cNvSpPr txBox="1"/>
          <p:nvPr/>
        </p:nvSpPr>
        <p:spPr>
          <a:xfrm>
            <a:off x="214575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none</a:t>
            </a:r>
            <a:endParaRPr lang="en-US" sz="600" dirty="0"/>
          </a:p>
        </p:txBody>
      </p:sp>
      <p:sp>
        <p:nvSpPr>
          <p:cNvPr id="35" name="Text 32"/>
          <p:cNvSpPr txBox="1"/>
          <p:nvPr/>
        </p:nvSpPr>
        <p:spPr>
          <a:xfrm>
            <a:off x="350512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cloud</a:t>
            </a:r>
            <a:endParaRPr lang="en-US" sz="600" dirty="0"/>
          </a:p>
        </p:txBody>
      </p:sp>
      <p:sp>
        <p:nvSpPr>
          <p:cNvPr id="36" name="Text 33"/>
          <p:cNvSpPr txBox="1"/>
          <p:nvPr/>
        </p:nvSpPr>
        <p:spPr>
          <a:xfrm>
            <a:off x="486449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server</a:t>
            </a:r>
            <a:endParaRPr lang="en-US" sz="600" dirty="0"/>
          </a:p>
        </p:txBody>
      </p:sp>
      <p:sp>
        <p:nvSpPr>
          <p:cNvPr id="37" name="Text 34"/>
          <p:cNvSpPr txBox="1"/>
          <p:nvPr/>
        </p:nvSpPr>
        <p:spPr>
          <a:xfrm>
            <a:off x="622386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38" name="Text 35"/>
          <p:cNvSpPr txBox="1"/>
          <p:nvPr/>
        </p:nvSpPr>
        <p:spPr>
          <a:xfrm>
            <a:off x="758323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39" name="Text 36"/>
          <p:cNvSpPr txBox="1"/>
          <p:nvPr/>
        </p:nvSpPr>
        <p:spPr>
          <a:xfrm>
            <a:off x="8942603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40" name="Text 37"/>
          <p:cNvSpPr txBox="1"/>
          <p:nvPr/>
        </p:nvSpPr>
        <p:spPr>
          <a:xfrm>
            <a:off x="10301973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none</a:t>
            </a:r>
            <a:endParaRPr lang="en-US" sz="600" dirty="0"/>
          </a:p>
        </p:txBody>
      </p:sp>
      <p:sp>
        <p:nvSpPr>
          <p:cNvPr id="41" name="Shape 38"/>
          <p:cNvSpPr/>
          <p:nvPr/>
        </p:nvSpPr>
        <p:spPr>
          <a:xfrm>
            <a:off x="658368" y="312191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8638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Cost</a:t>
            </a:r>
            <a:endParaRPr lang="en-US" sz="600" dirty="0"/>
          </a:p>
        </p:txBody>
      </p:sp>
      <p:sp>
        <p:nvSpPr>
          <p:cNvPr id="43" name="Text 40"/>
          <p:cNvSpPr txBox="1"/>
          <p:nvPr/>
        </p:nvSpPr>
        <p:spPr>
          <a:xfrm>
            <a:off x="214575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Free (MIT)</a:t>
            </a:r>
            <a:endParaRPr lang="en-US" sz="600" dirty="0"/>
          </a:p>
        </p:txBody>
      </p:sp>
      <p:sp>
        <p:nvSpPr>
          <p:cNvPr id="44" name="Text 41"/>
          <p:cNvSpPr txBox="1"/>
          <p:nvPr/>
        </p:nvSpPr>
        <p:spPr>
          <a:xfrm>
            <a:off x="350512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$3–12 / user / mo</a:t>
            </a:r>
            <a:endParaRPr lang="en-US" sz="600" dirty="0"/>
          </a:p>
        </p:txBody>
      </p:sp>
      <p:sp>
        <p:nvSpPr>
          <p:cNvPr id="45" name="Text 42"/>
          <p:cNvSpPr txBox="1"/>
          <p:nvPr/>
        </p:nvSpPr>
        <p:spPr>
          <a:xfrm>
            <a:off x="486449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Free OSS / $$$ ent.</a:t>
            </a:r>
            <a:endParaRPr lang="en-US" sz="600" dirty="0"/>
          </a:p>
        </p:txBody>
      </p:sp>
      <p:sp>
        <p:nvSpPr>
          <p:cNvPr id="46" name="Text 43"/>
          <p:cNvSpPr txBox="1"/>
          <p:nvPr/>
        </p:nvSpPr>
        <p:spPr>
          <a:xfrm>
            <a:off x="622386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paid tiers</a:t>
            </a:r>
            <a:endParaRPr lang="en-US" sz="600" dirty="0"/>
          </a:p>
        </p:txBody>
      </p:sp>
      <p:sp>
        <p:nvSpPr>
          <p:cNvPr id="47" name="Text 44"/>
          <p:cNvSpPr txBox="1"/>
          <p:nvPr/>
        </p:nvSpPr>
        <p:spPr>
          <a:xfrm>
            <a:off x="758323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Free</a:t>
            </a:r>
            <a:endParaRPr lang="en-US" sz="600" dirty="0"/>
          </a:p>
        </p:txBody>
      </p:sp>
      <p:sp>
        <p:nvSpPr>
          <p:cNvPr id="48" name="Text 45"/>
          <p:cNvSpPr txBox="1"/>
          <p:nvPr/>
        </p:nvSpPr>
        <p:spPr>
          <a:xfrm>
            <a:off x="8942603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Free</a:t>
            </a:r>
            <a:endParaRPr lang="en-US" sz="600" dirty="0"/>
          </a:p>
        </p:txBody>
      </p:sp>
      <p:sp>
        <p:nvSpPr>
          <p:cNvPr id="49" name="Text 46"/>
          <p:cNvSpPr txBox="1"/>
          <p:nvPr/>
        </p:nvSpPr>
        <p:spPr>
          <a:xfrm>
            <a:off x="10301973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Free</a:t>
            </a:r>
            <a:endParaRPr lang="en-US" sz="600" dirty="0"/>
          </a:p>
        </p:txBody>
      </p:sp>
      <p:sp>
        <p:nvSpPr>
          <p:cNvPr id="50" name="Shape 47"/>
          <p:cNvSpPr/>
          <p:nvPr/>
        </p:nvSpPr>
        <p:spPr>
          <a:xfrm>
            <a:off x="658368" y="3400806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51" name="Shape 48"/>
          <p:cNvSpPr/>
          <p:nvPr/>
        </p:nvSpPr>
        <p:spPr>
          <a:xfrm>
            <a:off x="658368" y="3400806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8638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Git-versionable vault</a:t>
            </a:r>
            <a:endParaRPr lang="en-US" sz="600" dirty="0"/>
          </a:p>
        </p:txBody>
      </p:sp>
      <p:sp>
        <p:nvSpPr>
          <p:cNvPr id="53" name="Text 50"/>
          <p:cNvSpPr txBox="1"/>
          <p:nvPr/>
        </p:nvSpPr>
        <p:spPr>
          <a:xfrm>
            <a:off x="214575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values encrypted</a:t>
            </a:r>
            <a:endParaRPr lang="en-US" sz="600" dirty="0"/>
          </a:p>
        </p:txBody>
      </p:sp>
      <p:sp>
        <p:nvSpPr>
          <p:cNvPr id="54" name="Text 51"/>
          <p:cNvSpPr txBox="1"/>
          <p:nvPr/>
        </p:nvSpPr>
        <p:spPr>
          <a:xfrm>
            <a:off x="350512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55" name="Text 52"/>
          <p:cNvSpPr txBox="1"/>
          <p:nvPr/>
        </p:nvSpPr>
        <p:spPr>
          <a:xfrm>
            <a:off x="486449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endParaRPr lang="en-US" sz="600" dirty="0"/>
          </a:p>
        </p:txBody>
      </p:sp>
      <p:sp>
        <p:nvSpPr>
          <p:cNvPr id="56" name="Text 53"/>
          <p:cNvSpPr txBox="1"/>
          <p:nvPr/>
        </p:nvSpPr>
        <p:spPr>
          <a:xfrm>
            <a:off x="622386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57" name="Text 54"/>
          <p:cNvSpPr txBox="1"/>
          <p:nvPr/>
        </p:nvSpPr>
        <p:spPr>
          <a:xfrm>
            <a:off x="758323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58" name="Text 55"/>
          <p:cNvSpPr txBox="1"/>
          <p:nvPr/>
        </p:nvSpPr>
        <p:spPr>
          <a:xfrm>
            <a:off x="8942603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59" name="Text 56"/>
          <p:cNvSpPr txBox="1"/>
          <p:nvPr/>
        </p:nvSpPr>
        <p:spPr>
          <a:xfrm>
            <a:off x="10301973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SQLite blob</a:t>
            </a:r>
            <a:endParaRPr lang="en-US" sz="600" dirty="0"/>
          </a:p>
        </p:txBody>
      </p:sp>
      <p:sp>
        <p:nvSpPr>
          <p:cNvPr id="60" name="Shape 57"/>
          <p:cNvSpPr/>
          <p:nvPr/>
        </p:nvSpPr>
        <p:spPr>
          <a:xfrm>
            <a:off x="658368" y="3679698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8638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Typed secrets (db / api / ssh…)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 ★</a:t>
            </a:r>
            <a:endParaRPr lang="en-US" sz="600" dirty="0"/>
          </a:p>
        </p:txBody>
      </p:sp>
      <p:sp>
        <p:nvSpPr>
          <p:cNvPr id="62" name="Text 59"/>
          <p:cNvSpPr txBox="1"/>
          <p:nvPr/>
        </p:nvSpPr>
        <p:spPr>
          <a:xfrm>
            <a:off x="214575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templates</a:t>
            </a:r>
            <a:endParaRPr lang="en-US" sz="600" dirty="0"/>
          </a:p>
        </p:txBody>
      </p:sp>
      <p:sp>
        <p:nvSpPr>
          <p:cNvPr id="63" name="Text 60"/>
          <p:cNvSpPr txBox="1"/>
          <p:nvPr/>
        </p:nvSpPr>
        <p:spPr>
          <a:xfrm>
            <a:off x="350512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item types</a:t>
            </a:r>
            <a:endParaRPr lang="en-US" sz="600" dirty="0"/>
          </a:p>
        </p:txBody>
      </p:sp>
      <p:sp>
        <p:nvSpPr>
          <p:cNvPr id="64" name="Text 61"/>
          <p:cNvSpPr txBox="1"/>
          <p:nvPr/>
        </p:nvSpPr>
        <p:spPr>
          <a:xfrm>
            <a:off x="486449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65" name="Text 62"/>
          <p:cNvSpPr txBox="1"/>
          <p:nvPr/>
        </p:nvSpPr>
        <p:spPr>
          <a:xfrm>
            <a:off x="622386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66" name="Text 63"/>
          <p:cNvSpPr txBox="1"/>
          <p:nvPr/>
        </p:nvSpPr>
        <p:spPr>
          <a:xfrm>
            <a:off x="758323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67" name="Text 64"/>
          <p:cNvSpPr txBox="1"/>
          <p:nvPr/>
        </p:nvSpPr>
        <p:spPr>
          <a:xfrm>
            <a:off x="8942603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68" name="Text 65"/>
          <p:cNvSpPr txBox="1"/>
          <p:nvPr/>
        </p:nvSpPr>
        <p:spPr>
          <a:xfrm>
            <a:off x="10301973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</a:t>
            </a:r>
            <a:endParaRPr lang="en-US" sz="600" dirty="0"/>
          </a:p>
        </p:txBody>
      </p:sp>
      <p:sp>
        <p:nvSpPr>
          <p:cNvPr id="69" name="Shape 66"/>
          <p:cNvSpPr/>
          <p:nvPr/>
        </p:nvSpPr>
        <p:spPr>
          <a:xfrm>
            <a:off x="658368" y="3958590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70" name="Shape 67"/>
          <p:cNvSpPr/>
          <p:nvPr/>
        </p:nvSpPr>
        <p:spPr>
          <a:xfrm>
            <a:off x="658368" y="395859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8638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4-dimension scoping</a:t>
            </a:r>
            <a:endParaRPr lang="en-US" sz="600" dirty="0"/>
          </a:p>
        </p:txBody>
      </p:sp>
      <p:sp>
        <p:nvSpPr>
          <p:cNvPr id="72" name="Text 69"/>
          <p:cNvSpPr txBox="1"/>
          <p:nvPr/>
        </p:nvSpPr>
        <p:spPr>
          <a:xfrm>
            <a:off x="214575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tenant/proj/env/repo</a:t>
            </a:r>
            <a:endParaRPr lang="en-US" sz="600" dirty="0"/>
          </a:p>
        </p:txBody>
      </p:sp>
      <p:sp>
        <p:nvSpPr>
          <p:cNvPr id="73" name="Text 70"/>
          <p:cNvSpPr txBox="1"/>
          <p:nvPr/>
        </p:nvSpPr>
        <p:spPr>
          <a:xfrm>
            <a:off x="350512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vaults, tags</a:t>
            </a:r>
            <a:endParaRPr lang="en-US" sz="600" dirty="0"/>
          </a:p>
        </p:txBody>
      </p:sp>
      <p:sp>
        <p:nvSpPr>
          <p:cNvPr id="74" name="Text 71"/>
          <p:cNvSpPr txBox="1"/>
          <p:nvPr/>
        </p:nvSpPr>
        <p:spPr>
          <a:xfrm>
            <a:off x="486449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paths</a:t>
            </a:r>
            <a:endParaRPr lang="en-US" sz="600" dirty="0"/>
          </a:p>
        </p:txBody>
      </p:sp>
      <p:sp>
        <p:nvSpPr>
          <p:cNvPr id="75" name="Text 72"/>
          <p:cNvSpPr txBox="1"/>
          <p:nvPr/>
        </p:nvSpPr>
        <p:spPr>
          <a:xfrm>
            <a:off x="622386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envs</a:t>
            </a:r>
            <a:endParaRPr lang="en-US" sz="600" dirty="0"/>
          </a:p>
        </p:txBody>
      </p:sp>
      <p:sp>
        <p:nvSpPr>
          <p:cNvPr id="76" name="Text 73"/>
          <p:cNvSpPr txBox="1"/>
          <p:nvPr/>
        </p:nvSpPr>
        <p:spPr>
          <a:xfrm>
            <a:off x="758323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77" name="Text 74"/>
          <p:cNvSpPr txBox="1"/>
          <p:nvPr/>
        </p:nvSpPr>
        <p:spPr>
          <a:xfrm>
            <a:off x="8942603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dirs</a:t>
            </a:r>
            <a:endParaRPr lang="en-US" sz="600" dirty="0"/>
          </a:p>
        </p:txBody>
      </p:sp>
      <p:sp>
        <p:nvSpPr>
          <p:cNvPr id="78" name="Text 75"/>
          <p:cNvSpPr txBox="1"/>
          <p:nvPr/>
        </p:nvSpPr>
        <p:spPr>
          <a:xfrm>
            <a:off x="10301973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wildcards</a:t>
            </a:r>
            <a:endParaRPr lang="en-US" sz="600" dirty="0"/>
          </a:p>
        </p:txBody>
      </p:sp>
      <p:sp>
        <p:nvSpPr>
          <p:cNvPr id="79" name="Shape 76"/>
          <p:cNvSpPr/>
          <p:nvPr/>
        </p:nvSpPr>
        <p:spPr>
          <a:xfrm>
            <a:off x="658368" y="423748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78638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Tamper-evident audit log</a:t>
            </a:r>
            <a:endParaRPr lang="en-US" sz="600" dirty="0"/>
          </a:p>
        </p:txBody>
      </p:sp>
      <p:sp>
        <p:nvSpPr>
          <p:cNvPr id="81" name="Text 78"/>
          <p:cNvSpPr txBox="1"/>
          <p:nvPr/>
        </p:nvSpPr>
        <p:spPr>
          <a:xfrm>
            <a:off x="214575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HMAC + anchor</a:t>
            </a:r>
            <a:endParaRPr lang="en-US" sz="600" dirty="0"/>
          </a:p>
        </p:txBody>
      </p:sp>
      <p:sp>
        <p:nvSpPr>
          <p:cNvPr id="82" name="Text 79"/>
          <p:cNvSpPr txBox="1"/>
          <p:nvPr/>
        </p:nvSpPr>
        <p:spPr>
          <a:xfrm>
            <a:off x="350512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cloud logs</a:t>
            </a:r>
            <a:endParaRPr lang="en-US" sz="600" dirty="0"/>
          </a:p>
        </p:txBody>
      </p:sp>
      <p:sp>
        <p:nvSpPr>
          <p:cNvPr id="83" name="Text 80"/>
          <p:cNvSpPr txBox="1"/>
          <p:nvPr/>
        </p:nvSpPr>
        <p:spPr>
          <a:xfrm>
            <a:off x="486449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84" name="Text 81"/>
          <p:cNvSpPr txBox="1"/>
          <p:nvPr/>
        </p:nvSpPr>
        <p:spPr>
          <a:xfrm>
            <a:off x="622386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85" name="Text 82"/>
          <p:cNvSpPr txBox="1"/>
          <p:nvPr/>
        </p:nvSpPr>
        <p:spPr>
          <a:xfrm>
            <a:off x="758323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86" name="Text 83"/>
          <p:cNvSpPr txBox="1"/>
          <p:nvPr/>
        </p:nvSpPr>
        <p:spPr>
          <a:xfrm>
            <a:off x="8942603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git log</a:t>
            </a:r>
            <a:endParaRPr lang="en-US" sz="600" dirty="0"/>
          </a:p>
        </p:txBody>
      </p:sp>
      <p:sp>
        <p:nvSpPr>
          <p:cNvPr id="87" name="Text 84"/>
          <p:cNvSpPr txBox="1"/>
          <p:nvPr/>
        </p:nvSpPr>
        <p:spPr>
          <a:xfrm>
            <a:off x="10301973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HMAC</a:t>
            </a:r>
            <a:endParaRPr lang="en-US" sz="600" dirty="0"/>
          </a:p>
        </p:txBody>
      </p:sp>
      <p:sp>
        <p:nvSpPr>
          <p:cNvPr id="88" name="Shape 85"/>
          <p:cNvSpPr/>
          <p:nvPr/>
        </p:nvSpPr>
        <p:spPr>
          <a:xfrm>
            <a:off x="658368" y="4516374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89" name="Shape 86"/>
          <p:cNvSpPr/>
          <p:nvPr/>
        </p:nvSpPr>
        <p:spPr>
          <a:xfrm>
            <a:off x="658368" y="451637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8638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MCP-native for AI agents</a:t>
            </a:r>
            <a:endParaRPr lang="en-US" sz="600" dirty="0"/>
          </a:p>
        </p:txBody>
      </p:sp>
      <p:sp>
        <p:nvSpPr>
          <p:cNvPr id="91" name="Text 88"/>
          <p:cNvSpPr txBox="1"/>
          <p:nvPr/>
        </p:nvSpPr>
        <p:spPr>
          <a:xfrm>
            <a:off x="214575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gate + quota</a:t>
            </a:r>
            <a:endParaRPr lang="en-US" sz="600" dirty="0"/>
          </a:p>
        </p:txBody>
      </p:sp>
      <p:sp>
        <p:nvSpPr>
          <p:cNvPr id="92" name="Text 89"/>
          <p:cNvSpPr txBox="1"/>
          <p:nvPr/>
        </p:nvSpPr>
        <p:spPr>
          <a:xfrm>
            <a:off x="350512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93" name="Text 90"/>
          <p:cNvSpPr txBox="1"/>
          <p:nvPr/>
        </p:nvSpPr>
        <p:spPr>
          <a:xfrm>
            <a:off x="486449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SDK</a:t>
            </a:r>
            <a:endParaRPr lang="en-US" sz="600" dirty="0"/>
          </a:p>
        </p:txBody>
      </p:sp>
      <p:sp>
        <p:nvSpPr>
          <p:cNvPr id="94" name="Text 91"/>
          <p:cNvSpPr txBox="1"/>
          <p:nvPr/>
        </p:nvSpPr>
        <p:spPr>
          <a:xfrm>
            <a:off x="622386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SDK</a:t>
            </a:r>
            <a:endParaRPr lang="en-US" sz="600" dirty="0"/>
          </a:p>
        </p:txBody>
      </p:sp>
      <p:sp>
        <p:nvSpPr>
          <p:cNvPr id="95" name="Text 92"/>
          <p:cNvSpPr txBox="1"/>
          <p:nvPr/>
        </p:nvSpPr>
        <p:spPr>
          <a:xfrm>
            <a:off x="758323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96" name="Text 93"/>
          <p:cNvSpPr txBox="1"/>
          <p:nvPr/>
        </p:nvSpPr>
        <p:spPr>
          <a:xfrm>
            <a:off x="8942603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97" name="Text 94"/>
          <p:cNvSpPr txBox="1"/>
          <p:nvPr/>
        </p:nvSpPr>
        <p:spPr>
          <a:xfrm>
            <a:off x="10301973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MCP</a:t>
            </a:r>
            <a:endParaRPr lang="en-US" sz="600" dirty="0"/>
          </a:p>
        </p:txBody>
      </p:sp>
      <p:sp>
        <p:nvSpPr>
          <p:cNvPr id="98" name="Shape 95"/>
          <p:cNvSpPr/>
          <p:nvPr/>
        </p:nvSpPr>
        <p:spPr>
          <a:xfrm>
            <a:off x="658368" y="4795266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78638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Per-agent exfiltration quotas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 ★</a:t>
            </a:r>
            <a:endParaRPr lang="en-US" sz="600" dirty="0"/>
          </a:p>
        </p:txBody>
      </p:sp>
      <p:sp>
        <p:nvSpPr>
          <p:cNvPr id="100" name="Text 97"/>
          <p:cNvSpPr txBox="1"/>
          <p:nvPr/>
        </p:nvSpPr>
        <p:spPr>
          <a:xfrm>
            <a:off x="214575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01" name="Text 98"/>
          <p:cNvSpPr txBox="1"/>
          <p:nvPr/>
        </p:nvSpPr>
        <p:spPr>
          <a:xfrm>
            <a:off x="350512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02" name="Text 99"/>
          <p:cNvSpPr txBox="1"/>
          <p:nvPr/>
        </p:nvSpPr>
        <p:spPr>
          <a:xfrm>
            <a:off x="486449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policy</a:t>
            </a:r>
            <a:endParaRPr lang="en-US" sz="600" dirty="0"/>
          </a:p>
        </p:txBody>
      </p:sp>
      <p:sp>
        <p:nvSpPr>
          <p:cNvPr id="103" name="Text 100"/>
          <p:cNvSpPr txBox="1"/>
          <p:nvPr/>
        </p:nvSpPr>
        <p:spPr>
          <a:xfrm>
            <a:off x="622386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04" name="Text 101"/>
          <p:cNvSpPr txBox="1"/>
          <p:nvPr/>
        </p:nvSpPr>
        <p:spPr>
          <a:xfrm>
            <a:off x="758323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05" name="Text 102"/>
          <p:cNvSpPr txBox="1"/>
          <p:nvPr/>
        </p:nvSpPr>
        <p:spPr>
          <a:xfrm>
            <a:off x="8942603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06" name="Text 103"/>
          <p:cNvSpPr txBox="1"/>
          <p:nvPr/>
        </p:nvSpPr>
        <p:spPr>
          <a:xfrm>
            <a:off x="10301973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</a:t>
            </a:r>
            <a:endParaRPr lang="en-US" sz="600" dirty="0"/>
          </a:p>
        </p:txBody>
      </p:sp>
      <p:sp>
        <p:nvSpPr>
          <p:cNvPr id="107" name="Shape 104"/>
          <p:cNvSpPr/>
          <p:nvPr/>
        </p:nvSpPr>
        <p:spPr>
          <a:xfrm>
            <a:off x="658368" y="5074158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108" name="Shape 105"/>
          <p:cNvSpPr/>
          <p:nvPr/>
        </p:nvSpPr>
        <p:spPr>
          <a:xfrm>
            <a:off x="658368" y="5074158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78638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Works fully offline</a:t>
            </a:r>
            <a:endParaRPr lang="en-US" sz="600" dirty="0"/>
          </a:p>
        </p:txBody>
      </p:sp>
      <p:sp>
        <p:nvSpPr>
          <p:cNvPr id="110" name="Text 107"/>
          <p:cNvSpPr txBox="1"/>
          <p:nvPr/>
        </p:nvSpPr>
        <p:spPr>
          <a:xfrm>
            <a:off x="214575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11" name="Text 108"/>
          <p:cNvSpPr txBox="1"/>
          <p:nvPr/>
        </p:nvSpPr>
        <p:spPr>
          <a:xfrm>
            <a:off x="350512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cache</a:t>
            </a:r>
            <a:endParaRPr lang="en-US" sz="600" dirty="0"/>
          </a:p>
        </p:txBody>
      </p:sp>
      <p:sp>
        <p:nvSpPr>
          <p:cNvPr id="112" name="Text 109"/>
          <p:cNvSpPr txBox="1"/>
          <p:nvPr/>
        </p:nvSpPr>
        <p:spPr>
          <a:xfrm>
            <a:off x="486449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endParaRPr lang="en-US" sz="600" dirty="0"/>
          </a:p>
        </p:txBody>
      </p:sp>
      <p:sp>
        <p:nvSpPr>
          <p:cNvPr id="113" name="Text 110"/>
          <p:cNvSpPr txBox="1"/>
          <p:nvPr/>
        </p:nvSpPr>
        <p:spPr>
          <a:xfrm>
            <a:off x="622386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14" name="Text 111"/>
          <p:cNvSpPr txBox="1"/>
          <p:nvPr/>
        </p:nvSpPr>
        <p:spPr>
          <a:xfrm>
            <a:off x="758323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15" name="Text 112"/>
          <p:cNvSpPr txBox="1"/>
          <p:nvPr/>
        </p:nvSpPr>
        <p:spPr>
          <a:xfrm>
            <a:off x="8942603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16" name="Text 113"/>
          <p:cNvSpPr txBox="1"/>
          <p:nvPr/>
        </p:nvSpPr>
        <p:spPr>
          <a:xfrm>
            <a:off x="10301973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17" name="Shape 114"/>
          <p:cNvSpPr/>
          <p:nvPr/>
        </p:nvSpPr>
        <p:spPr>
          <a:xfrm>
            <a:off x="658368" y="535305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78638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Dynamic / leased secrets</a:t>
            </a:r>
            <a:endParaRPr lang="en-US" sz="600" dirty="0"/>
          </a:p>
        </p:txBody>
      </p:sp>
      <p:sp>
        <p:nvSpPr>
          <p:cNvPr id="119" name="Text 116"/>
          <p:cNvSpPr txBox="1"/>
          <p:nvPr/>
        </p:nvSpPr>
        <p:spPr>
          <a:xfrm>
            <a:off x="214575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0" name="Text 117"/>
          <p:cNvSpPr txBox="1"/>
          <p:nvPr/>
        </p:nvSpPr>
        <p:spPr>
          <a:xfrm>
            <a:off x="350512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1" name="Text 118"/>
          <p:cNvSpPr txBox="1"/>
          <p:nvPr/>
        </p:nvSpPr>
        <p:spPr>
          <a:xfrm>
            <a:off x="486449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22" name="Text 119"/>
          <p:cNvSpPr txBox="1"/>
          <p:nvPr/>
        </p:nvSpPr>
        <p:spPr>
          <a:xfrm>
            <a:off x="622386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endParaRPr lang="en-US" sz="600" dirty="0"/>
          </a:p>
        </p:txBody>
      </p:sp>
      <p:sp>
        <p:nvSpPr>
          <p:cNvPr id="123" name="Text 120"/>
          <p:cNvSpPr txBox="1"/>
          <p:nvPr/>
        </p:nvSpPr>
        <p:spPr>
          <a:xfrm>
            <a:off x="758323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4" name="Text 121"/>
          <p:cNvSpPr txBox="1"/>
          <p:nvPr/>
        </p:nvSpPr>
        <p:spPr>
          <a:xfrm>
            <a:off x="8942603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5" name="Text 122"/>
          <p:cNvSpPr txBox="1"/>
          <p:nvPr/>
        </p:nvSpPr>
        <p:spPr>
          <a:xfrm>
            <a:off x="10301973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6" name="Shape 123"/>
          <p:cNvSpPr/>
          <p:nvPr/>
        </p:nvSpPr>
        <p:spPr>
          <a:xfrm>
            <a:off x="658368" y="5631942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127" name="Shape 124"/>
          <p:cNvSpPr/>
          <p:nvPr/>
        </p:nvSpPr>
        <p:spPr>
          <a:xfrm>
            <a:off x="658368" y="563194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128" name="Text 125"/>
          <p:cNvSpPr txBox="1"/>
          <p:nvPr/>
        </p:nvSpPr>
        <p:spPr>
          <a:xfrm>
            <a:off x="78638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Multi-user / RBAC / SSO</a:t>
            </a:r>
            <a:endParaRPr lang="en-US" sz="600" dirty="0"/>
          </a:p>
        </p:txBody>
      </p:sp>
      <p:sp>
        <p:nvSpPr>
          <p:cNvPr id="129" name="Text 126"/>
          <p:cNvSpPr txBox="1"/>
          <p:nvPr/>
        </p:nvSpPr>
        <p:spPr>
          <a:xfrm>
            <a:off x="214575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single-owner</a:t>
            </a:r>
            <a:endParaRPr lang="en-US" sz="600" dirty="0"/>
          </a:p>
        </p:txBody>
      </p:sp>
      <p:sp>
        <p:nvSpPr>
          <p:cNvPr id="130" name="Text 127"/>
          <p:cNvSpPr txBox="1"/>
          <p:nvPr/>
        </p:nvSpPr>
        <p:spPr>
          <a:xfrm>
            <a:off x="350512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31" name="Text 128"/>
          <p:cNvSpPr txBox="1"/>
          <p:nvPr/>
        </p:nvSpPr>
        <p:spPr>
          <a:xfrm>
            <a:off x="486449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32" name="Text 129"/>
          <p:cNvSpPr txBox="1"/>
          <p:nvPr/>
        </p:nvSpPr>
        <p:spPr>
          <a:xfrm>
            <a:off x="622386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33" name="Text 130"/>
          <p:cNvSpPr txBox="1"/>
          <p:nvPr/>
        </p:nvSpPr>
        <p:spPr>
          <a:xfrm>
            <a:off x="758323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recipients</a:t>
            </a:r>
            <a:endParaRPr lang="en-US" sz="600" dirty="0"/>
          </a:p>
        </p:txBody>
      </p:sp>
      <p:sp>
        <p:nvSpPr>
          <p:cNvPr id="134" name="Text 131"/>
          <p:cNvSpPr txBox="1"/>
          <p:nvPr/>
        </p:nvSpPr>
        <p:spPr>
          <a:xfrm>
            <a:off x="8942603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keys</a:t>
            </a:r>
            <a:endParaRPr lang="en-US" sz="600" dirty="0"/>
          </a:p>
        </p:txBody>
      </p:sp>
      <p:sp>
        <p:nvSpPr>
          <p:cNvPr id="135" name="Text 132"/>
          <p:cNvSpPr txBox="1"/>
          <p:nvPr/>
        </p:nvSpPr>
        <p:spPr>
          <a:xfrm>
            <a:off x="10301973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36" name="Shape 133"/>
          <p:cNvSpPr/>
          <p:nvPr/>
        </p:nvSpPr>
        <p:spPr>
          <a:xfrm>
            <a:off x="658368" y="591083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137" name="Text 134"/>
          <p:cNvSpPr txBox="1"/>
          <p:nvPr/>
        </p:nvSpPr>
        <p:spPr>
          <a:xfrm>
            <a:off x="786384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Mobile app / autofill</a:t>
            </a:r>
            <a:endParaRPr lang="en-US" sz="600" dirty="0"/>
          </a:p>
        </p:txBody>
      </p:sp>
      <p:sp>
        <p:nvSpPr>
          <p:cNvPr id="138" name="Text 135"/>
          <p:cNvSpPr txBox="1"/>
          <p:nvPr/>
        </p:nvSpPr>
        <p:spPr>
          <a:xfrm>
            <a:off x="2145754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39" name="Text 136"/>
          <p:cNvSpPr txBox="1"/>
          <p:nvPr/>
        </p:nvSpPr>
        <p:spPr>
          <a:xfrm>
            <a:off x="3505124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40" name="Text 137"/>
          <p:cNvSpPr txBox="1"/>
          <p:nvPr/>
        </p:nvSpPr>
        <p:spPr>
          <a:xfrm>
            <a:off x="4864494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41" name="Text 138"/>
          <p:cNvSpPr txBox="1"/>
          <p:nvPr/>
        </p:nvSpPr>
        <p:spPr>
          <a:xfrm>
            <a:off x="6223864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42" name="Text 139"/>
          <p:cNvSpPr txBox="1"/>
          <p:nvPr/>
        </p:nvSpPr>
        <p:spPr>
          <a:xfrm>
            <a:off x="7583234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43" name="Text 140"/>
          <p:cNvSpPr txBox="1"/>
          <p:nvPr/>
        </p:nvSpPr>
        <p:spPr>
          <a:xfrm>
            <a:off x="8942603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endParaRPr lang="en-US" sz="600" dirty="0"/>
          </a:p>
        </p:txBody>
      </p:sp>
      <p:sp>
        <p:nvSpPr>
          <p:cNvPr id="144" name="Text 141"/>
          <p:cNvSpPr txBox="1"/>
          <p:nvPr/>
        </p:nvSpPr>
        <p:spPr>
          <a:xfrm>
            <a:off x="10301973" y="597868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45" name="Shape 142"/>
          <p:cNvSpPr/>
          <p:nvPr/>
        </p:nvSpPr>
        <p:spPr>
          <a:xfrm>
            <a:off x="658368" y="2253234"/>
            <a:ext cx="10874959" cy="3936492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</p:sp>
      <p:sp>
        <p:nvSpPr>
          <p:cNvPr id="146" name="Text 143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docs/comparison.md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17403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174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market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1080820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Where concealer wins — and where you should use something else.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87057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Where it wins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2385644"/>
            <a:ext cx="5181448" cy="0"/>
          </a:xfrm>
          <a:prstGeom prst="line">
            <a:avLst/>
          </a:prstGeom>
          <a:noFill/>
          <a:ln w="20320">
            <a:solidFill>
              <a:srgbClr val="2F9E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0372" y="2596185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96112" y="2520747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Zero infrastructure.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 server, container, cloud tenant or daemon. </a:t>
            </a:r>
            <a:pPr algn="l" indent="0" marL="0">
              <a:lnSpc>
                <a:spcPts val="1065"/>
              </a:lnSpc>
              <a:buNone/>
            </a:pPr>
            <a:r>
              <a:rPr lang="en-US" sz="67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init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and you have a vault.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90372" y="2914320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6112" y="2838882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Git-native.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 encrypted YAML file that diffs and versions in the same repo as the code.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90372" y="3232455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96112" y="3157017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Agent-first.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The only tool in the matrix with an MCP server designed around AI-agent threat models: registration gate, per-agent exfiltration quotas, redacted output.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90372" y="3685845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96112" y="3610407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Tamper-evident by design.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HMAC chain plus a head anchor that catches tail-truncation — no cloud audit pipeline required.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90372" y="4139235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96112" y="4063797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 lock-in, no telemetry, one file to read.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Compare with trusting a proprietary cloud vault — see the 2022 LastPass breach.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351880" y="1987057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Where it doesn't — use something else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351880" y="2385644"/>
            <a:ext cx="5181448" cy="0"/>
          </a:xfrm>
          <a:prstGeom prst="line">
            <a:avLst/>
          </a:prstGeom>
          <a:noFill/>
          <a:ln w="20320">
            <a:solidFill>
              <a:srgbClr val="D8963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83884" y="2596185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589624" y="2520747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Teams.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 SSO, no RBAC, no per-user sharing. It is a single-owner vault. → 1Password / Bitwarden / Vault.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383884" y="2914320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589624" y="2838882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Dynamic secrets and leases.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 short-lived DB credentials minted on demand. → HashiCorp Vault.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383884" y="3232455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589624" y="3157017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Automatic rotation and a CI/CD sync fabric.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Rotation is manual. → Doppler / Infisical.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383884" y="3550590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89624" y="3475152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Consumer UX.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 mobile app, no browser autofill, no passkeys. → 1Password / Bitwarden / Keeper.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383884" y="3868725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589624" y="3793287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Turnkey compliance attestations.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 FedRAMP or SOC 2 — those are earned by the entity operating a tool, not shipped by the tool. → Keeper / Vault / cloud KMS.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58368" y="4711268"/>
            <a:ext cx="10874959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86384" y="4816988"/>
            <a:ext cx="723164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If you need…</a:t>
            </a:r>
            <a:endParaRPr lang="en-US" sz="600" dirty="0"/>
          </a:p>
        </p:txBody>
      </p:sp>
      <p:sp>
        <p:nvSpPr>
          <p:cNvPr id="38" name="Text 35"/>
          <p:cNvSpPr txBox="1"/>
          <p:nvPr/>
        </p:nvSpPr>
        <p:spPr>
          <a:xfrm>
            <a:off x="8274061" y="4816988"/>
            <a:ext cx="313125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Reach for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658368" y="502216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86384" y="5062581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personal or single-dev vault with no server, versioned in git</a:t>
            </a:r>
            <a:endParaRPr lang="en-US" sz="600" dirty="0"/>
          </a:p>
        </p:txBody>
      </p:sp>
      <p:sp>
        <p:nvSpPr>
          <p:cNvPr id="41" name="Text 38"/>
          <p:cNvSpPr txBox="1"/>
          <p:nvPr/>
        </p:nvSpPr>
        <p:spPr>
          <a:xfrm>
            <a:off x="8274061" y="5062581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658368" y="5246192"/>
            <a:ext cx="10874959" cy="224028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43" name="Shape 40"/>
          <p:cNvSpPr/>
          <p:nvPr/>
        </p:nvSpPr>
        <p:spPr>
          <a:xfrm>
            <a:off x="658368" y="524619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86384" y="5286609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Safe secret access for local AI agents and MCP clients</a:t>
            </a:r>
            <a:endParaRPr lang="en-US" sz="600" dirty="0"/>
          </a:p>
        </p:txBody>
      </p:sp>
      <p:sp>
        <p:nvSpPr>
          <p:cNvPr id="45" name="Text 42"/>
          <p:cNvSpPr txBox="1"/>
          <p:nvPr/>
        </p:nvSpPr>
        <p:spPr>
          <a:xfrm>
            <a:off x="8274061" y="5286609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658368" y="547022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86384" y="5510637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 just encrypt a config file in a repo</a:t>
            </a:r>
            <a:endParaRPr lang="en-US" sz="600" dirty="0"/>
          </a:p>
        </p:txBody>
      </p:sp>
      <p:sp>
        <p:nvSpPr>
          <p:cNvPr id="48" name="Text 45"/>
          <p:cNvSpPr txBox="1"/>
          <p:nvPr/>
        </p:nvSpPr>
        <p:spPr>
          <a:xfrm>
            <a:off x="8274061" y="5510637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</a:t>
            </a:r>
            <a:endParaRPr lang="en-US" sz="600" dirty="0"/>
          </a:p>
        </p:txBody>
      </p:sp>
      <p:sp>
        <p:nvSpPr>
          <p:cNvPr id="49" name="Shape 46"/>
          <p:cNvSpPr/>
          <p:nvPr/>
        </p:nvSpPr>
        <p:spPr>
          <a:xfrm>
            <a:off x="658368" y="5694248"/>
            <a:ext cx="10874959" cy="224028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50" name="Shape 47"/>
          <p:cNvSpPr/>
          <p:nvPr/>
        </p:nvSpPr>
        <p:spPr>
          <a:xfrm>
            <a:off x="658368" y="5694248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86384" y="5734665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Team sharing, SSO, mobile autofill</a:t>
            </a:r>
            <a:endParaRPr lang="en-US" sz="600" dirty="0"/>
          </a:p>
        </p:txBody>
      </p:sp>
      <p:sp>
        <p:nvSpPr>
          <p:cNvPr id="52" name="Text 49"/>
          <p:cNvSpPr txBox="1"/>
          <p:nvPr/>
        </p:nvSpPr>
        <p:spPr>
          <a:xfrm>
            <a:off x="8274061" y="5734665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1Password / Bitwarden</a:t>
            </a:r>
            <a:endParaRPr lang="en-US" sz="600" dirty="0"/>
          </a:p>
        </p:txBody>
      </p:sp>
      <p:sp>
        <p:nvSpPr>
          <p:cNvPr id="53" name="Shape 50"/>
          <p:cNvSpPr/>
          <p:nvPr/>
        </p:nvSpPr>
        <p:spPr>
          <a:xfrm>
            <a:off x="658368" y="5918276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86384" y="5958693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Dynamic DB credentials, leases, encryption-as-a-service</a:t>
            </a:r>
            <a:endParaRPr lang="en-US" sz="600" dirty="0"/>
          </a:p>
        </p:txBody>
      </p:sp>
      <p:sp>
        <p:nvSpPr>
          <p:cNvPr id="55" name="Text 52"/>
          <p:cNvSpPr txBox="1"/>
          <p:nvPr/>
        </p:nvSpPr>
        <p:spPr>
          <a:xfrm>
            <a:off x="8274061" y="5958693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HashiCorp Vault</a:t>
            </a:r>
            <a:endParaRPr lang="en-US" sz="600" dirty="0"/>
          </a:p>
        </p:txBody>
      </p:sp>
      <p:sp>
        <p:nvSpPr>
          <p:cNvPr id="56" name="Shape 53"/>
          <p:cNvSpPr/>
          <p:nvPr/>
        </p:nvSpPr>
        <p:spPr>
          <a:xfrm>
            <a:off x="658368" y="6142304"/>
            <a:ext cx="10874959" cy="224028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57" name="Shape 54"/>
          <p:cNvSpPr/>
          <p:nvPr/>
        </p:nvSpPr>
        <p:spPr>
          <a:xfrm>
            <a:off x="658368" y="614230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86384" y="6182721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Managed multi-environment secrets synced into CI/CD</a:t>
            </a:r>
            <a:endParaRPr lang="en-US" sz="600" dirty="0"/>
          </a:p>
        </p:txBody>
      </p:sp>
      <p:sp>
        <p:nvSpPr>
          <p:cNvPr id="59" name="Text 56"/>
          <p:cNvSpPr txBox="1"/>
          <p:nvPr/>
        </p:nvSpPr>
        <p:spPr>
          <a:xfrm>
            <a:off x="8274061" y="6182721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Doppler / Infisical</a:t>
            </a:r>
            <a:endParaRPr lang="en-US" sz="600" dirty="0"/>
          </a:p>
        </p:txBody>
      </p:sp>
      <p:sp>
        <p:nvSpPr>
          <p:cNvPr id="60" name="Shape 57"/>
          <p:cNvSpPr/>
          <p:nvPr/>
        </p:nvSpPr>
        <p:spPr>
          <a:xfrm>
            <a:off x="658368" y="4711268"/>
            <a:ext cx="10874959" cy="1655064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docs/comparison.md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010469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0104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Get started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24240"/>
            <a:ext cx="1080820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spc="-79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Up and running in about a minute.</a:t>
            </a:r>
            <a:endParaRPr lang="en-US" sz="33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504158"/>
            <a:ext cx="877824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Pick your package manager — each one pulls in the sops and age binaries concealer wraps. Then init once: it prints 8 recovery codes and a starter token, and removes the plaintext age key from disk.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234778"/>
            <a:ext cx="345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macOS · Homebrew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" y="2611145"/>
            <a:ext cx="3454298" cy="1215771"/>
          </a:xfrm>
          <a:prstGeom prst="roundRect">
            <a:avLst>
              <a:gd name="adj" fmla="val 5265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9536" y="2743139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# pulls in sops, age, expect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59536" y="2924114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brew</a:t>
            </a:r>
            <a:pPr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install fxerkan/tap/concealer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859536" y="3286064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</a:t>
            </a:r>
            <a:pPr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init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59536" y="3467039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eval</a:t>
            </a:r>
            <a:pPr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"$(cer unlock)"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368698" y="2234778"/>
            <a:ext cx="345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70D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Linux · pipx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68698" y="2611145"/>
            <a:ext cx="3454298" cy="1215771"/>
          </a:xfrm>
          <a:prstGeom prst="roundRect">
            <a:avLst>
              <a:gd name="adj" fmla="val 5265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69866" y="2743139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pipx</a:t>
            </a:r>
            <a:pPr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install concealer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69866" y="2924114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sudo</a:t>
            </a:r>
            <a:pPr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apt install sops age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569866" y="3286064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</a:t>
            </a:r>
            <a:pPr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init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569866" y="3467039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eval</a:t>
            </a:r>
            <a:pPr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"$(cer unlock)"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079029" y="2234778"/>
            <a:ext cx="345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Windows · Scoop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79029" y="2611145"/>
            <a:ext cx="3454298" cy="1253871"/>
          </a:xfrm>
          <a:prstGeom prst="roundRect">
            <a:avLst>
              <a:gd name="adj" fmla="val 5105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80197" y="2746225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scoop</a:t>
            </a:r>
            <a:pPr indent="0" marL="0">
              <a:buNone/>
            </a:pP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bucket add fxerkan </a:t>
            </a:r>
            <a:pPr indent="0" marL="0">
              <a:buNone/>
            </a:pPr>
            <a:r>
              <a:rPr lang="en-US" sz="825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\</a:t>
            </a:r>
            <a:endParaRPr lang="en-US" sz="825" dirty="0"/>
          </a:p>
        </p:txBody>
      </p:sp>
      <p:sp>
        <p:nvSpPr>
          <p:cNvPr id="28" name="Text 25"/>
          <p:cNvSpPr txBox="1"/>
          <p:nvPr/>
        </p:nvSpPr>
        <p:spPr>
          <a:xfrm>
            <a:off x="8280197" y="2903388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https://github.com/fxerkan/scoop-bucket</a:t>
            </a:r>
            <a:endParaRPr lang="en-US" sz="825" dirty="0"/>
          </a:p>
        </p:txBody>
      </p:sp>
      <p:sp>
        <p:nvSpPr>
          <p:cNvPr id="29" name="Text 26"/>
          <p:cNvSpPr txBox="1"/>
          <p:nvPr/>
        </p:nvSpPr>
        <p:spPr>
          <a:xfrm>
            <a:off x="8280197" y="3060550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scoop</a:t>
            </a:r>
            <a:pPr indent="0" marL="0">
              <a:buNone/>
            </a:pP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install concealer</a:t>
            </a:r>
            <a:endParaRPr lang="en-US" sz="825" dirty="0"/>
          </a:p>
        </p:txBody>
      </p:sp>
      <p:sp>
        <p:nvSpPr>
          <p:cNvPr id="30" name="Text 27"/>
          <p:cNvSpPr txBox="1"/>
          <p:nvPr/>
        </p:nvSpPr>
        <p:spPr>
          <a:xfrm>
            <a:off x="8280197" y="3374875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</a:t>
            </a:r>
            <a:pPr indent="0" marL="0">
              <a:buNone/>
            </a:pP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init</a:t>
            </a:r>
            <a:endParaRPr lang="en-US" sz="825" dirty="0"/>
          </a:p>
        </p:txBody>
      </p:sp>
      <p:sp>
        <p:nvSpPr>
          <p:cNvPr id="31" name="Text 28"/>
          <p:cNvSpPr txBox="1"/>
          <p:nvPr/>
        </p:nvSpPr>
        <p:spPr>
          <a:xfrm>
            <a:off x="8280197" y="3532038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$env:</a:t>
            </a:r>
            <a:pPr indent="0" marL="0">
              <a:buNone/>
            </a:pP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CONCEALER_TOKEN = </a:t>
            </a:r>
            <a:pPr indent="0" marL="0">
              <a:buNone/>
            </a:pPr>
            <a:r>
              <a:rPr lang="en-US" sz="825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"…"</a:t>
            </a:r>
            <a:endParaRPr lang="en-US" sz="825" dirty="0"/>
          </a:p>
        </p:txBody>
      </p:sp>
      <p:sp>
        <p:nvSpPr>
          <p:cNvPr id="32" name="Text 29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Source: docs/installation.md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4A4A"/>
          </a:solidFill>
          <a:ln/>
        </p:spPr>
      </p:sp>
      <p:pic>
        <p:nvPicPr>
          <p:cNvPr id="3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877037"/>
            <a:ext cx="804672" cy="8046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2399" y="902330"/>
            <a:ext cx="8229600" cy="857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600" spc="-129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4341586" y="944392"/>
            <a:ext cx="1231377" cy="669961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644436" y="902330"/>
            <a:ext cx="991438" cy="66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600" spc="-92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835272"/>
            <a:ext cx="652881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spc="-9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Stop pasting keys into chat windows.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079267"/>
            <a:ext cx="6309360" cy="43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Local-only. Portable. Open source. Built for the way we code now.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" y="3621367"/>
            <a:ext cx="3159252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3708875"/>
            <a:ext cx="3159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brew install fxerkan/tap/concealer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09060" y="3621367"/>
            <a:ext cx="2199132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09060" y="3708875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pipx install concealer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58368" y="4023703"/>
            <a:ext cx="2279142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4111211"/>
            <a:ext cx="22791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scoop install concealer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028950" y="4023703"/>
            <a:ext cx="678942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28950" y="4111211"/>
            <a:ext cx="678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MIT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799332" y="4023703"/>
            <a:ext cx="2279142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99332" y="4111211"/>
            <a:ext cx="22791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macOS · Linux · Windows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85800" y="4735742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4668661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concealer.fxerkan.com</a:t>
            </a:r>
            <a:endParaRPr lang="en-US" sz="806" dirty="0"/>
          </a:p>
        </p:txBody>
      </p:sp>
      <p:sp>
        <p:nvSpPr>
          <p:cNvPr id="21" name="Shape 18"/>
          <p:cNvSpPr/>
          <p:nvPr/>
        </p:nvSpPr>
        <p:spPr>
          <a:xfrm>
            <a:off x="685800" y="4966102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4899022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GitHub</a:t>
            </a:r>
            <a:endParaRPr lang="en-US" sz="806" dirty="0"/>
          </a:p>
        </p:txBody>
      </p:sp>
      <p:sp>
        <p:nvSpPr>
          <p:cNvPr id="23" name="Shape 20"/>
          <p:cNvSpPr/>
          <p:nvPr/>
        </p:nvSpPr>
        <p:spPr>
          <a:xfrm>
            <a:off x="685800" y="5196463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5129382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Full comparison</a:t>
            </a:r>
            <a:endParaRPr lang="en-US" sz="806" dirty="0"/>
          </a:p>
        </p:txBody>
      </p:sp>
      <p:sp>
        <p:nvSpPr>
          <p:cNvPr id="25" name="Shape 22"/>
          <p:cNvSpPr/>
          <p:nvPr/>
        </p:nvSpPr>
        <p:spPr>
          <a:xfrm>
            <a:off x="685800" y="5426823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4400" y="5359742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Chrome Web Store</a:t>
            </a:r>
            <a:endParaRPr lang="en-US" sz="806" dirty="0"/>
          </a:p>
        </p:txBody>
      </p:sp>
      <p:sp>
        <p:nvSpPr>
          <p:cNvPr id="27" name="Shape 24"/>
          <p:cNvSpPr/>
          <p:nvPr/>
        </p:nvSpPr>
        <p:spPr>
          <a:xfrm>
            <a:off x="685800" y="5657183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14400" y="5590102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Support</a:t>
            </a:r>
            <a:endParaRPr lang="en-US" sz="806" dirty="0"/>
          </a:p>
        </p:txBody>
      </p:sp>
      <p:sp>
        <p:nvSpPr>
          <p:cNvPr id="29" name="Shape 26"/>
          <p:cNvSpPr/>
          <p:nvPr/>
        </p:nvSpPr>
        <p:spPr>
          <a:xfrm>
            <a:off x="7356348" y="1760070"/>
            <a:ext cx="4224528" cy="2725211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30" name="Image 1" descr="/home/claude/deck/imgc/app-secre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09778"/>
            <a:ext cx="4224528" cy="2725211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315200" y="1709778"/>
            <a:ext cx="4224528" cy="2725211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58368" y="6126480"/>
            <a:ext cx="10874959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58368" y="6323716"/>
            <a:ext cx="6524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 v0.9.24  ·  MIT  ·  Developed by FXerkan — Code more, worry less.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fxerkan.com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concealer — Pitch Deck (EN)</dc:title>
  <dc:subject>PptxGenJS Presentation</dc:subject>
  <dc:creator>FXerkan</dc:creator>
  <cp:lastModifiedBy>FXerkan</cp:lastModifiedBy>
  <cp:revision>1</cp:revision>
  <dcterms:created xsi:type="dcterms:W3CDTF">2026-09-13T17:40:09Z</dcterms:created>
  <dcterms:modified xsi:type="dcterms:W3CDTF">2026-09-13T17:40:09Z</dcterms:modified>
</cp:coreProperties>
</file>