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4A4A"/>
    <a:srgbClr val="0C0D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49"/>
    <p:restoredTop sz="94610"/>
  </p:normalViewPr>
  <p:slideViewPr>
    <p:cSldViewPr snapToGrid="0" snapToObjects="1">
      <p:cViewPr>
        <p:scale>
          <a:sx n="172" d="100"/>
          <a:sy n="172" d="100"/>
        </p:scale>
        <p:origin x="2664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2182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58075-9D1D-0B2A-9EAF-07282185A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10C3B-E34C-3976-E47A-708027BCD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8E7C23-C091-EAEB-86ED-388BA5A53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A9CB2-826C-8B42-0CD2-F518662A1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1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7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concealer.fxerkan.com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>
            <a:extLst>
              <a:ext uri="{FF2B5EF4-FFF2-40B4-BE49-F238E27FC236}">
                <a16:creationId xmlns:a16="http://schemas.microsoft.com/office/drawing/2014/main" id="{C1E04242-C832-457C-B5B3-62E472D7CA64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4" name="Image 0" descr="/home/claude/decks/kit2/worlds/../logos/conceal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05288" y="155449"/>
            <a:ext cx="80297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5805288" y="210313"/>
            <a:ext cx="8029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Secrets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58368" y="2182546"/>
            <a:ext cx="3558540" cy="384048"/>
          </a:xfrm>
          <a:prstGeom prst="roundRect">
            <a:avLst>
              <a:gd name="adj" fmla="val 5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Text 16"/>
          <p:cNvSpPr txBox="1"/>
          <p:nvPr/>
        </p:nvSpPr>
        <p:spPr>
          <a:xfrm>
            <a:off x="850053" y="2232951"/>
            <a:ext cx="35585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135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AI SECRET MANAGER</a:t>
            </a:r>
            <a:endParaRPr lang="en-US" sz="2000" b="1" dirty="0"/>
          </a:p>
        </p:txBody>
      </p:sp>
      <p:sp>
        <p:nvSpPr>
          <p:cNvPr id="21" name="Text 17"/>
          <p:cNvSpPr txBox="1"/>
          <p:nvPr/>
        </p:nvSpPr>
        <p:spPr>
          <a:xfrm>
            <a:off x="658368" y="2881852"/>
            <a:ext cx="5184648" cy="56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96"/>
              </a:lnSpc>
              <a:buNone/>
            </a:pPr>
            <a:r>
              <a:rPr lang="en-US" sz="3300" b="1" kern="0" spc="-46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Stop pasting keys into chats.</a:t>
            </a:r>
            <a:endParaRPr lang="en-US" sz="33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" y="3460230"/>
            <a:ext cx="5074920" cy="1121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Your agents need secrets. Handing them the real key is how it leaks. </a:t>
            </a: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conceal</a:t>
            </a:r>
            <a:r>
              <a:rPr lang="en-US" sz="125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er</a:t>
            </a:r>
            <a:r>
              <a:rPr lang="en-US" sz="12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keeps one encrypted file on your own disk and gives every interface, including an MCP server your AI can call, a way to use a secret </a:t>
            </a:r>
            <a:r>
              <a:rPr lang="en-US" sz="1250" i="1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without ever seeing it.</a:t>
            </a:r>
            <a:endParaRPr lang="en-US" sz="1250" i="1" dirty="0">
              <a:solidFill>
                <a:srgbClr val="F04A4A"/>
              </a:solidFill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58368" y="5256809"/>
            <a:ext cx="728091" cy="292608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Text 20"/>
          <p:cNvSpPr txBox="1"/>
          <p:nvPr/>
        </p:nvSpPr>
        <p:spPr>
          <a:xfrm>
            <a:off x="658368" y="5338948"/>
            <a:ext cx="728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kern="0" spc="68" dirty="0">
                <a:solidFill>
                  <a:srgbClr val="9A9AA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CLI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1496187" y="5256809"/>
            <a:ext cx="980694" cy="292608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22"/>
          <p:cNvSpPr txBox="1"/>
          <p:nvPr/>
        </p:nvSpPr>
        <p:spPr>
          <a:xfrm>
            <a:off x="1496187" y="5338948"/>
            <a:ext cx="98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kern="0" spc="68" dirty="0">
                <a:solidFill>
                  <a:srgbClr val="9A9AA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WEB UI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2586609" y="5256809"/>
            <a:ext cx="728091" cy="292608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Text 24"/>
          <p:cNvSpPr txBox="1"/>
          <p:nvPr/>
        </p:nvSpPr>
        <p:spPr>
          <a:xfrm>
            <a:off x="2586609" y="5338948"/>
            <a:ext cx="728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kern="0" spc="68" dirty="0">
                <a:solidFill>
                  <a:srgbClr val="9A9AA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TUI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424428" y="5256809"/>
            <a:ext cx="1317498" cy="292608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Text 26"/>
          <p:cNvSpPr txBox="1"/>
          <p:nvPr/>
        </p:nvSpPr>
        <p:spPr>
          <a:xfrm>
            <a:off x="3424428" y="5338948"/>
            <a:ext cx="1317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kern="0" spc="68" dirty="0">
                <a:solidFill>
                  <a:srgbClr val="9A9AA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MCP SERVER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58368" y="5659145"/>
            <a:ext cx="980694" cy="292608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2" name="Text 28"/>
          <p:cNvSpPr txBox="1"/>
          <p:nvPr/>
        </p:nvSpPr>
        <p:spPr>
          <a:xfrm>
            <a:off x="658368" y="5741284"/>
            <a:ext cx="98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kern="0" spc="68" dirty="0">
                <a:solidFill>
                  <a:srgbClr val="9A9AA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CHROME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658368" y="6053328"/>
            <a:ext cx="5074920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4" name="Text 30"/>
          <p:cNvSpPr txBox="1"/>
          <p:nvPr/>
        </p:nvSpPr>
        <p:spPr>
          <a:xfrm>
            <a:off x="658368" y="6251799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concealer.fxerkan.com</a:t>
            </a:r>
            <a:endParaRPr lang="en-US" sz="850" dirty="0"/>
          </a:p>
        </p:txBody>
      </p:sp>
      <p:sp>
        <p:nvSpPr>
          <p:cNvPr id="35" name="Text 31"/>
          <p:cNvSpPr txBox="1"/>
          <p:nvPr/>
        </p:nvSpPr>
        <p:spPr>
          <a:xfrm>
            <a:off x="2688336" y="6251799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MIT  ·  macOS · Linux · Windows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5829875" y="1371589"/>
            <a:ext cx="5954335" cy="3759258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8" name="Shape 33"/>
          <p:cNvSpPr/>
          <p:nvPr/>
        </p:nvSpPr>
        <p:spPr>
          <a:xfrm>
            <a:off x="5805288" y="1335024"/>
            <a:ext cx="6075511" cy="3759258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F960584-09E2-2B69-CFCD-A452B6BDE362}"/>
              </a:ext>
            </a:extLst>
          </p:cNvPr>
          <p:cNvGrpSpPr/>
          <p:nvPr/>
        </p:nvGrpSpPr>
        <p:grpSpPr>
          <a:xfrm>
            <a:off x="658368" y="1172235"/>
            <a:ext cx="3340394" cy="893560"/>
            <a:chOff x="658368" y="1172235"/>
            <a:chExt cx="3340394" cy="893560"/>
          </a:xfrm>
        </p:grpSpPr>
        <p:pic>
          <p:nvPicPr>
            <p:cNvPr id="15" name="Image 1" descr="/home/claude/decks/kit2/worlds/../logos/concealer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368" y="1202407"/>
              <a:ext cx="801860" cy="801860"/>
            </a:xfrm>
            <a:prstGeom prst="rect">
              <a:avLst/>
            </a:prstGeom>
          </p:spPr>
        </p:pic>
        <p:sp>
          <p:nvSpPr>
            <p:cNvPr id="16" name="Text 12"/>
            <p:cNvSpPr txBox="1"/>
            <p:nvPr/>
          </p:nvSpPr>
          <p:spPr>
            <a:xfrm>
              <a:off x="1360497" y="1181697"/>
              <a:ext cx="2638265" cy="8840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buNone/>
              </a:pPr>
              <a:r>
                <a:rPr lang="en-US" sz="4900" b="1" kern="0" spc="-137" dirty="0">
                  <a:solidFill>
                    <a:srgbClr val="ECECEF"/>
                  </a:solidFill>
                  <a:latin typeface="Archivo Black" pitchFamily="34" charset="0"/>
                  <a:ea typeface="Archivo Black" pitchFamily="34" charset="-122"/>
                  <a:cs typeface="Archivo Black" pitchFamily="34" charset="-120"/>
                </a:rPr>
                <a:t>conceal</a:t>
              </a:r>
              <a:endParaRPr lang="en-US" sz="4900" b="1" dirty="0"/>
            </a:p>
          </p:txBody>
        </p:sp>
        <p:sp>
          <p:nvSpPr>
            <p:cNvPr id="17" name="Shape 13"/>
            <p:cNvSpPr/>
            <p:nvPr/>
          </p:nvSpPr>
          <p:spPr>
            <a:xfrm>
              <a:off x="3227480" y="1309278"/>
              <a:ext cx="607353" cy="547778"/>
            </a:xfrm>
            <a:prstGeom prst="roundRect">
              <a:avLst>
                <a:gd name="adj" fmla="val 22000"/>
              </a:avLst>
            </a:prstGeom>
            <a:solidFill>
              <a:srgbClr val="F04A4A"/>
            </a:solidFill>
            <a:ln/>
          </p:spPr>
          <p:txBody>
            <a:bodyPr/>
            <a:lstStyle/>
            <a:p>
              <a:endParaRPr lang="en-TR"/>
            </a:p>
          </p:txBody>
        </p:sp>
        <p:sp>
          <p:nvSpPr>
            <p:cNvPr id="42" name="Text 12">
              <a:extLst>
                <a:ext uri="{FF2B5EF4-FFF2-40B4-BE49-F238E27FC236}">
                  <a16:creationId xmlns:a16="http://schemas.microsoft.com/office/drawing/2014/main" id="{307FFA26-B1B2-2FDA-C663-9D0EBCBA26D1}"/>
                </a:ext>
              </a:extLst>
            </p:cNvPr>
            <p:cNvSpPr txBox="1"/>
            <p:nvPr/>
          </p:nvSpPr>
          <p:spPr>
            <a:xfrm>
              <a:off x="3254918" y="1172235"/>
              <a:ext cx="647265" cy="8840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buNone/>
              </a:pPr>
              <a:r>
                <a:rPr lang="en-US" sz="4900" b="1" kern="0" spc="-137" dirty="0">
                  <a:latin typeface="Archivo Black" pitchFamily="34" charset="0"/>
                  <a:ea typeface="Archivo Black" pitchFamily="34" charset="-122"/>
                  <a:cs typeface="Archivo Black" pitchFamily="34" charset="-120"/>
                </a:rPr>
                <a:t>er</a:t>
              </a:r>
              <a:endParaRPr lang="en-US" sz="4900" b="1" dirty="0"/>
            </a:p>
          </p:txBody>
        </p:sp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F17361FC-DB0D-E24F-2417-9F4E5EBC33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14" t="22269" r="3253" b="20406"/>
          <a:stretch>
            <a:fillRect/>
          </a:stretch>
        </p:blipFill>
        <p:spPr>
          <a:xfrm>
            <a:off x="5901875" y="2441922"/>
            <a:ext cx="5882335" cy="1907028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3A5302F5-FB93-8F66-8580-49C52ACE64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  <p:sp>
        <p:nvSpPr>
          <p:cNvPr id="52" name="Shape 5">
            <a:extLst>
              <a:ext uri="{FF2B5EF4-FFF2-40B4-BE49-F238E27FC236}">
                <a16:creationId xmlns:a16="http://schemas.microsoft.com/office/drawing/2014/main" id="{AEEA713E-98E5-F7F6-F044-05FE28846F83}"/>
              </a:ext>
            </a:extLst>
          </p:cNvPr>
          <p:cNvSpPr/>
          <p:nvPr/>
        </p:nvSpPr>
        <p:spPr>
          <a:xfrm>
            <a:off x="6705507" y="155449"/>
            <a:ext cx="802977" cy="274320"/>
          </a:xfrm>
          <a:prstGeom prst="roundRect">
            <a:avLst>
              <a:gd name="adj" fmla="val 20000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0" name="Text 7"/>
          <p:cNvSpPr txBox="1"/>
          <p:nvPr/>
        </p:nvSpPr>
        <p:spPr>
          <a:xfrm>
            <a:off x="6705507" y="210313"/>
            <a:ext cx="8029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Audit Logs</a:t>
            </a:r>
            <a:endParaRPr lang="en-US" sz="1050" dirty="0"/>
          </a:p>
        </p:txBody>
      </p:sp>
      <p:sp>
        <p:nvSpPr>
          <p:cNvPr id="53" name="Shape 5">
            <a:extLst>
              <a:ext uri="{FF2B5EF4-FFF2-40B4-BE49-F238E27FC236}">
                <a16:creationId xmlns:a16="http://schemas.microsoft.com/office/drawing/2014/main" id="{16853469-B62F-6ED3-626C-572C15E2D665}"/>
              </a:ext>
            </a:extLst>
          </p:cNvPr>
          <p:cNvSpPr/>
          <p:nvPr/>
        </p:nvSpPr>
        <p:spPr>
          <a:xfrm>
            <a:off x="7605726" y="155449"/>
            <a:ext cx="802977" cy="274320"/>
          </a:xfrm>
          <a:prstGeom prst="roundRect">
            <a:avLst>
              <a:gd name="adj" fmla="val 20000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C2160D03-8B8A-54E4-F601-7884F7C6CC4C}"/>
              </a:ext>
            </a:extLst>
          </p:cNvPr>
          <p:cNvSpPr txBox="1"/>
          <p:nvPr/>
        </p:nvSpPr>
        <p:spPr>
          <a:xfrm>
            <a:off x="7605726" y="210313"/>
            <a:ext cx="8029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Risks</a:t>
            </a:r>
            <a:endParaRPr lang="en-US" sz="1050" dirty="0"/>
          </a:p>
        </p:txBody>
      </p:sp>
      <p:sp>
        <p:nvSpPr>
          <p:cNvPr id="55" name="Shape 5">
            <a:extLst>
              <a:ext uri="{FF2B5EF4-FFF2-40B4-BE49-F238E27FC236}">
                <a16:creationId xmlns:a16="http://schemas.microsoft.com/office/drawing/2014/main" id="{DF72EE66-55D3-F180-1810-E797F2E3E538}"/>
              </a:ext>
            </a:extLst>
          </p:cNvPr>
          <p:cNvSpPr/>
          <p:nvPr/>
        </p:nvSpPr>
        <p:spPr>
          <a:xfrm>
            <a:off x="8505945" y="155449"/>
            <a:ext cx="802977" cy="274320"/>
          </a:xfrm>
          <a:prstGeom prst="roundRect">
            <a:avLst>
              <a:gd name="adj" fmla="val 20000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6" name="Text 7">
            <a:extLst>
              <a:ext uri="{FF2B5EF4-FFF2-40B4-BE49-F238E27FC236}">
                <a16:creationId xmlns:a16="http://schemas.microsoft.com/office/drawing/2014/main" id="{504B54AF-39A0-99D6-2321-07562041C050}"/>
              </a:ext>
            </a:extLst>
          </p:cNvPr>
          <p:cNvSpPr txBox="1"/>
          <p:nvPr/>
        </p:nvSpPr>
        <p:spPr>
          <a:xfrm>
            <a:off x="8505945" y="210313"/>
            <a:ext cx="8029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Stats</a:t>
            </a:r>
            <a:endParaRPr lang="en-US" sz="1050" dirty="0"/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79C1A838-4707-F16C-1191-E647CC1999C8}"/>
              </a:ext>
            </a:extLst>
          </p:cNvPr>
          <p:cNvSpPr/>
          <p:nvPr/>
        </p:nvSpPr>
        <p:spPr>
          <a:xfrm>
            <a:off x="9406164" y="155449"/>
            <a:ext cx="802977" cy="274320"/>
          </a:xfrm>
          <a:prstGeom prst="roundRect">
            <a:avLst>
              <a:gd name="adj" fmla="val 20000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20C3C6C7-CCEB-F0F1-66DA-B813391132F9}"/>
              </a:ext>
            </a:extLst>
          </p:cNvPr>
          <p:cNvSpPr txBox="1"/>
          <p:nvPr/>
        </p:nvSpPr>
        <p:spPr>
          <a:xfrm>
            <a:off x="9406164" y="210313"/>
            <a:ext cx="8029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Settings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0B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C87700-5FD5-00BE-3627-19F6FD4AB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2">
            <a:extLst>
              <a:ext uri="{FF2B5EF4-FFF2-40B4-BE49-F238E27FC236}">
                <a16:creationId xmlns:a16="http://schemas.microsoft.com/office/drawing/2014/main" id="{5F243A73-5DFD-C7B3-421B-C65FCDDC43AA}"/>
              </a:ext>
            </a:extLst>
          </p:cNvPr>
          <p:cNvSpPr/>
          <p:nvPr/>
        </p:nvSpPr>
        <p:spPr>
          <a:xfrm>
            <a:off x="1005543" y="136883"/>
            <a:ext cx="10138242" cy="661332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7" name="Image 2" descr="/home/claude/deck/imgc/app-secrets.jpg">
            <a:extLst>
              <a:ext uri="{FF2B5EF4-FFF2-40B4-BE49-F238E27FC236}">
                <a16:creationId xmlns:a16="http://schemas.microsoft.com/office/drawing/2014/main" id="{5D417D36-429B-FADB-EE2F-BBAC23445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630" y="266518"/>
            <a:ext cx="9804739" cy="6324964"/>
          </a:xfrm>
          <a:prstGeom prst="rect">
            <a:avLst/>
          </a:prstGeom>
        </p:spPr>
      </p:pic>
      <p:sp>
        <p:nvSpPr>
          <p:cNvPr id="38" name="Shape 33">
            <a:extLst>
              <a:ext uri="{FF2B5EF4-FFF2-40B4-BE49-F238E27FC236}">
                <a16:creationId xmlns:a16="http://schemas.microsoft.com/office/drawing/2014/main" id="{5AF4E90D-3651-7B88-A654-A0FF90755894}"/>
              </a:ext>
            </a:extLst>
          </p:cNvPr>
          <p:cNvSpPr/>
          <p:nvPr/>
        </p:nvSpPr>
        <p:spPr>
          <a:xfrm>
            <a:off x="1005543" y="136883"/>
            <a:ext cx="10138242" cy="6613322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A09A8FB1-590A-0031-1C0D-51323EB91DAD}"/>
              </a:ext>
            </a:extLst>
          </p:cNvPr>
          <p:cNvSpPr txBox="1"/>
          <p:nvPr/>
        </p:nvSpPr>
        <p:spPr>
          <a:xfrm>
            <a:off x="1585406" y="7136420"/>
            <a:ext cx="58274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Every secret, scoped and tagged — and none of it leaves this machine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548538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>
            <a:extLst>
              <a:ext uri="{FF2B5EF4-FFF2-40B4-BE49-F238E27FC236}">
                <a16:creationId xmlns:a16="http://schemas.microsoft.com/office/drawing/2014/main" id="{131FF5A8-F9DE-FD08-B0F1-491221FC02A6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48" name="Shape 5">
            <a:extLst>
              <a:ext uri="{FF2B5EF4-FFF2-40B4-BE49-F238E27FC236}">
                <a16:creationId xmlns:a16="http://schemas.microsoft.com/office/drawing/2014/main" id="{60D0416C-A9DB-4FC0-C2EC-830B8F5C4AA3}"/>
              </a:ext>
            </a:extLst>
          </p:cNvPr>
          <p:cNvSpPr/>
          <p:nvPr/>
        </p:nvSpPr>
        <p:spPr>
          <a:xfrm>
            <a:off x="7605725" y="155449"/>
            <a:ext cx="80297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2" name="Shape 5">
            <a:extLst>
              <a:ext uri="{FF2B5EF4-FFF2-40B4-BE49-F238E27FC236}">
                <a16:creationId xmlns:a16="http://schemas.microsoft.com/office/drawing/2014/main" id="{5AE194CC-09DC-07DE-722F-EAFF1F4A84F9}"/>
              </a:ext>
            </a:extLst>
          </p:cNvPr>
          <p:cNvSpPr/>
          <p:nvPr/>
        </p:nvSpPr>
        <p:spPr>
          <a:xfrm>
            <a:off x="5805288" y="160491"/>
            <a:ext cx="802977" cy="274320"/>
          </a:xfrm>
          <a:prstGeom prst="roundRect">
            <a:avLst>
              <a:gd name="adj" fmla="val 20000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5" name="Text 12"/>
          <p:cNvSpPr txBox="1"/>
          <p:nvPr/>
        </p:nvSpPr>
        <p:spPr>
          <a:xfrm>
            <a:off x="658367" y="1058144"/>
            <a:ext cx="57882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72"/>
              </a:lnSpc>
              <a:buNone/>
            </a:pPr>
            <a:r>
              <a:rPr lang="en-US" sz="3400" b="1" kern="0" spc="-75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And it tells you what already leaked.</a:t>
            </a:r>
            <a:endParaRPr lang="en-US" sz="3400" b="1" dirty="0"/>
          </a:p>
        </p:txBody>
      </p:sp>
      <p:sp>
        <p:nvSpPr>
          <p:cNvPr id="16" name="Text 13"/>
          <p:cNvSpPr txBox="1"/>
          <p:nvPr/>
        </p:nvSpPr>
        <p:spPr>
          <a:xfrm>
            <a:off x="658367" y="2137526"/>
            <a:ext cx="539496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secret you rotate is safe. A secret sitting in last year's commit is not. concealer scans the working tree, the git history, .env files and imports, and lists what is already public as exposure — not as a warning you can dismiss.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8368" y="3302457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5"/>
          <p:cNvSpPr txBox="1"/>
          <p:nvPr/>
        </p:nvSpPr>
        <p:spPr>
          <a:xfrm>
            <a:off x="859536" y="3408253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$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408253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 scan ./repo --history --envvars --import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58368" y="3796233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8"/>
          <p:cNvSpPr txBox="1"/>
          <p:nvPr/>
        </p:nvSpPr>
        <p:spPr>
          <a:xfrm>
            <a:off x="859536" y="3902029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$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3902029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 expose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58368" y="4290009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Text 21"/>
          <p:cNvSpPr txBox="1"/>
          <p:nvPr/>
        </p:nvSpPr>
        <p:spPr>
          <a:xfrm>
            <a:off x="859536" y="4395805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$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97280" y="4395805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 gitscan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" y="4994600"/>
            <a:ext cx="53949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same scan runs from the web UI, and every rotation is written to a tamper-evident audit chain.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6053328"/>
            <a:ext cx="5394960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Shape 26"/>
          <p:cNvSpPr/>
          <p:nvPr/>
        </p:nvSpPr>
        <p:spPr>
          <a:xfrm>
            <a:off x="6487743" y="1833652"/>
            <a:ext cx="5468112" cy="3966204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0" name="Image 1" descr="/home/claude/deck/imgc/app-risks-expos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95" y="1783360"/>
            <a:ext cx="5468112" cy="3966204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6446595" y="1783360"/>
            <a:ext cx="5468112" cy="3966204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2" name="Text 28"/>
          <p:cNvSpPr txBox="1"/>
          <p:nvPr/>
        </p:nvSpPr>
        <p:spPr>
          <a:xfrm>
            <a:off x="6327648" y="6142071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Risks → Exposure</a:t>
            </a:r>
            <a:endParaRPr lang="en-US" sz="850" dirty="0"/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B06D124F-1582-D435-CE1A-D7FA92A5A9F6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36" name="Image 0" descr="/home/claude/decks/kit2/worlds/../logos/concealer-logo.png">
            <a:extLst>
              <a:ext uri="{FF2B5EF4-FFF2-40B4-BE49-F238E27FC236}">
                <a16:creationId xmlns:a16="http://schemas.microsoft.com/office/drawing/2014/main" id="{C0B93B4A-F034-C9D0-489C-91F7D5B2B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38" name="Text 6">
            <a:extLst>
              <a:ext uri="{FF2B5EF4-FFF2-40B4-BE49-F238E27FC236}">
                <a16:creationId xmlns:a16="http://schemas.microsoft.com/office/drawing/2014/main" id="{D1A29F39-18B3-1D59-9E21-A6AD13E095C6}"/>
              </a:ext>
            </a:extLst>
          </p:cNvPr>
          <p:cNvSpPr txBox="1"/>
          <p:nvPr/>
        </p:nvSpPr>
        <p:spPr>
          <a:xfrm>
            <a:off x="5805288" y="210313"/>
            <a:ext cx="8029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 algn="ctr">
              <a:buNone/>
              <a:defRPr sz="105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defRPr>
            </a:lvl1pPr>
          </a:lstStyle>
          <a:p>
            <a:r>
              <a:rPr lang="en-US" dirty="0"/>
              <a:t>Secrets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F67113B-95A1-EF60-2B75-91EAC93B9F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  <p:sp>
        <p:nvSpPr>
          <p:cNvPr id="40" name="Shape 5">
            <a:extLst>
              <a:ext uri="{FF2B5EF4-FFF2-40B4-BE49-F238E27FC236}">
                <a16:creationId xmlns:a16="http://schemas.microsoft.com/office/drawing/2014/main" id="{6D8B1BD4-A5A9-B3AB-9B25-516A0024F0C7}"/>
              </a:ext>
            </a:extLst>
          </p:cNvPr>
          <p:cNvSpPr/>
          <p:nvPr/>
        </p:nvSpPr>
        <p:spPr>
          <a:xfrm>
            <a:off x="6705507" y="155449"/>
            <a:ext cx="802977" cy="274320"/>
          </a:xfrm>
          <a:prstGeom prst="roundRect">
            <a:avLst>
              <a:gd name="adj" fmla="val 20000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05DBB113-F908-D2B2-FBAF-6F26C1A6FFB0}"/>
              </a:ext>
            </a:extLst>
          </p:cNvPr>
          <p:cNvSpPr txBox="1"/>
          <p:nvPr/>
        </p:nvSpPr>
        <p:spPr>
          <a:xfrm>
            <a:off x="6705507" y="210313"/>
            <a:ext cx="8029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Audit Logs</a:t>
            </a:r>
            <a:endParaRPr lang="en-US" sz="105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F500F636-F58E-5B8E-7DD4-707A89FD05B5}"/>
              </a:ext>
            </a:extLst>
          </p:cNvPr>
          <p:cNvSpPr txBox="1"/>
          <p:nvPr/>
        </p:nvSpPr>
        <p:spPr>
          <a:xfrm>
            <a:off x="7605726" y="210313"/>
            <a:ext cx="8029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Risks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A72605CE-93A7-9F3D-5552-D811E80CFE56}"/>
              </a:ext>
            </a:extLst>
          </p:cNvPr>
          <p:cNvSpPr/>
          <p:nvPr/>
        </p:nvSpPr>
        <p:spPr>
          <a:xfrm>
            <a:off x="8505945" y="155449"/>
            <a:ext cx="802977" cy="274320"/>
          </a:xfrm>
          <a:prstGeom prst="roundRect">
            <a:avLst>
              <a:gd name="adj" fmla="val 20000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4B7B7A5F-44BA-EB3A-8783-25B0506288B6}"/>
              </a:ext>
            </a:extLst>
          </p:cNvPr>
          <p:cNvSpPr txBox="1"/>
          <p:nvPr/>
        </p:nvSpPr>
        <p:spPr>
          <a:xfrm>
            <a:off x="8505945" y="210313"/>
            <a:ext cx="8029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Stats</a:t>
            </a:r>
            <a:endParaRPr lang="en-US" sz="1050" dirty="0"/>
          </a:p>
        </p:txBody>
      </p:sp>
      <p:sp>
        <p:nvSpPr>
          <p:cNvPr id="46" name="Shape 5">
            <a:extLst>
              <a:ext uri="{FF2B5EF4-FFF2-40B4-BE49-F238E27FC236}">
                <a16:creationId xmlns:a16="http://schemas.microsoft.com/office/drawing/2014/main" id="{83E10CA0-FDB1-4285-E98D-77397D167434}"/>
              </a:ext>
            </a:extLst>
          </p:cNvPr>
          <p:cNvSpPr/>
          <p:nvPr/>
        </p:nvSpPr>
        <p:spPr>
          <a:xfrm>
            <a:off x="9406164" y="155449"/>
            <a:ext cx="802977" cy="274320"/>
          </a:xfrm>
          <a:prstGeom prst="roundRect">
            <a:avLst>
              <a:gd name="adj" fmla="val 20000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3B77B488-16EB-2B9B-949B-4FE04E526C0F}"/>
              </a:ext>
            </a:extLst>
          </p:cNvPr>
          <p:cNvSpPr txBox="1"/>
          <p:nvPr/>
        </p:nvSpPr>
        <p:spPr>
          <a:xfrm>
            <a:off x="9406164" y="210313"/>
            <a:ext cx="8029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Settings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3034678" y="-550672"/>
            <a:ext cx="1100214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3034678" y="-514233"/>
            <a:ext cx="11002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14476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10"/>
              </a:lnSpc>
              <a:buNone/>
            </a:pPr>
            <a:r>
              <a:rPr lang="en-US" sz="3100" b="1" kern="0" spc="-74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Your coding assistant reads every file in the repo.</a:t>
            </a:r>
            <a:endParaRPr lang="en-US" sz="3100" b="1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035040" cy="83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Claude Code, Codex, Gemini CLI, opencode, Cursor — all of them are wonderful, and all of them read your project files. The moment a key lands in a .env, a credentials.json, or a chat window, it has four ways out.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" y="2891092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4" name="Text 11"/>
          <p:cNvSpPr txBox="1"/>
          <p:nvPr/>
        </p:nvSpPr>
        <p:spPr>
          <a:xfrm>
            <a:off x="658368" y="293187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3816" y="3220276"/>
            <a:ext cx="0" cy="256032"/>
          </a:xfrm>
          <a:prstGeom prst="line">
            <a:avLst/>
          </a:prstGeom>
          <a:noFill/>
          <a:ln w="1778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 txBox="1"/>
          <p:nvPr/>
        </p:nvSpPr>
        <p:spPr>
          <a:xfrm>
            <a:off x="1133856" y="286612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Read by the agent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sent to a model provider.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" y="349459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Text 15"/>
          <p:cNvSpPr txBox="1"/>
          <p:nvPr/>
        </p:nvSpPr>
        <p:spPr>
          <a:xfrm>
            <a:off x="658368" y="353537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3816" y="3823780"/>
            <a:ext cx="0" cy="256032"/>
          </a:xfrm>
          <a:prstGeom prst="line">
            <a:avLst/>
          </a:prstGeom>
          <a:noFill/>
          <a:ln w="1778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Text 17"/>
          <p:cNvSpPr txBox="1"/>
          <p:nvPr/>
        </p:nvSpPr>
        <p:spPr>
          <a:xfrm>
            <a:off x="1133856" y="3469632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Captured in logs or telemetry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of whatever tool you happen to be using.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58368" y="409810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Text 19"/>
          <p:cNvSpPr txBox="1"/>
          <p:nvPr/>
        </p:nvSpPr>
        <p:spPr>
          <a:xfrm>
            <a:off x="658368" y="413888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13816" y="4427284"/>
            <a:ext cx="0" cy="256032"/>
          </a:xfrm>
          <a:prstGeom prst="line">
            <a:avLst/>
          </a:prstGeom>
          <a:noFill/>
          <a:ln w="1778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Text 21"/>
          <p:cNvSpPr txBox="1"/>
          <p:nvPr/>
        </p:nvSpPr>
        <p:spPr>
          <a:xfrm>
            <a:off x="1133856" y="4073136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Committed to git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by accident — and it stays in the history.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58368" y="4701604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D8963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6" name="Text 23"/>
          <p:cNvSpPr txBox="1"/>
          <p:nvPr/>
        </p:nvSpPr>
        <p:spPr>
          <a:xfrm>
            <a:off x="658368" y="474238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133856" y="467664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Copied across a dozen repos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under the same name, with no way to tell them apart.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205472" y="954725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that costs you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205472" y="1389888"/>
            <a:ext cx="992810" cy="1060704"/>
          </a:xfrm>
          <a:prstGeom prst="roundRect">
            <a:avLst>
              <a:gd name="adj" fmla="val 8289"/>
            </a:avLst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Text 27"/>
          <p:cNvSpPr txBox="1"/>
          <p:nvPr/>
        </p:nvSpPr>
        <p:spPr>
          <a:xfrm>
            <a:off x="7406640" y="1524853"/>
            <a:ext cx="627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F04A4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7397496" y="2142444"/>
            <a:ext cx="645338" cy="319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4"/>
              </a:lnSpc>
              <a:buNone/>
            </a:pPr>
            <a:r>
              <a:rPr lang="en-US" sz="650" kern="0" spc="39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WAYS A KEY ESCAPES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8317154" y="1389888"/>
            <a:ext cx="992810" cy="1060704"/>
          </a:xfrm>
          <a:prstGeom prst="roundRect">
            <a:avLst>
              <a:gd name="adj" fmla="val 8289"/>
            </a:avLst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Text 30"/>
          <p:cNvSpPr txBox="1"/>
          <p:nvPr/>
        </p:nvSpPr>
        <p:spPr>
          <a:xfrm>
            <a:off x="8518322" y="1524853"/>
            <a:ext cx="627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4070D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8509178" y="2174377"/>
            <a:ext cx="645338" cy="29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550" kern="0" spc="33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PASTE YOU'LL REGRET</a:t>
            </a:r>
            <a:endParaRPr lang="en-US" sz="550" dirty="0"/>
          </a:p>
        </p:txBody>
      </p:sp>
      <p:sp>
        <p:nvSpPr>
          <p:cNvPr id="35" name="Shape 32"/>
          <p:cNvSpPr/>
          <p:nvPr/>
        </p:nvSpPr>
        <p:spPr>
          <a:xfrm>
            <a:off x="9428836" y="1389888"/>
            <a:ext cx="992810" cy="1060704"/>
          </a:xfrm>
          <a:prstGeom prst="roundRect">
            <a:avLst>
              <a:gd name="adj" fmla="val 8289"/>
            </a:avLst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6" name="Text 33"/>
          <p:cNvSpPr txBox="1"/>
          <p:nvPr/>
        </p:nvSpPr>
        <p:spPr>
          <a:xfrm>
            <a:off x="9630004" y="1524853"/>
            <a:ext cx="627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2F9E6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9620860" y="2214293"/>
            <a:ext cx="645338" cy="253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3"/>
              </a:lnSpc>
              <a:buNone/>
            </a:pPr>
            <a:r>
              <a:rPr lang="en-US" sz="425" kern="0" spc="26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TOOLS THAT STOP IT IN THE TRANSCRIPT</a:t>
            </a:r>
            <a:endParaRPr lang="en-US" sz="425" dirty="0"/>
          </a:p>
        </p:txBody>
      </p:sp>
      <p:sp>
        <p:nvSpPr>
          <p:cNvPr id="38" name="Shape 35"/>
          <p:cNvSpPr/>
          <p:nvPr/>
        </p:nvSpPr>
        <p:spPr>
          <a:xfrm>
            <a:off x="10540517" y="1389888"/>
            <a:ext cx="992810" cy="1060704"/>
          </a:xfrm>
          <a:prstGeom prst="roundRect">
            <a:avLst>
              <a:gd name="adj" fmla="val 8289"/>
            </a:avLst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9" name="Text 36"/>
          <p:cNvSpPr txBox="1"/>
          <p:nvPr/>
        </p:nvSpPr>
        <p:spPr>
          <a:xfrm>
            <a:off x="10741685" y="1524853"/>
            <a:ext cx="627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D8963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∞</a:t>
            </a:r>
            <a:endParaRPr lang="en-US" sz="2200" dirty="0"/>
          </a:p>
        </p:txBody>
      </p:sp>
      <p:sp>
        <p:nvSpPr>
          <p:cNvPr id="40" name="Text 37"/>
          <p:cNvSpPr txBox="1"/>
          <p:nvPr/>
        </p:nvSpPr>
        <p:spPr>
          <a:xfrm>
            <a:off x="10732541" y="2142444"/>
            <a:ext cx="645338" cy="319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4"/>
              </a:lnSpc>
              <a:buNone/>
            </a:pPr>
            <a:r>
              <a:rPr lang="en-US" sz="650" kern="0" spc="39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REACH ONCE IT'S OUT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7237476" y="2902031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2" name="Text 39"/>
          <p:cNvSpPr txBox="1"/>
          <p:nvPr/>
        </p:nvSpPr>
        <p:spPr>
          <a:xfrm>
            <a:off x="7443216" y="2791389"/>
            <a:ext cx="4090111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Nothing on this list is a bug in the agent — it is what reading your files </a:t>
            </a:r>
            <a:r>
              <a:rPr lang="en-US" sz="1100" i="1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means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237476" y="3481659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4" name="Text 41"/>
          <p:cNvSpPr txBox="1"/>
          <p:nvPr/>
        </p:nvSpPr>
        <p:spPr>
          <a:xfrm>
            <a:off x="7443216" y="3371017"/>
            <a:ext cx="4090111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 the fix cannot be "be careful". It has to be that the value is never in the file, the transcript, or the history in the first place.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237476" y="4061287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6" name="Text 43"/>
          <p:cNvSpPr txBox="1"/>
          <p:nvPr/>
        </p:nvSpPr>
        <p:spPr>
          <a:xfrm>
            <a:off x="7443216" y="3950645"/>
            <a:ext cx="4090111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If you have ever pasted a secret into a chat window and regretted it a second later — that is the itch concealer scratches.</a:t>
            </a:r>
            <a:endParaRPr lang="en-US" sz="1100" dirty="0"/>
          </a:p>
        </p:txBody>
      </p:sp>
      <p:sp>
        <p:nvSpPr>
          <p:cNvPr id="49" name="Shape 0">
            <a:extLst>
              <a:ext uri="{FF2B5EF4-FFF2-40B4-BE49-F238E27FC236}">
                <a16:creationId xmlns:a16="http://schemas.microsoft.com/office/drawing/2014/main" id="{C93836CB-53B8-C769-C4A1-52F24AF168D2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50" name="Shape 1">
            <a:extLst>
              <a:ext uri="{FF2B5EF4-FFF2-40B4-BE49-F238E27FC236}">
                <a16:creationId xmlns:a16="http://schemas.microsoft.com/office/drawing/2014/main" id="{0BDFB093-904D-72E3-9B84-169039573F99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51" name="Image 0" descr="/home/claude/decks/kit2/worlds/../logos/concealer-logo.png">
            <a:extLst>
              <a:ext uri="{FF2B5EF4-FFF2-40B4-BE49-F238E27FC236}">
                <a16:creationId xmlns:a16="http://schemas.microsoft.com/office/drawing/2014/main" id="{C3D24B24-588B-513C-8A8D-E49483AEA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2598F339-DF79-ACA9-2C06-10F820961D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2917391" y="-676519"/>
            <a:ext cx="1100214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2917391" y="-640080"/>
            <a:ext cx="11002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24240"/>
            <a:ext cx="6783212" cy="1242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30"/>
              </a:lnSpc>
              <a:buNone/>
            </a:pPr>
            <a:r>
              <a:rPr lang="en-US" sz="3300" b="1" kern="0" spc="-79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Doppler, Infisical, Vault and 1Password all solve a different problem.</a:t>
            </a:r>
            <a:endParaRPr lang="en-US" sz="3300" b="1" dirty="0"/>
          </a:p>
        </p:txBody>
      </p:sp>
      <p:sp>
        <p:nvSpPr>
          <p:cNvPr id="12" name="Text 9"/>
          <p:cNvSpPr txBox="1"/>
          <p:nvPr/>
        </p:nvSpPr>
        <p:spPr>
          <a:xfrm>
            <a:off x="677592" y="1849893"/>
            <a:ext cx="8595360" cy="41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They are built for fleets, teams and sync. A single developer with an AI agent on one laptop needs five things none of them lead with: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" y="2512911"/>
            <a:ext cx="3503066" cy="1547876"/>
          </a:xfrm>
          <a:prstGeom prst="roundRect">
            <a:avLst>
              <a:gd name="adj" fmla="val 5907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Shape 11"/>
          <p:cNvSpPr/>
          <p:nvPr/>
        </p:nvSpPr>
        <p:spPr>
          <a:xfrm>
            <a:off x="658368" y="2640927"/>
            <a:ext cx="0" cy="822960"/>
          </a:xfrm>
          <a:prstGeom prst="line">
            <a:avLst/>
          </a:prstGeom>
          <a:noFill/>
          <a:ln w="38100">
            <a:solidFill>
              <a:srgbClr val="F04A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2"/>
          <p:cNvSpPr txBox="1"/>
          <p:nvPr/>
        </p:nvSpPr>
        <p:spPr>
          <a:xfrm>
            <a:off x="877824" y="2694328"/>
            <a:ext cx="30641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64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01 · Offline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" y="2918996"/>
            <a:ext cx="3100730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Local-only, provably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77824" y="3250324"/>
            <a:ext cx="3064154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Secrets never leave the machine. No account, no sync server, no telemetry — you can put a firewall in front of it and watch nothing phone home.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44314" y="2512911"/>
            <a:ext cx="3503066" cy="1547876"/>
          </a:xfrm>
          <a:prstGeom prst="roundRect">
            <a:avLst>
              <a:gd name="adj" fmla="val 5907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Shape 16"/>
          <p:cNvSpPr/>
          <p:nvPr/>
        </p:nvSpPr>
        <p:spPr>
          <a:xfrm>
            <a:off x="4344314" y="2640927"/>
            <a:ext cx="0" cy="822960"/>
          </a:xfrm>
          <a:prstGeom prst="line">
            <a:avLst/>
          </a:prstGeom>
          <a:noFill/>
          <a:ln w="38100">
            <a:solidFill>
              <a:srgbClr val="4070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Text 17"/>
          <p:cNvSpPr txBox="1"/>
          <p:nvPr/>
        </p:nvSpPr>
        <p:spPr>
          <a:xfrm>
            <a:off x="4563770" y="2694328"/>
            <a:ext cx="30641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64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02 · Portable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4563770" y="2918996"/>
            <a:ext cx="3100730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Password, not hardware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63770" y="3250324"/>
            <a:ext cx="3064154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vault decrypts on any machine with just the master password. It is not tied to this laptop's Keychain or TPM. Copy the files, type the password, done.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30261" y="2512911"/>
            <a:ext cx="3503066" cy="1547876"/>
          </a:xfrm>
          <a:prstGeom prst="roundRect">
            <a:avLst>
              <a:gd name="adj" fmla="val 5907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Shape 21"/>
          <p:cNvSpPr/>
          <p:nvPr/>
        </p:nvSpPr>
        <p:spPr>
          <a:xfrm>
            <a:off x="8030261" y="2640927"/>
            <a:ext cx="0" cy="822960"/>
          </a:xfrm>
          <a:prstGeom prst="line">
            <a:avLst/>
          </a:prstGeom>
          <a:noFill/>
          <a:ln w="38100">
            <a:solidFill>
              <a:srgbClr val="2F9E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2"/>
          <p:cNvSpPr txBox="1"/>
          <p:nvPr/>
        </p:nvSpPr>
        <p:spPr>
          <a:xfrm>
            <a:off x="8249717" y="2694328"/>
            <a:ext cx="30641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64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03 · Git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8249717" y="2918996"/>
            <a:ext cx="3100730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Inspectable, versionable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249717" y="3250324"/>
            <a:ext cx="3064154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encrypted vault is a plain SOPS file you can commit — keys visible, values encrypted. The tool itself is one readable Python script, not a black box.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58368" y="4243667"/>
            <a:ext cx="3503066" cy="1547876"/>
          </a:xfrm>
          <a:prstGeom prst="roundRect">
            <a:avLst>
              <a:gd name="adj" fmla="val 5907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Shape 26"/>
          <p:cNvSpPr/>
          <p:nvPr/>
        </p:nvSpPr>
        <p:spPr>
          <a:xfrm>
            <a:off x="658368" y="4371683"/>
            <a:ext cx="0" cy="822960"/>
          </a:xfrm>
          <a:prstGeom prst="line">
            <a:avLst/>
          </a:prstGeom>
          <a:noFill/>
          <a:ln w="38100">
            <a:solidFill>
              <a:srgbClr val="D8963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Text 27"/>
          <p:cNvSpPr txBox="1"/>
          <p:nvPr/>
        </p:nvSpPr>
        <p:spPr>
          <a:xfrm>
            <a:off x="877824" y="4425084"/>
            <a:ext cx="30641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64" dirty="0">
                <a:solidFill>
                  <a:srgbClr val="D8963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04 · AI-safe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877824" y="4649752"/>
            <a:ext cx="3100730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Agents use, never see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77824" y="4981080"/>
            <a:ext cx="3064154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 MCP server lets an agent list names and inject values into a command's environment. Plaintext is redacted from everything it reads back.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344314" y="4243667"/>
            <a:ext cx="3503066" cy="1547876"/>
          </a:xfrm>
          <a:prstGeom prst="roundRect">
            <a:avLst>
              <a:gd name="adj" fmla="val 5907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4" name="Shape 31"/>
          <p:cNvSpPr/>
          <p:nvPr/>
        </p:nvSpPr>
        <p:spPr>
          <a:xfrm>
            <a:off x="4344314" y="4371683"/>
            <a:ext cx="0" cy="822960"/>
          </a:xfrm>
          <a:prstGeom prst="line">
            <a:avLst/>
          </a:prstGeom>
          <a:noFill/>
          <a:ln w="38100">
            <a:solidFill>
              <a:srgbClr val="F04A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5" name="Text 32"/>
          <p:cNvSpPr txBox="1"/>
          <p:nvPr/>
        </p:nvSpPr>
        <p:spPr>
          <a:xfrm>
            <a:off x="4563770" y="4425084"/>
            <a:ext cx="30641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64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05 · Scoped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4563770" y="4649752"/>
            <a:ext cx="3100730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place, many projects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563770" y="4981080"/>
            <a:ext cx="3064154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same value across many repos is disambiguated by tenant / project / environment / repo instead of one ambiguous name.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030261" y="4243667"/>
            <a:ext cx="3503066" cy="1547876"/>
          </a:xfrm>
          <a:prstGeom prst="roundRect">
            <a:avLst>
              <a:gd name="adj" fmla="val 5907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9" name="Shape 36"/>
          <p:cNvSpPr/>
          <p:nvPr/>
        </p:nvSpPr>
        <p:spPr>
          <a:xfrm>
            <a:off x="8030261" y="4371683"/>
            <a:ext cx="0" cy="822960"/>
          </a:xfrm>
          <a:prstGeom prst="line">
            <a:avLst/>
          </a:prstGeom>
          <a:noFill/>
          <a:ln w="38100">
            <a:solidFill>
              <a:srgbClr val="4070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0" name="Text 37"/>
          <p:cNvSpPr txBox="1"/>
          <p:nvPr/>
        </p:nvSpPr>
        <p:spPr>
          <a:xfrm>
            <a:off x="8249717" y="4425084"/>
            <a:ext cx="30641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64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06 · Honest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8249717" y="4649752"/>
            <a:ext cx="3100730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Documented ceilings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8249717" y="4981080"/>
            <a:ext cx="3064154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limit is written down, not hidden: the local audit key, CPython's un-zeroed memory, the single-user web server. A security review can read them.</a:t>
            </a:r>
            <a:endParaRPr lang="en-US" sz="1000" dirty="0"/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FDEFA61C-70B7-01D8-D14C-A4D176AD09EA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46" name="Shape 1">
            <a:extLst>
              <a:ext uri="{FF2B5EF4-FFF2-40B4-BE49-F238E27FC236}">
                <a16:creationId xmlns:a16="http://schemas.microsoft.com/office/drawing/2014/main" id="{B4558C12-207B-EAB7-7B2B-96D427E6B4F4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47" name="Image 0" descr="/home/claude/decks/kit2/worlds/../logos/concealer-logo.png">
            <a:extLst>
              <a:ext uri="{FF2B5EF4-FFF2-40B4-BE49-F238E27FC236}">
                <a16:creationId xmlns:a16="http://schemas.microsoft.com/office/drawing/2014/main" id="{35B84B9C-0E0C-D49B-9499-DCE1F3687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EA9ADD4-73E6-1143-CBC4-9F79D1C85C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2923165" y="-689219"/>
            <a:ext cx="1069543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2923165" y="-652780"/>
            <a:ext cx="10695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product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10"/>
              </a:lnSpc>
              <a:buNone/>
            </a:pPr>
            <a:r>
              <a:rPr lang="en-US" sz="3100" b="1" kern="0" spc="-74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 thin, auditable wrapper around two battle-tested tools.</a:t>
            </a:r>
            <a:endParaRPr lang="en-US" sz="3100" b="1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309360" cy="83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concealer implements no cryptography of its own. SOPS encrypts the vault; age is the backend. concealer adds only the part that was missing: typed secrets, four-dimension scoping, tags, a professional local web console, a tamper-evident audit chain, and an MCP server.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940195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4" name="Text 11"/>
          <p:cNvSpPr txBox="1"/>
          <p:nvPr/>
        </p:nvSpPr>
        <p:spPr>
          <a:xfrm>
            <a:off x="896112" y="2829552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One encrypted file.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secrets.enc.yaml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per-value AES-256-GCM over age X25519, git-friendly.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3321449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 txBox="1"/>
          <p:nvPr/>
        </p:nvSpPr>
        <p:spPr>
          <a:xfrm>
            <a:off x="896112" y="3210806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One readable script.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Python 3, standard library only. MIT licensed. No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pip install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for the tool itself.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3702703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Text 15"/>
          <p:cNvSpPr txBox="1"/>
          <p:nvPr/>
        </p:nvSpPr>
        <p:spPr>
          <a:xfrm>
            <a:off x="896112" y="3592060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Five interfaces, one core.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CLI · Web UI · TUI · MCP · Chrome extension all funnel into the same code path — and the same audit log.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4282331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Text 17"/>
          <p:cNvSpPr txBox="1"/>
          <p:nvPr/>
        </p:nvSpPr>
        <p:spPr>
          <a:xfrm>
            <a:off x="896112" y="4171688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Three platforms.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macOS, Linux and Windows, each verified in CI.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" y="4663585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Text 19"/>
          <p:cNvSpPr txBox="1"/>
          <p:nvPr/>
        </p:nvSpPr>
        <p:spPr>
          <a:xfrm>
            <a:off x="896112" y="4552942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Key-at-rest.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The age private key is never written to disk in plaintext — only wrapped copies exist.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520940" y="2515823"/>
            <a:ext cx="4053535" cy="2128106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4" name="Image 1" descr="/home/claude/deck/img/hero-o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2465531"/>
            <a:ext cx="4053535" cy="212810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479792" y="2465531"/>
            <a:ext cx="4053535" cy="2128106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2769FE45-78F0-D797-11A3-DDBA07A4032F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51DCBB2C-FAC9-9166-57E4-EFCEF0111B0E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30" name="Image 0" descr="/home/claude/decks/kit2/worlds/../logos/concealer-logo.png">
            <a:extLst>
              <a:ext uri="{FF2B5EF4-FFF2-40B4-BE49-F238E27FC236}">
                <a16:creationId xmlns:a16="http://schemas.microsoft.com/office/drawing/2014/main" id="{A0142411-5D5E-6AD4-CD05-83ECA4163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E148E80-3D51-168A-4EF3-68775B5611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2930600" y="-551165"/>
            <a:ext cx="1069543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2930600" y="-514726"/>
            <a:ext cx="10695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product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3579095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10"/>
              </a:lnSpc>
              <a:buNone/>
            </a:pPr>
            <a:r>
              <a:rPr lang="en-US" sz="3100" b="1" kern="0" spc="-74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Agents use secrets. They never read them.</a:t>
            </a:r>
            <a:endParaRPr lang="en-US" sz="3100" b="1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5046207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Register an agent, hand it a revocable token, and it can run psql or curl with a live credential — while the value stays out of its context entirely.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728422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4" name="Text 11"/>
          <p:cNvSpPr txBox="1"/>
          <p:nvPr/>
        </p:nvSpPr>
        <p:spPr>
          <a:xfrm>
            <a:off x="896112" y="2617780"/>
            <a:ext cx="4808463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list_secrets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</a:t>
            </a: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search_secrets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names, types, scopes and tags. </a:t>
            </a: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Never values.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3109676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 txBox="1"/>
          <p:nvPr/>
        </p:nvSpPr>
        <p:spPr>
          <a:xfrm>
            <a:off x="896112" y="2999034"/>
            <a:ext cx="4808463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run_with_secrets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runs a command with the matching secrets injected into a child environment; values are </a:t>
            </a: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redacted from the returned output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3689304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Text 15"/>
          <p:cNvSpPr txBox="1"/>
          <p:nvPr/>
        </p:nvSpPr>
        <p:spPr>
          <a:xfrm>
            <a:off x="896112" y="3578662"/>
            <a:ext cx="4808463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set_secret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writes a value, and cannot retrieve the one it just wrote.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4070558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Text 17"/>
          <p:cNvSpPr txBox="1"/>
          <p:nvPr/>
        </p:nvSpPr>
        <p:spPr>
          <a:xfrm>
            <a:off x="896112" y="3959916"/>
            <a:ext cx="4808463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Registration is mandatory.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 human token, or no token, gets </a:t>
            </a:r>
            <a:r>
              <a:rPr lang="en-US" sz="1100" i="1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access denied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On a hardened vault the server </a:t>
            </a: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fails closed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" y="4650186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Text 19"/>
          <p:cNvSpPr txBox="1"/>
          <p:nvPr/>
        </p:nvSpPr>
        <p:spPr>
          <a:xfrm>
            <a:off x="896112" y="4539544"/>
            <a:ext cx="4808463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Anti-bulk-exfiltration.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Per-agent quotas: 10 rows per call, 25 distinct names per rolling hour. Set the quota to 0 to block an agent outright.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0372" y="5229814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4" name="Text 21"/>
          <p:cNvSpPr txBox="1"/>
          <p:nvPr/>
        </p:nvSpPr>
        <p:spPr>
          <a:xfrm>
            <a:off x="896112" y="5119172"/>
            <a:ext cx="4808463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Every call is audited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with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source=mcp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the agent's label as the actor.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90372" y="5611068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6" name="Text 23"/>
          <p:cNvSpPr txBox="1"/>
          <p:nvPr/>
        </p:nvSpPr>
        <p:spPr>
          <a:xfrm>
            <a:off x="896112" y="5500426"/>
            <a:ext cx="4808463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Works with Claude Code, Codex CLI, Gemini CLI, opencode, Cursor, Cline and Continue — same stdio server, one config line.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520940" y="2404351"/>
            <a:ext cx="4053535" cy="235105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8" name="Image 1" descr="/home/claude/deck/img/concealer-mcp-fl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575" y="1808039"/>
            <a:ext cx="6487120" cy="3762529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5704575" y="1652763"/>
            <a:ext cx="6346586" cy="4155765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B4219734-2019-9E8F-E1A2-D0421D976321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DBFCADEC-F99D-2773-1E4A-580475A43241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34" name="Image 0" descr="/home/claude/decks/kit2/worlds/../logos/concealer-logo.png">
            <a:extLst>
              <a:ext uri="{FF2B5EF4-FFF2-40B4-BE49-F238E27FC236}">
                <a16:creationId xmlns:a16="http://schemas.microsoft.com/office/drawing/2014/main" id="{23F88037-C293-418C-6EE5-F5D35D492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E400583-3258-E435-B27E-948BF70CA9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2960337" y="-626669"/>
            <a:ext cx="1069543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2960337" y="-590230"/>
            <a:ext cx="10695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product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4880071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10"/>
              </a:lnSpc>
              <a:buNone/>
            </a:pPr>
            <a:r>
              <a:rPr lang="en-US" sz="3100" b="1" kern="0" spc="-74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One script, delegated crypto, five ways in.</a:t>
            </a:r>
            <a:endParaRPr lang="en-US" sz="3100" b="1" dirty="0"/>
          </a:p>
        </p:txBody>
      </p:sp>
      <p:sp>
        <p:nvSpPr>
          <p:cNvPr id="12" name="Shape 9"/>
          <p:cNvSpPr/>
          <p:nvPr/>
        </p:nvSpPr>
        <p:spPr>
          <a:xfrm>
            <a:off x="690372" y="2105563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3" name="Text 10"/>
          <p:cNvSpPr txBox="1"/>
          <p:nvPr/>
        </p:nvSpPr>
        <p:spPr>
          <a:xfrm>
            <a:off x="896112" y="1994921"/>
            <a:ext cx="4558757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Every operation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is load → decrypt to a dict → mutate → save → re-encrypt, shelling out to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sops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both ways.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0372" y="2685191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5" name="Text 12"/>
          <p:cNvSpPr txBox="1"/>
          <p:nvPr/>
        </p:nvSpPr>
        <p:spPr>
          <a:xfrm>
            <a:off x="896112" y="2574549"/>
            <a:ext cx="4558757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age key reaches sops in memory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via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SOPS_AGE_KEY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never through a temp file.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0372" y="3066445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7" name="Text 14"/>
          <p:cNvSpPr txBox="1"/>
          <p:nvPr/>
        </p:nvSpPr>
        <p:spPr>
          <a:xfrm>
            <a:off x="896112" y="2955803"/>
            <a:ext cx="4558757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Wrapped three ways: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by the master password (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age-key.txt.age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), by each recovery code, and by each unlock token.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0372" y="3646073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9" name="Text 16"/>
          <p:cNvSpPr txBox="1"/>
          <p:nvPr/>
        </p:nvSpPr>
        <p:spPr>
          <a:xfrm>
            <a:off x="896112" y="3535431"/>
            <a:ext cx="4558757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Tokens, not prompts.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Humans get a ~8 h TTL token from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unlock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; each agent gets its own long-lived revocable token.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0372" y="4225701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1" name="Text 18"/>
          <p:cNvSpPr txBox="1"/>
          <p:nvPr/>
        </p:nvSpPr>
        <p:spPr>
          <a:xfrm>
            <a:off x="896112" y="4115059"/>
            <a:ext cx="4558757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External dependencies: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sops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age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expect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installed for you by Homebrew, or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pywinpty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on Windows.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90372" y="4805329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3" name="Text 20"/>
          <p:cNvSpPr txBox="1"/>
          <p:nvPr/>
        </p:nvSpPr>
        <p:spPr>
          <a:xfrm>
            <a:off x="896112" y="4694687"/>
            <a:ext cx="4558757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Nothing is committed: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keys/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secrets.enc.yaml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.sops.yaml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are git-ignored. The repo ships the tool, never a vault.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520940" y="2239594"/>
            <a:ext cx="4053535" cy="2680564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5" name="Image 1" descr="/home/claude/deck/img/concealer-architecture.jpg"/>
          <p:cNvPicPr>
            <a:picLocks noChangeAspect="1"/>
          </p:cNvPicPr>
          <p:nvPr/>
        </p:nvPicPr>
        <p:blipFill>
          <a:blip r:embed="rId3"/>
          <a:srcRect b="6965"/>
          <a:stretch>
            <a:fillRect/>
          </a:stretch>
        </p:blipFill>
        <p:spPr>
          <a:xfrm>
            <a:off x="5914276" y="2029539"/>
            <a:ext cx="5895578" cy="3627129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914276" y="1994922"/>
            <a:ext cx="5895578" cy="3768952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2B12AC19-D81A-C5B4-C5A4-57691F003CD2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09D28DD2-E73E-D0C4-F2DB-28436072E472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30" name="Image 0" descr="/home/claude/decks/kit2/worlds/../logos/concealer-logo.png">
            <a:extLst>
              <a:ext uri="{FF2B5EF4-FFF2-40B4-BE49-F238E27FC236}">
                <a16:creationId xmlns:a16="http://schemas.microsoft.com/office/drawing/2014/main" id="{037FD99C-414F-9288-69A5-A4F78B573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0E74DDB-D3C1-871E-3805-C2DC9C5D03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3012610" y="-730926"/>
            <a:ext cx="837914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3012610" y="-694487"/>
            <a:ext cx="8379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Security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5346039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10"/>
              </a:lnSpc>
              <a:buNone/>
            </a:pPr>
            <a:r>
              <a:rPr lang="en-US" sz="3100" b="1" kern="0" spc="-74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Four layers, and every ceiling written down.</a:t>
            </a:r>
            <a:endParaRPr lang="en-US" sz="3100" b="1" dirty="0"/>
          </a:p>
        </p:txBody>
      </p:sp>
      <p:sp>
        <p:nvSpPr>
          <p:cNvPr id="12" name="Shape 9"/>
          <p:cNvSpPr/>
          <p:nvPr/>
        </p:nvSpPr>
        <p:spPr>
          <a:xfrm>
            <a:off x="658368" y="1764792"/>
            <a:ext cx="2581580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Shape 10"/>
          <p:cNvSpPr/>
          <p:nvPr/>
        </p:nvSpPr>
        <p:spPr>
          <a:xfrm>
            <a:off x="658368" y="1892808"/>
            <a:ext cx="0" cy="822960"/>
          </a:xfrm>
          <a:prstGeom prst="line">
            <a:avLst/>
          </a:prstGeom>
          <a:noFill/>
          <a:ln w="38100">
            <a:solidFill>
              <a:srgbClr val="F04A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1"/>
          <p:cNvSpPr txBox="1"/>
          <p:nvPr/>
        </p:nvSpPr>
        <p:spPr>
          <a:xfrm>
            <a:off x="877824" y="1946209"/>
            <a:ext cx="21426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64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Crypto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" y="2170877"/>
            <a:ext cx="2179244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Delegated, not invented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" y="2502205"/>
            <a:ext cx="2142668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AES-256-GCM via SOPS over age X25519. The only crypto concealer writes itself is a stdlib scrypt password verifier and the HMAC audit chain.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422828" y="1764792"/>
            <a:ext cx="2581580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Shape 15"/>
          <p:cNvSpPr/>
          <p:nvPr/>
        </p:nvSpPr>
        <p:spPr>
          <a:xfrm>
            <a:off x="3422828" y="1892808"/>
            <a:ext cx="0" cy="822960"/>
          </a:xfrm>
          <a:prstGeom prst="line">
            <a:avLst/>
          </a:prstGeom>
          <a:noFill/>
          <a:ln w="38100">
            <a:solidFill>
              <a:srgbClr val="4070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6"/>
          <p:cNvSpPr txBox="1"/>
          <p:nvPr/>
        </p:nvSpPr>
        <p:spPr>
          <a:xfrm>
            <a:off x="3642284" y="1946209"/>
            <a:ext cx="21426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64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Key-at-rest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3642284" y="2170877"/>
            <a:ext cx="2179244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plaintext key on disk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642284" y="2502205"/>
            <a:ext cx="2142668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Only master-password-, recovery-code- and token-wrapped copies exist. A stolen folder is inert without a password or a code.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87288" y="1764792"/>
            <a:ext cx="2581580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Shape 20"/>
          <p:cNvSpPr/>
          <p:nvPr/>
        </p:nvSpPr>
        <p:spPr>
          <a:xfrm>
            <a:off x="6187288" y="1892808"/>
            <a:ext cx="0" cy="822960"/>
          </a:xfrm>
          <a:prstGeom prst="line">
            <a:avLst/>
          </a:prstGeom>
          <a:noFill/>
          <a:ln w="38100">
            <a:solidFill>
              <a:srgbClr val="2F9E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Text 21"/>
          <p:cNvSpPr txBox="1"/>
          <p:nvPr/>
        </p:nvSpPr>
        <p:spPr>
          <a:xfrm>
            <a:off x="6406744" y="1946209"/>
            <a:ext cx="21426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64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Tokens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6406744" y="2170877"/>
            <a:ext cx="2179244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Revocable, client-side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406744" y="2504171"/>
            <a:ext cx="2142668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token value lives only in CONCEALER_TOKEN. The vault keeps a scrypt hash and a token-wrapped key. Revoke it and that copy is dead.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951747" y="1764792"/>
            <a:ext cx="2581580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Shape 25"/>
          <p:cNvSpPr/>
          <p:nvPr/>
        </p:nvSpPr>
        <p:spPr>
          <a:xfrm>
            <a:off x="8951747" y="1892808"/>
            <a:ext cx="0" cy="822960"/>
          </a:xfrm>
          <a:prstGeom prst="line">
            <a:avLst/>
          </a:prstGeom>
          <a:noFill/>
          <a:ln w="38100">
            <a:solidFill>
              <a:srgbClr val="D8963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Text 26"/>
          <p:cNvSpPr txBox="1"/>
          <p:nvPr/>
        </p:nvSpPr>
        <p:spPr>
          <a:xfrm>
            <a:off x="9171203" y="1946209"/>
            <a:ext cx="21426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64" dirty="0">
                <a:solidFill>
                  <a:srgbClr val="D8963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Recovery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9171203" y="2170877"/>
            <a:ext cx="2179244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real second factor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171203" y="2502205"/>
            <a:ext cx="2142668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 one-time codes. Any one recovers the vault — and passwd consumes one, so a stolen master password alone cannot take the vault over.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58368" y="3557209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Threat model — mitigation and residual risk, as documented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58368" y="3854526"/>
            <a:ext cx="10874959" cy="310896"/>
          </a:xfrm>
          <a:prstGeom prst="roundRect">
            <a:avLst>
              <a:gd name="adj" fmla="val 14706"/>
            </a:avLst>
          </a:prstGeom>
          <a:solidFill>
            <a:srgbClr val="1B1B2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4" name="Text 31"/>
          <p:cNvSpPr txBox="1"/>
          <p:nvPr/>
        </p:nvSpPr>
        <p:spPr>
          <a:xfrm>
            <a:off x="786384" y="3943670"/>
            <a:ext cx="277469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Threat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3817110" y="3943670"/>
            <a:ext cx="384436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7917505" y="3943670"/>
            <a:ext cx="348780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Residual risk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658368" y="416542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8" name="Text 35"/>
          <p:cNvSpPr txBox="1"/>
          <p:nvPr/>
        </p:nvSpPr>
        <p:spPr>
          <a:xfrm>
            <a:off x="786384" y="4252839"/>
            <a:ext cx="2774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Secret pasted into an AI chat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3817110" y="4252839"/>
            <a:ext cx="384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MCP injects without revealing; output redacted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7917505" y="4252839"/>
            <a:ext cx="34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Agent must be registered and rate-limited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58368" y="4531182"/>
            <a:ext cx="10874959" cy="365760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2" name="Shape 39"/>
          <p:cNvSpPr/>
          <p:nvPr/>
        </p:nvSpPr>
        <p:spPr>
          <a:xfrm>
            <a:off x="658368" y="453118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3" name="Text 40"/>
          <p:cNvSpPr txBox="1"/>
          <p:nvPr/>
        </p:nvSpPr>
        <p:spPr>
          <a:xfrm>
            <a:off x="786384" y="4618599"/>
            <a:ext cx="2774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Laptop stolen, disk copied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3817110" y="4618599"/>
            <a:ext cx="384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Key-at-rest — wrapped key only, no plaintext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7917505" y="4618599"/>
            <a:ext cx="34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Master password strength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658368" y="489694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7" name="Text 44"/>
          <p:cNvSpPr txBox="1"/>
          <p:nvPr/>
        </p:nvSpPr>
        <p:spPr>
          <a:xfrm>
            <a:off x="786384" y="4984359"/>
            <a:ext cx="2774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Master password leaked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3817110" y="4984359"/>
            <a:ext cx="384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72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passwd</a:t>
            </a: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requires a recovery code as 2nd factor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7917505" y="4984359"/>
            <a:ext cx="34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Codes must be stored separately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658368" y="5262702"/>
            <a:ext cx="10874959" cy="365760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1" name="Shape 48"/>
          <p:cNvSpPr/>
          <p:nvPr/>
        </p:nvSpPr>
        <p:spPr>
          <a:xfrm>
            <a:off x="658368" y="526270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2" name="Text 49"/>
          <p:cNvSpPr txBox="1"/>
          <p:nvPr/>
        </p:nvSpPr>
        <p:spPr>
          <a:xfrm>
            <a:off x="786384" y="5350119"/>
            <a:ext cx="2774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Vault committed by accident</a:t>
            </a:r>
            <a:endParaRPr lang="en-US" sz="800" dirty="0"/>
          </a:p>
        </p:txBody>
      </p:sp>
      <p:sp>
        <p:nvSpPr>
          <p:cNvPr id="53" name="Text 50"/>
          <p:cNvSpPr txBox="1"/>
          <p:nvPr/>
        </p:nvSpPr>
        <p:spPr>
          <a:xfrm>
            <a:off x="3817110" y="5350119"/>
            <a:ext cx="384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72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.gitignore</a:t>
            </a: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covers the vault files</a:t>
            </a:r>
            <a:endParaRPr lang="en-US" sz="800" dirty="0"/>
          </a:p>
        </p:txBody>
      </p:sp>
      <p:sp>
        <p:nvSpPr>
          <p:cNvPr id="54" name="Text 51"/>
          <p:cNvSpPr txBox="1"/>
          <p:nvPr/>
        </p:nvSpPr>
        <p:spPr>
          <a:xfrm>
            <a:off x="7917505" y="5350119"/>
            <a:ext cx="34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User discipline on </a:t>
            </a:r>
            <a:r>
              <a:rPr lang="en-US" sz="72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git add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658368" y="562846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6" name="Text 53"/>
          <p:cNvSpPr txBox="1"/>
          <p:nvPr/>
        </p:nvSpPr>
        <p:spPr>
          <a:xfrm>
            <a:off x="786384" y="5715879"/>
            <a:ext cx="2774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Audit log tampered with</a:t>
            </a:r>
            <a:endParaRPr lang="en-US" sz="800" dirty="0"/>
          </a:p>
        </p:txBody>
      </p:sp>
      <p:sp>
        <p:nvSpPr>
          <p:cNvPr id="57" name="Text 54"/>
          <p:cNvSpPr txBox="1"/>
          <p:nvPr/>
        </p:nvSpPr>
        <p:spPr>
          <a:xfrm>
            <a:off x="3817110" y="5715879"/>
            <a:ext cx="384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HMAC chain + </a:t>
            </a:r>
            <a:r>
              <a:rPr lang="en-US" sz="72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seq</a:t>
            </a: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+ tail anchor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7917505" y="5715879"/>
            <a:ext cx="34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 FS-root attacker with the local key can re-forge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658368" y="5994222"/>
            <a:ext cx="10874959" cy="365760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0" name="Shape 57"/>
          <p:cNvSpPr/>
          <p:nvPr/>
        </p:nvSpPr>
        <p:spPr>
          <a:xfrm>
            <a:off x="658368" y="599422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1" name="Text 58"/>
          <p:cNvSpPr txBox="1"/>
          <p:nvPr/>
        </p:nvSpPr>
        <p:spPr>
          <a:xfrm>
            <a:off x="786384" y="6081639"/>
            <a:ext cx="2774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Agent tries to dump the vault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3817110" y="6081639"/>
            <a:ext cx="384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Registration gate + per-agent quotas</a:t>
            </a:r>
            <a:endParaRPr lang="en-US" sz="800" dirty="0"/>
          </a:p>
        </p:txBody>
      </p:sp>
      <p:sp>
        <p:nvSpPr>
          <p:cNvPr id="63" name="Text 60"/>
          <p:cNvSpPr txBox="1"/>
          <p:nvPr/>
        </p:nvSpPr>
        <p:spPr>
          <a:xfrm>
            <a:off x="7917505" y="6081639"/>
            <a:ext cx="34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Limits are tunable per agent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658368" y="3854526"/>
            <a:ext cx="10874959" cy="2505456"/>
          </a:xfrm>
          <a:prstGeom prst="rect">
            <a:avLst/>
          </a:prstGeom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5" name="Text 62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docs/security.md</a:t>
            </a:r>
            <a:endParaRPr lang="en-US" sz="850" dirty="0"/>
          </a:p>
        </p:txBody>
      </p:sp>
      <p:sp>
        <p:nvSpPr>
          <p:cNvPr id="66" name="Shape 0">
            <a:extLst>
              <a:ext uri="{FF2B5EF4-FFF2-40B4-BE49-F238E27FC236}">
                <a16:creationId xmlns:a16="http://schemas.microsoft.com/office/drawing/2014/main" id="{E02108F6-BCB9-8401-E640-20BBF9C5927B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67" name="Shape 1">
            <a:extLst>
              <a:ext uri="{FF2B5EF4-FFF2-40B4-BE49-F238E27FC236}">
                <a16:creationId xmlns:a16="http://schemas.microsoft.com/office/drawing/2014/main" id="{274EF3D7-06BC-F540-2533-4F9EA9E69DF8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68" name="Image 0" descr="/home/claude/decks/kit2/worlds/../logos/concealer-logo.png">
            <a:extLst>
              <a:ext uri="{FF2B5EF4-FFF2-40B4-BE49-F238E27FC236}">
                <a16:creationId xmlns:a16="http://schemas.microsoft.com/office/drawing/2014/main" id="{1D536DFB-F725-9418-6958-DC9303E73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C21D88F-D4C8-5F05-4403-3A6252C265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2938033" y="-567343"/>
            <a:ext cx="837914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2938033" y="-530904"/>
            <a:ext cx="8379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Security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10"/>
              </a:lnSpc>
              <a:buNone/>
            </a:pPr>
            <a:r>
              <a:rPr lang="en-US" sz="3100" b="1" kern="0" spc="-74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Every read, write, copy and inject — chained.</a:t>
            </a:r>
            <a:endParaRPr lang="en-US" sz="3100" b="1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309360" cy="41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append-only log across all five interfaces. It records names and actions, never values.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516650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4" name="Text 11"/>
          <p:cNvSpPr txBox="1"/>
          <p:nvPr/>
        </p:nvSpPr>
        <p:spPr>
          <a:xfrm>
            <a:off x="896112" y="2406007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HMAC-SHA256 chained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each entry's hash depends on the previous one.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2897904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 txBox="1"/>
          <p:nvPr/>
        </p:nvSpPr>
        <p:spPr>
          <a:xfrm>
            <a:off x="896112" y="2787261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Monotonic seq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inside the signed payload, so reordering is detectable.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3279158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Text 15"/>
          <p:cNvSpPr txBox="1"/>
          <p:nvPr/>
        </p:nvSpPr>
        <p:spPr>
          <a:xfrm>
            <a:off x="896112" y="3168515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 tail anchor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(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audit.head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) catches truncation — deleting the last lines breaks verification.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3660412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Text 17"/>
          <p:cNvSpPr txBox="1"/>
          <p:nvPr/>
        </p:nvSpPr>
        <p:spPr>
          <a:xfrm>
            <a:off x="896112" y="3549769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In the Web UI: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filter by action / source / key / date, page through it, open a row, verify the chain, export CSV or JSON.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" y="4240040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Text 19"/>
          <p:cNvSpPr txBox="1"/>
          <p:nvPr/>
        </p:nvSpPr>
        <p:spPr>
          <a:xfrm>
            <a:off x="896112" y="4129397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From the CLI: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 audit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 audit verify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0372" y="4621294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4" name="Text 21"/>
          <p:cNvSpPr txBox="1"/>
          <p:nvPr/>
        </p:nvSpPr>
        <p:spPr>
          <a:xfrm>
            <a:off x="896112" y="4510651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Stated ceiling: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keys/audit.key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is local, so a filesystem-root attacker could re-forge the chain. An off-machine anchor push mitigates a full re-forge; true immutability needs an off-machine key.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20940" y="2274638"/>
            <a:ext cx="4053535" cy="2610477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6" name="Image 1" descr="/home/claude/deck/img/app-audit-log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2224346"/>
            <a:ext cx="4053535" cy="2610477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479792" y="2224346"/>
            <a:ext cx="4053535" cy="2610477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Text 24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docs/concepts.md</a:t>
            </a:r>
            <a:endParaRPr lang="en-US" sz="850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051D8DB8-E71E-BFF4-9A21-D08A158DC756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A2C75210-CB92-F5D0-5355-9846AF71CC32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31" name="Image 0" descr="/home/claude/decks/kit2/worlds/../logos/concealer-logo.png">
            <a:extLst>
              <a:ext uri="{FF2B5EF4-FFF2-40B4-BE49-F238E27FC236}">
                <a16:creationId xmlns:a16="http://schemas.microsoft.com/office/drawing/2014/main" id="{423BC9DB-54F8-430E-8CF1-D54FAD102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4255423-D830-348E-EEAA-227F3DF06D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2967770" y="-517514"/>
            <a:ext cx="107207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2967770" y="-481075"/>
            <a:ext cx="10720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Five ways in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5794471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10"/>
              </a:lnSpc>
              <a:buNone/>
            </a:pPr>
            <a:r>
              <a:rPr lang="en-US" sz="3100" b="1" kern="0" spc="-74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same encrypted vault, however you like to work.</a:t>
            </a:r>
            <a:endParaRPr lang="en-US" sz="3100" b="1" dirty="0"/>
          </a:p>
        </p:txBody>
      </p:sp>
      <p:sp>
        <p:nvSpPr>
          <p:cNvPr id="12" name="Text 9"/>
          <p:cNvSpPr txBox="1"/>
          <p:nvPr/>
        </p:nvSpPr>
        <p:spPr>
          <a:xfrm>
            <a:off x="600944" y="1716019"/>
            <a:ext cx="8595360" cy="41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surface hits the same core and writes the same audit log. None of them is a bypass.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" y="1997901"/>
            <a:ext cx="2028688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Shape 11"/>
          <p:cNvSpPr/>
          <p:nvPr/>
        </p:nvSpPr>
        <p:spPr>
          <a:xfrm>
            <a:off x="658368" y="2125917"/>
            <a:ext cx="0" cy="822960"/>
          </a:xfrm>
          <a:prstGeom prst="line">
            <a:avLst/>
          </a:prstGeom>
          <a:noFill/>
          <a:ln w="38100">
            <a:solidFill>
              <a:srgbClr val="F04A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2"/>
          <p:cNvSpPr txBox="1"/>
          <p:nvPr/>
        </p:nvSpPr>
        <p:spPr>
          <a:xfrm>
            <a:off x="877824" y="2179317"/>
            <a:ext cx="15897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64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" y="2403986"/>
            <a:ext cx="1626352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CLI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77824" y="2735313"/>
            <a:ext cx="1589776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Set, get, run-with and deploy from the terminal. Scriptable, CI-friendly.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869936" y="1997901"/>
            <a:ext cx="2028688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Shape 16"/>
          <p:cNvSpPr/>
          <p:nvPr/>
        </p:nvSpPr>
        <p:spPr>
          <a:xfrm>
            <a:off x="2869936" y="2125917"/>
            <a:ext cx="0" cy="822960"/>
          </a:xfrm>
          <a:prstGeom prst="line">
            <a:avLst/>
          </a:prstGeom>
          <a:noFill/>
          <a:ln w="38100">
            <a:solidFill>
              <a:srgbClr val="4070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Text 17"/>
          <p:cNvSpPr txBox="1"/>
          <p:nvPr/>
        </p:nvSpPr>
        <p:spPr>
          <a:xfrm>
            <a:off x="3089392" y="2179317"/>
            <a:ext cx="15897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64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3089392" y="2403986"/>
            <a:ext cx="1626352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Web UI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089392" y="2735313"/>
            <a:ext cx="1589776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local console: type-aware forms, filters, deploy renderers, audit viewer.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81504" y="1997901"/>
            <a:ext cx="2028688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Shape 21"/>
          <p:cNvSpPr/>
          <p:nvPr/>
        </p:nvSpPr>
        <p:spPr>
          <a:xfrm>
            <a:off x="5081504" y="2125917"/>
            <a:ext cx="0" cy="822960"/>
          </a:xfrm>
          <a:prstGeom prst="line">
            <a:avLst/>
          </a:prstGeom>
          <a:noFill/>
          <a:ln w="38100">
            <a:solidFill>
              <a:srgbClr val="2F9E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2"/>
          <p:cNvSpPr txBox="1"/>
          <p:nvPr/>
        </p:nvSpPr>
        <p:spPr>
          <a:xfrm>
            <a:off x="5300960" y="2179317"/>
            <a:ext cx="15897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64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5300960" y="2403986"/>
            <a:ext cx="1626352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TUI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300960" y="2735313"/>
            <a:ext cx="1589776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panels, keyboard-only. Browse, search, reveal and edit in the terminal.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293072" y="1997901"/>
            <a:ext cx="2028688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Shape 26"/>
          <p:cNvSpPr/>
          <p:nvPr/>
        </p:nvSpPr>
        <p:spPr>
          <a:xfrm>
            <a:off x="7293072" y="2125917"/>
            <a:ext cx="0" cy="822960"/>
          </a:xfrm>
          <a:prstGeom prst="line">
            <a:avLst/>
          </a:prstGeom>
          <a:noFill/>
          <a:ln w="38100">
            <a:solidFill>
              <a:srgbClr val="D8963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Text 27"/>
          <p:cNvSpPr txBox="1"/>
          <p:nvPr/>
        </p:nvSpPr>
        <p:spPr>
          <a:xfrm>
            <a:off x="7512528" y="2179317"/>
            <a:ext cx="15897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64" dirty="0">
                <a:solidFill>
                  <a:srgbClr val="D8963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7512528" y="2403986"/>
            <a:ext cx="1626352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MCP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512528" y="2735313"/>
            <a:ext cx="1589776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Agents list names and inject values. Registered tokens only, quota-gated.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504639" y="1997901"/>
            <a:ext cx="2028688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4" name="Shape 31"/>
          <p:cNvSpPr/>
          <p:nvPr/>
        </p:nvSpPr>
        <p:spPr>
          <a:xfrm>
            <a:off x="9504639" y="2125917"/>
            <a:ext cx="0" cy="822960"/>
          </a:xfrm>
          <a:prstGeom prst="line">
            <a:avLst/>
          </a:prstGeom>
          <a:noFill/>
          <a:ln w="38100">
            <a:solidFill>
              <a:srgbClr val="F04A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5" name="Text 32"/>
          <p:cNvSpPr txBox="1"/>
          <p:nvPr/>
        </p:nvSpPr>
        <p:spPr>
          <a:xfrm>
            <a:off x="9724095" y="2179317"/>
            <a:ext cx="15897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64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9724095" y="2403986"/>
            <a:ext cx="1626352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Chrome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9724095" y="2735313"/>
            <a:ext cx="1589776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Copy a secret from the toolbar. Per-field copy, generator, three themes.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58368" y="4009581"/>
            <a:ext cx="10874959" cy="310896"/>
          </a:xfrm>
          <a:prstGeom prst="roundRect">
            <a:avLst>
              <a:gd name="adj" fmla="val 14706"/>
            </a:avLst>
          </a:prstGeom>
          <a:solidFill>
            <a:srgbClr val="1B1B2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9" name="Text 36"/>
          <p:cNvSpPr txBox="1"/>
          <p:nvPr/>
        </p:nvSpPr>
        <p:spPr>
          <a:xfrm>
            <a:off x="786384" y="4086292"/>
            <a:ext cx="740992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You want…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8452339" y="4086292"/>
            <a:ext cx="295297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Reach for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58368" y="4320477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2" name="Text 39"/>
          <p:cNvSpPr txBox="1"/>
          <p:nvPr/>
        </p:nvSpPr>
        <p:spPr>
          <a:xfrm>
            <a:off x="786384" y="4401995"/>
            <a:ext cx="7409923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Scripting, CI, piping into </a:t>
            </a:r>
            <a:r>
              <a:rPr lang="en-US" sz="85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run</a:t>
            </a: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or </a:t>
            </a:r>
            <a:r>
              <a:rPr lang="en-US" sz="85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deploy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8452339" y="4401995"/>
            <a:ext cx="2952972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CLI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658368" y="4710240"/>
            <a:ext cx="10874959" cy="389763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5" name="Shape 42"/>
          <p:cNvSpPr/>
          <p:nvPr/>
        </p:nvSpPr>
        <p:spPr>
          <a:xfrm>
            <a:off x="658368" y="4710240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6" name="Text 43"/>
          <p:cNvSpPr txBox="1"/>
          <p:nvPr/>
        </p:nvSpPr>
        <p:spPr>
          <a:xfrm>
            <a:off x="786384" y="4791758"/>
            <a:ext cx="7409923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Rich forms, filters, risk views, the audit viewer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452339" y="4791758"/>
            <a:ext cx="2952972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Web UI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658368" y="510000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9" name="Text 46"/>
          <p:cNvSpPr txBox="1"/>
          <p:nvPr/>
        </p:nvSpPr>
        <p:spPr>
          <a:xfrm>
            <a:off x="786384" y="5181521"/>
            <a:ext cx="7409923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Fast keyboard browsing without leaving the terminal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8452339" y="5181521"/>
            <a:ext cx="2952972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TUI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658368" y="5489765"/>
            <a:ext cx="10874959" cy="389763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2" name="Shape 49"/>
          <p:cNvSpPr/>
          <p:nvPr/>
        </p:nvSpPr>
        <p:spPr>
          <a:xfrm>
            <a:off x="658368" y="5489765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3" name="Text 50"/>
          <p:cNvSpPr txBox="1"/>
          <p:nvPr/>
        </p:nvSpPr>
        <p:spPr>
          <a:xfrm>
            <a:off x="786384" y="5571284"/>
            <a:ext cx="7409923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 agent that uses secrets without seeing them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8452339" y="5571284"/>
            <a:ext cx="2952972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MCP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658368" y="5879528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6" name="Text 53"/>
          <p:cNvSpPr txBox="1"/>
          <p:nvPr/>
        </p:nvSpPr>
        <p:spPr>
          <a:xfrm>
            <a:off x="786384" y="5961047"/>
            <a:ext cx="7409923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password or Wi-Fi key copied while you're in the browser</a:t>
            </a:r>
            <a:endParaRPr lang="en-US" sz="950" dirty="0"/>
          </a:p>
        </p:txBody>
      </p:sp>
      <p:sp>
        <p:nvSpPr>
          <p:cNvPr id="57" name="Text 54"/>
          <p:cNvSpPr txBox="1"/>
          <p:nvPr/>
        </p:nvSpPr>
        <p:spPr>
          <a:xfrm>
            <a:off x="8452339" y="5961047"/>
            <a:ext cx="2952972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Chrome extension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658368" y="4009581"/>
            <a:ext cx="10874959" cy="2259711"/>
          </a:xfrm>
          <a:prstGeom prst="rect">
            <a:avLst/>
          </a:prstGeom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9" name="Text 56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 · concealer.fxerkan.com</a:t>
            </a:r>
            <a:endParaRPr lang="en-US" sz="850" dirty="0"/>
          </a:p>
        </p:txBody>
      </p:sp>
      <p:sp>
        <p:nvSpPr>
          <p:cNvPr id="60" name="Shape 0">
            <a:extLst>
              <a:ext uri="{FF2B5EF4-FFF2-40B4-BE49-F238E27FC236}">
                <a16:creationId xmlns:a16="http://schemas.microsoft.com/office/drawing/2014/main" id="{1507E073-D577-BCFE-82E1-5ED03C904FEA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61" name="Shape 1">
            <a:extLst>
              <a:ext uri="{FF2B5EF4-FFF2-40B4-BE49-F238E27FC236}">
                <a16:creationId xmlns:a16="http://schemas.microsoft.com/office/drawing/2014/main" id="{33F43CC9-F52B-0F32-AF9D-1AB36E722461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62" name="Image 0" descr="/home/claude/decks/kit2/worlds/../logos/concealer-logo.png">
            <a:extLst>
              <a:ext uri="{FF2B5EF4-FFF2-40B4-BE49-F238E27FC236}">
                <a16:creationId xmlns:a16="http://schemas.microsoft.com/office/drawing/2014/main" id="{1202A1FA-C082-B7C5-0AC3-CB581C943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B0681659-DA55-D109-9519-F2F61B452E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2997507" y="-464053"/>
            <a:ext cx="107207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2997507" y="-427614"/>
            <a:ext cx="10720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Five ways in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10"/>
              </a:lnSpc>
              <a:buNone/>
            </a:pPr>
            <a:r>
              <a:rPr lang="en-US" sz="3100" b="1" kern="0" spc="-74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One command, any secret, nothing printed.</a:t>
            </a:r>
            <a:endParaRPr lang="en-US" sz="3100" b="1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3093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cer is the short alias for concealer — both names work identically. Every command takes a scope; an omitted dimension is a wildcard.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" y="2679319"/>
            <a:ext cx="6309360" cy="1720596"/>
          </a:xfrm>
          <a:prstGeom prst="roundRect">
            <a:avLst>
              <a:gd name="adj" fmla="val 3720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1"/>
          <p:cNvSpPr txBox="1"/>
          <p:nvPr/>
        </p:nvSpPr>
        <p:spPr>
          <a:xfrm>
            <a:off x="859536" y="2811930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set --name OPENAI_API_KEY --project web --env prod </a:t>
            </a:r>
            <a:r>
              <a:rPr lang="en-US" sz="925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'sk-…'</a:t>
            </a: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--tags ai</a:t>
            </a:r>
            <a:endParaRPr lang="en-US" sz="925" dirty="0"/>
          </a:p>
        </p:txBody>
      </p:sp>
      <p:sp>
        <p:nvSpPr>
          <p:cNvPr id="15" name="Text 12"/>
          <p:cNvSpPr txBox="1"/>
          <p:nvPr/>
        </p:nvSpPr>
        <p:spPr>
          <a:xfrm>
            <a:off x="859536" y="2988142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list --type database --tenant acme</a:t>
            </a:r>
            <a:endParaRPr lang="en-US" sz="925" dirty="0"/>
          </a:p>
        </p:txBody>
      </p:sp>
      <p:sp>
        <p:nvSpPr>
          <p:cNvPr id="16" name="Text 13"/>
          <p:cNvSpPr txBox="1"/>
          <p:nvPr/>
        </p:nvSpPr>
        <p:spPr>
          <a:xfrm>
            <a:off x="859536" y="3164355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get --name OPENAI_API_KEY --project web --env prod</a:t>
            </a:r>
            <a:endParaRPr lang="en-US" sz="925" dirty="0"/>
          </a:p>
        </p:txBody>
      </p:sp>
      <p:sp>
        <p:nvSpPr>
          <p:cNvPr id="17" name="Text 14"/>
          <p:cNvSpPr txBox="1"/>
          <p:nvPr/>
        </p:nvSpPr>
        <p:spPr>
          <a:xfrm>
            <a:off x="859536" y="3340567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rotate --name OPENAI_API_KEY --project web   </a:t>
            </a:r>
            <a:r>
              <a:rPr lang="en-US" sz="925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# 32 random bytes</a:t>
            </a:r>
            <a:endParaRPr lang="en-US" sz="925" dirty="0"/>
          </a:p>
        </p:txBody>
      </p:sp>
      <p:sp>
        <p:nvSpPr>
          <p:cNvPr id="18" name="Text 15"/>
          <p:cNvSpPr txBox="1"/>
          <p:nvPr/>
        </p:nvSpPr>
        <p:spPr>
          <a:xfrm>
            <a:off x="859536" y="3516780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run --project web --env prod npm run deploy</a:t>
            </a:r>
            <a:endParaRPr lang="en-US" sz="925" dirty="0"/>
          </a:p>
        </p:txBody>
      </p:sp>
      <p:sp>
        <p:nvSpPr>
          <p:cNvPr id="19" name="Text 16"/>
          <p:cNvSpPr txBox="1"/>
          <p:nvPr/>
        </p:nvSpPr>
        <p:spPr>
          <a:xfrm>
            <a:off x="859536" y="3692992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deploy --target k8s --project web --env prod</a:t>
            </a:r>
            <a:endParaRPr lang="en-US" sz="925" dirty="0"/>
          </a:p>
        </p:txBody>
      </p:sp>
      <p:sp>
        <p:nvSpPr>
          <p:cNvPr id="20" name="Text 17"/>
          <p:cNvSpPr txBox="1"/>
          <p:nvPr/>
        </p:nvSpPr>
        <p:spPr>
          <a:xfrm>
            <a:off x="859536" y="3869205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scan ./myrepo --history --envvars --import</a:t>
            </a:r>
            <a:endParaRPr lang="en-US" sz="925" dirty="0"/>
          </a:p>
        </p:txBody>
      </p:sp>
      <p:sp>
        <p:nvSpPr>
          <p:cNvPr id="21" name="Text 18"/>
          <p:cNvSpPr txBox="1"/>
          <p:nvPr/>
        </p:nvSpPr>
        <p:spPr>
          <a:xfrm>
            <a:off x="859536" y="4045417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audit verify</a:t>
            </a:r>
            <a:endParaRPr lang="en-US" sz="925" dirty="0"/>
          </a:p>
        </p:txBody>
      </p:sp>
      <p:sp>
        <p:nvSpPr>
          <p:cNvPr id="22" name="Shape 19"/>
          <p:cNvSpPr/>
          <p:nvPr/>
        </p:nvSpPr>
        <p:spPr>
          <a:xfrm>
            <a:off x="690372" y="4765949"/>
            <a:ext cx="86411" cy="86411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3" name="Text 20"/>
          <p:cNvSpPr txBox="1"/>
          <p:nvPr/>
        </p:nvSpPr>
        <p:spPr>
          <a:xfrm>
            <a:off x="896112" y="4675424"/>
            <a:ext cx="6071616" cy="381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8"/>
              </a:lnSpc>
              <a:buNone/>
            </a:pPr>
            <a:r>
              <a:rPr lang="en-US" sz="9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Scope auto-detect</a:t>
            </a: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repo</a:t>
            </a: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</a:t>
            </a: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project</a:t>
            </a: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come from the current git repo when you omit them.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90372" y="5111135"/>
            <a:ext cx="86411" cy="86411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5" name="Text 22"/>
          <p:cNvSpPr txBox="1"/>
          <p:nvPr/>
        </p:nvSpPr>
        <p:spPr>
          <a:xfrm>
            <a:off x="896112" y="5020610"/>
            <a:ext cx="607161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8"/>
              </a:lnSpc>
              <a:buNone/>
            </a:pPr>
            <a:r>
              <a:rPr lang="en-US" sz="9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Typed injection</a:t>
            </a: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a </a:t>
            </a: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database</a:t>
            </a: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secret becomes </a:t>
            </a: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PG_HOST</a:t>
            </a: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PG_PORT</a:t>
            </a: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PG_PASSWORD</a:t>
            </a: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…; an </a:t>
            </a: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api_key</a:t>
            </a: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becomes one variable.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90372" y="5618627"/>
            <a:ext cx="86411" cy="86411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7" name="Text 24"/>
          <p:cNvSpPr txBox="1"/>
          <p:nvPr/>
        </p:nvSpPr>
        <p:spPr>
          <a:xfrm>
            <a:off x="896112" y="5528102"/>
            <a:ext cx="607161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8"/>
              </a:lnSpc>
              <a:buNone/>
            </a:pPr>
            <a:r>
              <a:rPr lang="en-US" sz="9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8 deploy targets</a:t>
            </a: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dotenv · export · docker · json · k8s · aws-secrets · aws-ssm · github</a:t>
            </a: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Rendered to stdout; nothing is pushed for you.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90372" y="6126119"/>
            <a:ext cx="86411" cy="86411"/>
          </a:xfrm>
          <a:prstGeom prst="ellipse">
            <a:avLst/>
          </a:prstGeom>
          <a:solidFill>
            <a:srgbClr val="D8963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9" name="Text 26"/>
          <p:cNvSpPr txBox="1"/>
          <p:nvPr/>
        </p:nvSpPr>
        <p:spPr>
          <a:xfrm>
            <a:off x="896112" y="6035594"/>
            <a:ext cx="6071616" cy="381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8"/>
              </a:lnSpc>
              <a:buNone/>
            </a:pPr>
            <a:r>
              <a:rPr lang="en-US" sz="9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Guard rails</a:t>
            </a: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get</a:t>
            </a: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rm</a:t>
            </a: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</a:t>
            </a: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rotate</a:t>
            </a: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refuse an ambiguous scope rather than guess.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520940" y="2363815"/>
            <a:ext cx="4053535" cy="2432121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1" name="Image 1" descr="/home/claude/deck/img/cli-termin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2313523"/>
            <a:ext cx="4053535" cy="2432121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7479792" y="2313523"/>
            <a:ext cx="4053535" cy="2432121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Text 29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docs/cli-reference.md</a:t>
            </a:r>
            <a:endParaRPr lang="en-US" sz="850" dirty="0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7A30878E-E228-5C03-8E71-4F9A5C02FE25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F100AAFA-3143-10FD-413A-8C5E7CAB5865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36" name="Image 0" descr="/home/claude/decks/kit2/worlds/../logos/concealer-logo.png">
            <a:extLst>
              <a:ext uri="{FF2B5EF4-FFF2-40B4-BE49-F238E27FC236}">
                <a16:creationId xmlns:a16="http://schemas.microsoft.com/office/drawing/2014/main" id="{298342BB-16B7-38A0-4614-A60500855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CDF60B6-B45D-70F8-9EF4-A909791934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2960336" y="-493553"/>
            <a:ext cx="107207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2960336" y="-457114"/>
            <a:ext cx="10720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Five ways in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10"/>
              </a:lnSpc>
              <a:buNone/>
            </a:pPr>
            <a:r>
              <a:rPr lang="en-US" sz="3100" b="1" kern="0" spc="-74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 professional console that never leaves localhost.</a:t>
            </a:r>
            <a:endParaRPr lang="en-US" sz="3100" b="1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3093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cer web serves a single-page app and a JSON API on 127.0.0.1 only. Single-user, unlocked with the master password.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728422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4" name="Text 11"/>
          <p:cNvSpPr txBox="1"/>
          <p:nvPr/>
        </p:nvSpPr>
        <p:spPr>
          <a:xfrm>
            <a:off x="896112" y="2617780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Bilingual TR / EN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throughout, with Dark · Light · Matrix themes and a responsive phone/tablet layout.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3308050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 txBox="1"/>
          <p:nvPr/>
        </p:nvSpPr>
        <p:spPr>
          <a:xfrm>
            <a:off x="896112" y="3197408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Type-aware CRUD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each of the 15 types renders exactly the fields it needs; secret fields are stored masked.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3887678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Text 15"/>
          <p:cNvSpPr txBox="1"/>
          <p:nvPr/>
        </p:nvSpPr>
        <p:spPr>
          <a:xfrm>
            <a:off x="896112" y="3777036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Searchable multi-select filters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for type, tenant, project, environment, repo and tags; sortable and reorderable columns, including any custom field as its own column.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4467306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Text 17"/>
          <p:cNvSpPr txBox="1"/>
          <p:nvPr/>
        </p:nvSpPr>
        <p:spPr>
          <a:xfrm>
            <a:off x="896112" y="4356664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Per-secret Deploy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render the exact CLI or manifest for eight targets, right from the row.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" y="4848560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Text 19"/>
          <p:cNvSpPr txBox="1"/>
          <p:nvPr/>
        </p:nvSpPr>
        <p:spPr>
          <a:xfrm>
            <a:off x="896112" y="4737918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Clipboard copy with auto-clear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(20 s), show/hide toggle, and a hard </a:t>
            </a: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idle auto-lock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(300 s by default).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0372" y="5428188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4" name="Text 21"/>
          <p:cNvSpPr txBox="1"/>
          <p:nvPr/>
        </p:nvSpPr>
        <p:spPr>
          <a:xfrm>
            <a:off x="896112" y="5317546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Risks · Policy · Scan folder · Audit · Settings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as first-class tabs.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20940" y="2228698"/>
            <a:ext cx="4053535" cy="2702357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6" name="Image 1" descr="/home/claude/deck/img/app-secre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2178406"/>
            <a:ext cx="4053535" cy="2702357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479792" y="2178406"/>
            <a:ext cx="4053535" cy="2702357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Text 24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docs/web-ui.md</a:t>
            </a:r>
            <a:endParaRPr lang="en-US" sz="850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E3C3290C-5E0C-67B1-7535-A2B8E0C1DABC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FB1B6F88-E937-FFD4-7834-F35A1E0B5326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31" name="Image 0" descr="/home/claude/decks/kit2/worlds/../logos/concealer-logo.png">
            <a:extLst>
              <a:ext uri="{FF2B5EF4-FFF2-40B4-BE49-F238E27FC236}">
                <a16:creationId xmlns:a16="http://schemas.microsoft.com/office/drawing/2014/main" id="{842921B1-C0AE-C6FD-AFA6-9FF3DACA0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6F5F788-6C13-F447-9C95-E3F6FA3FAD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3049545" y="-677539"/>
            <a:ext cx="107207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3049545" y="-641100"/>
            <a:ext cx="10720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Five ways in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10"/>
              </a:lnSpc>
              <a:buNone/>
            </a:pPr>
            <a:r>
              <a:rPr lang="en-US" sz="3100" b="1" kern="0" spc="-74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Find the weak, stale, reused and already-leaked.</a:t>
            </a:r>
            <a:endParaRPr lang="en-US" sz="3100" b="1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309360" cy="41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Four sub-views — and not one of them sends a secret value anywhere.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516650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4" name="Text 11"/>
          <p:cNvSpPr txBox="1"/>
          <p:nvPr/>
        </p:nvSpPr>
        <p:spPr>
          <a:xfrm>
            <a:off x="896112" y="2406007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Overview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A health dashboard: expired, expiring soon, rotation overdue, high-risk reuse, most used — each with how far past due it is.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3096278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 txBox="1"/>
          <p:nvPr/>
        </p:nvSpPr>
        <p:spPr>
          <a:xfrm>
            <a:off x="896112" y="2985635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Reused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Finds the same value under more than one record and scores the blast radius. If it leaks, everything sharing it is exposed at once.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3675906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Text 15"/>
          <p:cNvSpPr txBox="1"/>
          <p:nvPr/>
        </p:nvSpPr>
        <p:spPr>
          <a:xfrm>
            <a:off x="896112" y="3565263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History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Scans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bash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zsh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fish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history for credentials typed in the clear. Import them, then purge the lines.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4255534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Text 17"/>
          <p:cNvSpPr txBox="1"/>
          <p:nvPr/>
        </p:nvSpPr>
        <p:spPr>
          <a:xfrm>
            <a:off x="896112" y="4144891"/>
            <a:ext cx="6071616" cy="81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Exposure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HIBP Pwned Passwords via </a:t>
            </a: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k-anonymity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only the first 5 hex characters of a SHA-1 leave the machine. Plus email breach lookup and a git-history / tracked-files / logs scan with a generated cleanup guide.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520940" y="2458398"/>
            <a:ext cx="4053535" cy="2242956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2" name="Image 1" descr="/home/claude/deck/img/app-risk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2408106"/>
            <a:ext cx="4053535" cy="22429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479792" y="2408106"/>
            <a:ext cx="4053535" cy="2242956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Text 20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docs/risks.md</a:t>
            </a:r>
            <a:endParaRPr lang="en-US" sz="850" dirty="0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DC95A23A-4CDD-7821-8FAE-2637EA855A74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9365860C-9E8D-1F97-CC2F-9EC364E446D5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27" name="Image 0" descr="/home/claude/decks/kit2/worlds/../logos/concealer-logo.png">
            <a:extLst>
              <a:ext uri="{FF2B5EF4-FFF2-40B4-BE49-F238E27FC236}">
                <a16:creationId xmlns:a16="http://schemas.microsoft.com/office/drawing/2014/main" id="{50A668A2-2E60-4194-307A-BD1DB97FF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0687900-5FF4-5F31-1721-D483663A58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3027243" y="-648828"/>
            <a:ext cx="107207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3027243" y="-612389"/>
            <a:ext cx="10720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Five ways in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32764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10"/>
              </a:lnSpc>
              <a:buNone/>
            </a:pPr>
            <a:r>
              <a:rPr lang="en-US" sz="3100" b="1" kern="0" spc="-74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Your rules, enforced — and the agent gate.</a:t>
            </a:r>
            <a:endParaRPr lang="en-US" sz="3100" b="1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21792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Define reminder rules, see exactly which secrets violate them, and bulk-fix the violators. Each rule carries a target audience: user · agent · cli · web · tui · mcp · all.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" y="2661031"/>
            <a:ext cx="6217920" cy="310896"/>
          </a:xfrm>
          <a:prstGeom prst="roundRect">
            <a:avLst>
              <a:gd name="adj" fmla="val 14706"/>
            </a:avLst>
          </a:prstGeom>
          <a:solidFill>
            <a:srgbClr val="1B1B2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4" name="Text 11"/>
          <p:cNvSpPr txBox="1"/>
          <p:nvPr/>
        </p:nvSpPr>
        <p:spPr>
          <a:xfrm>
            <a:off x="786384" y="2737743"/>
            <a:ext cx="147683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Rule kind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2519247" y="2737743"/>
            <a:ext cx="422902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Flags a secret when…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58368" y="2971927"/>
            <a:ext cx="6217920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4"/>
          <p:cNvSpPr txBox="1"/>
          <p:nvPr/>
        </p:nvSpPr>
        <p:spPr>
          <a:xfrm>
            <a:off x="786384" y="3053446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Rotation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2519247" y="3053446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has no rotation policy, is overdue, or its interval exceeds your maximum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58368" y="3361690"/>
            <a:ext cx="6217920" cy="389763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Shape 17"/>
          <p:cNvSpPr/>
          <p:nvPr/>
        </p:nvSpPr>
        <p:spPr>
          <a:xfrm>
            <a:off x="658368" y="3361690"/>
            <a:ext cx="6217920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8"/>
          <p:cNvSpPr txBox="1"/>
          <p:nvPr/>
        </p:nvSpPr>
        <p:spPr>
          <a:xfrm>
            <a:off x="786384" y="3443209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Expiry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2519247" y="3443209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is expired, expiring within N days, or missing an expiry field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58368" y="3751453"/>
            <a:ext cx="6217920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Text 21"/>
          <p:cNvSpPr txBox="1"/>
          <p:nvPr/>
        </p:nvSpPr>
        <p:spPr>
          <a:xfrm>
            <a:off x="786384" y="3832972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Reuse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2519247" y="3832972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its value is shared with another record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58368" y="4141216"/>
            <a:ext cx="6217920" cy="389763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7" name="Shape 24"/>
          <p:cNvSpPr/>
          <p:nvPr/>
        </p:nvSpPr>
        <p:spPr>
          <a:xfrm>
            <a:off x="658368" y="4141216"/>
            <a:ext cx="6217920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Text 25"/>
          <p:cNvSpPr txBox="1"/>
          <p:nvPr/>
        </p:nvSpPr>
        <p:spPr>
          <a:xfrm>
            <a:off x="786384" y="4222735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Naming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2519247" y="4222735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its name doesn't match a regex you provide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58368" y="4530979"/>
            <a:ext cx="6217920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1" name="Text 28"/>
          <p:cNvSpPr txBox="1"/>
          <p:nvPr/>
        </p:nvSpPr>
        <p:spPr>
          <a:xfrm>
            <a:off x="786384" y="4612498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Tagging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2519247" y="4612498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is missing tags you require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58368" y="2661031"/>
            <a:ext cx="6217920" cy="2259711"/>
          </a:xfrm>
          <a:prstGeom prst="rect">
            <a:avLst/>
          </a:prstGeom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4" name="Shape 31"/>
          <p:cNvSpPr/>
          <p:nvPr/>
        </p:nvSpPr>
        <p:spPr>
          <a:xfrm>
            <a:off x="658368" y="5176774"/>
            <a:ext cx="6217920" cy="634746"/>
          </a:xfrm>
          <a:prstGeom prst="roundRect">
            <a:avLst>
              <a:gd name="adj" fmla="val 10084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5" name="Text 32"/>
          <p:cNvSpPr txBox="1"/>
          <p:nvPr/>
        </p:nvSpPr>
        <p:spPr>
          <a:xfrm>
            <a:off x="859536" y="5311237"/>
            <a:ext cx="5815584" cy="282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r>
              <a:rPr lang="en-US" sz="8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policy list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859536" y="5473162"/>
            <a:ext cx="5815584" cy="282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r>
              <a:rPr lang="en-US" sz="8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policy check   </a:t>
            </a: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# non-zero exit on any violation — cron- and CI-friendly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429500" y="2362635"/>
            <a:ext cx="4144975" cy="243448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8" name="Image 1" descr="/home/claude/deck/img/app-polic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2312343"/>
            <a:ext cx="4144975" cy="2434482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388352" y="2312343"/>
            <a:ext cx="4144975" cy="2434482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0" name="Text 36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docs/policy.md</a:t>
            </a:r>
            <a:endParaRPr lang="en-US" sz="850" dirty="0"/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28FA3C6A-C088-8FF5-97B3-C238FF140DC0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42" name="Shape 1">
            <a:extLst>
              <a:ext uri="{FF2B5EF4-FFF2-40B4-BE49-F238E27FC236}">
                <a16:creationId xmlns:a16="http://schemas.microsoft.com/office/drawing/2014/main" id="{1A27F3B4-EB65-AF76-879A-8B3974FC6EC4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43" name="Image 0" descr="/home/claude/decks/kit2/worlds/../logos/concealer-logo.png">
            <a:extLst>
              <a:ext uri="{FF2B5EF4-FFF2-40B4-BE49-F238E27FC236}">
                <a16:creationId xmlns:a16="http://schemas.microsoft.com/office/drawing/2014/main" id="{BDDAAEDD-D5E0-B736-0117-163A0CFAA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ADD75AC-4AAD-3BC5-C0CA-995F26B05B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3027243" y="-506121"/>
            <a:ext cx="107207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3027243" y="-469682"/>
            <a:ext cx="10720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Five ways in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10"/>
              </a:lnSpc>
              <a:buNone/>
            </a:pPr>
            <a:r>
              <a:rPr lang="en-US" sz="3100" b="1" kern="0" spc="-74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whole vault, keyboard only.</a:t>
            </a:r>
            <a:endParaRPr lang="en-US" sz="3100" b="1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486733"/>
            <a:ext cx="63093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panels — Filters, Secrets, Details. Browse, search, reveal, copy and edit without leaving the shell.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295352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4" name="Text 11"/>
          <p:cNvSpPr txBox="1"/>
          <p:nvPr/>
        </p:nvSpPr>
        <p:spPr>
          <a:xfrm>
            <a:off x="896112" y="2184710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Vim-style navigation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j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/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g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/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G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Tab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between panels,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/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2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/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3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to jump.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2676606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 txBox="1"/>
          <p:nvPr/>
        </p:nvSpPr>
        <p:spPr>
          <a:xfrm>
            <a:off x="896112" y="2565964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Live search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with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or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/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;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x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clears every filter.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3057860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Text 15"/>
          <p:cNvSpPr txBox="1"/>
          <p:nvPr/>
        </p:nvSpPr>
        <p:spPr>
          <a:xfrm>
            <a:off x="896112" y="2947218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Reveal per field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on a record, or pick a single field in Details. Copy value, username or url with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u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3637488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Text 17"/>
          <p:cNvSpPr txBox="1"/>
          <p:nvPr/>
        </p:nvSpPr>
        <p:spPr>
          <a:xfrm>
            <a:off x="896112" y="3526846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Clipboard auto-clears after 45 s.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There is no paste — to put a value in, use add/edit.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" y="4018742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Text 19"/>
          <p:cNvSpPr txBox="1"/>
          <p:nvPr/>
        </p:nvSpPr>
        <p:spPr>
          <a:xfrm>
            <a:off x="896112" y="3908100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Bilingual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toggles TR/EN,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?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shows the shortcut table in-app.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0372" y="4399996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4" name="Text 21"/>
          <p:cNvSpPr txBox="1"/>
          <p:nvPr/>
        </p:nvSpPr>
        <p:spPr>
          <a:xfrm>
            <a:off x="896112" y="4289354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Not a bypass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every reveal, create, update and delete is audited with its source.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20940" y="2266531"/>
            <a:ext cx="4053535" cy="2626691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6" name="Image 1" descr="/home/claude/deck/img/tui-secre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2216239"/>
            <a:ext cx="4053535" cy="2626691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479792" y="2216239"/>
            <a:ext cx="4053535" cy="2626691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Text 24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docs/tui.md</a:t>
            </a:r>
            <a:endParaRPr lang="en-US" sz="850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0872BF74-1D8E-D681-7E60-052462B4193D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8BF8FA20-58C5-203A-5834-C0E6AD1C74B5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31" name="Image 0" descr="/home/claude/decks/kit2/worlds/../logos/concealer-logo.png">
            <a:extLst>
              <a:ext uri="{FF2B5EF4-FFF2-40B4-BE49-F238E27FC236}">
                <a16:creationId xmlns:a16="http://schemas.microsoft.com/office/drawing/2014/main" id="{A1A30F83-F451-2161-4853-89C1A1AF7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A18742B-4C42-4263-5B44-7C055135FE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3116453" y="-538704"/>
            <a:ext cx="107207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3116453" y="-502265"/>
            <a:ext cx="10720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Five ways in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1059609"/>
            <a:ext cx="6053328" cy="725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kern="0" spc="-7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Copy a secret from the toolbar.</a:t>
            </a:r>
            <a:endParaRPr lang="en-US" sz="2900" b="1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689316"/>
            <a:ext cx="594360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thin popover over your local vault. It talks only to 127.0.0.1 — no cloud, no account, no telemetry. On the Chrome Web Store.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497935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4" name="Text 11"/>
          <p:cNvSpPr txBox="1"/>
          <p:nvPr/>
        </p:nvSpPr>
        <p:spPr>
          <a:xfrm>
            <a:off x="896112" y="2387292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Per-field copy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multi-field secrets expand into child rows; copy or reveal exactly the field you need.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3077563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 txBox="1"/>
          <p:nvPr/>
        </p:nvSpPr>
        <p:spPr>
          <a:xfrm>
            <a:off x="896112" y="2966920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On-demand server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the popup starts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 web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when you open it and self-exits after 15 min idle. Nothing lingers.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3657191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Text 15"/>
          <p:cNvSpPr txBox="1"/>
          <p:nvPr/>
        </p:nvSpPr>
        <p:spPr>
          <a:xfrm>
            <a:off x="896112" y="3546548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Auto-lock countdown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in the header, blinking as it runs out; clipboard auto-clears; values are never logged.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4236819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Text 17"/>
          <p:cNvSpPr txBox="1"/>
          <p:nvPr/>
        </p:nvSpPr>
        <p:spPr>
          <a:xfrm>
            <a:off x="896112" y="4126176"/>
            <a:ext cx="570585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🎲 Generator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strong passwords, hex, base64url, UUID. Works before you unlock.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" y="4618073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Text 19"/>
          <p:cNvSpPr txBox="1"/>
          <p:nvPr/>
        </p:nvSpPr>
        <p:spPr>
          <a:xfrm>
            <a:off x="896112" y="4507430"/>
            <a:ext cx="570585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Three themes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Dark · White · Matrix, matching the web console.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0372" y="4999327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4" name="Text 21"/>
          <p:cNvSpPr txBox="1"/>
          <p:nvPr/>
        </p:nvSpPr>
        <p:spPr>
          <a:xfrm>
            <a:off x="896112" y="4888684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native helper ships inside concealer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(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 native-host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) —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 chrome-extension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just registers it, once per machine.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653833" y="1109901"/>
            <a:ext cx="3847795" cy="240487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6" name="Image 1" descr="/home/claude/deck/img/ext-fiel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685" y="1059609"/>
            <a:ext cx="3847795" cy="2404872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612685" y="1059609"/>
            <a:ext cx="3847795" cy="2404872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Text 24"/>
          <p:cNvSpPr txBox="1"/>
          <p:nvPr/>
        </p:nvSpPr>
        <p:spPr>
          <a:xfrm>
            <a:off x="7612685" y="3626376"/>
            <a:ext cx="3847795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Per-field copy for multi-field secrets.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7653833" y="4063413"/>
            <a:ext cx="3847795" cy="240487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0" name="Image 2" descr="/home/claude/deck/img/ext-matrix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685" y="4013121"/>
            <a:ext cx="3847795" cy="2404872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7612685" y="4013121"/>
            <a:ext cx="3847795" cy="2404872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2" name="Text 27"/>
          <p:cNvSpPr txBox="1"/>
          <p:nvPr/>
        </p:nvSpPr>
        <p:spPr>
          <a:xfrm>
            <a:off x="7571537" y="6186029"/>
            <a:ext cx="3847795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Matrix theme.</a:t>
            </a:r>
            <a:endParaRPr lang="en-US" sz="850" dirty="0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981506A5-E5B8-2F3B-5149-E4CD81C4B9E1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89F2FB69-12F3-1C05-B5FD-B8948CECCFE2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36" name="Image 0" descr="/home/claude/decks/kit2/worlds/../logos/concealer-logo.png">
            <a:extLst>
              <a:ext uri="{FF2B5EF4-FFF2-40B4-BE49-F238E27FC236}">
                <a16:creationId xmlns:a16="http://schemas.microsoft.com/office/drawing/2014/main" id="{964A62C3-18BD-9546-E832-11E7E7534F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A4BE966-D8E5-4868-D613-D06FD312353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2923202" y="-535773"/>
            <a:ext cx="1069543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2923202" y="-499334"/>
            <a:ext cx="10695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product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1218743"/>
            <a:ext cx="6053328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kern="0" spc="-7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Typed secrets, four-dimension scope.</a:t>
            </a:r>
            <a:endParaRPr lang="en-US" sz="2900" b="1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814678"/>
            <a:ext cx="594360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credential is not a string. Each type renders exactly the inputs it needs, and secret fields are stored masked and revealed only on demand — audited.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3062199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4" name="Text 11"/>
          <p:cNvSpPr txBox="1"/>
          <p:nvPr/>
        </p:nvSpPr>
        <p:spPr>
          <a:xfrm>
            <a:off x="896112" y="2951556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15 types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api_key · access_token · oauth · jwt · ssh_key · certificate · database · server · website · login · pin · wifi · membership · secure_note · custom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3641827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 txBox="1"/>
          <p:nvPr/>
        </p:nvSpPr>
        <p:spPr>
          <a:xfrm>
            <a:off x="896112" y="3531184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Masking is record-aware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resolved in order: per-field override → type template → field-name heuristic → value heuristic (a </a:t>
            </a: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scheme://user:pass@host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DSN is masked even in a plain field).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4221455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Text 15"/>
          <p:cNvSpPr txBox="1"/>
          <p:nvPr/>
        </p:nvSpPr>
        <p:spPr>
          <a:xfrm>
            <a:off x="896112" y="4110812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Scope: tenant / project / environment / repo.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 empty dimension is a wildcard; the most-specific match wins at inject time.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4801083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Text 17"/>
          <p:cNvSpPr txBox="1"/>
          <p:nvPr/>
        </p:nvSpPr>
        <p:spPr>
          <a:xfrm>
            <a:off x="896112" y="4690440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No PII by design</a:t>
            </a: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there are deliberately no credit-card, passport or national-ID types. This is a machine-and-account credential vault.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034865" y="2447455"/>
            <a:ext cx="2057777" cy="240487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2" name="Image 1" descr="/home/claude/deck/img/secret-typ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717" y="2397163"/>
            <a:ext cx="2057777" cy="2404872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993717" y="2397163"/>
            <a:ext cx="2057777" cy="2404872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Text 20"/>
          <p:cNvSpPr txBox="1"/>
          <p:nvPr/>
        </p:nvSpPr>
        <p:spPr>
          <a:xfrm>
            <a:off x="6993717" y="4963930"/>
            <a:ext cx="2057777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 type picker.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9723372" y="2439391"/>
            <a:ext cx="2167163" cy="240487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6" name="Image 2" descr="/home/claude/deck/img/secrets-d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2224" y="2389099"/>
            <a:ext cx="2167163" cy="2404872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9682224" y="2389099"/>
            <a:ext cx="2167163" cy="2404872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Text 23"/>
          <p:cNvSpPr txBox="1"/>
          <p:nvPr/>
        </p:nvSpPr>
        <p:spPr>
          <a:xfrm>
            <a:off x="9682224" y="4955866"/>
            <a:ext cx="2167163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 database secret's form.</a:t>
            </a:r>
            <a:endParaRPr lang="en-US" sz="850" dirty="0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2B9B91D0-AA39-94DB-FFD5-3C53A2839B01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ACA6CC7A-55C1-CC30-3B30-156519E9C49B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32" name="Image 0" descr="/home/claude/decks/kit2/worlds/../logos/concealer-logo.png">
            <a:extLst>
              <a:ext uri="{FF2B5EF4-FFF2-40B4-BE49-F238E27FC236}">
                <a16:creationId xmlns:a16="http://schemas.microsoft.com/office/drawing/2014/main" id="{7A1B10A1-C720-7BD0-EB7B-FACA93FF9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D2405B7-741E-D874-4BB4-D58678A2389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2961817" y="-512308"/>
            <a:ext cx="101673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2961817" y="-475869"/>
            <a:ext cx="1016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Who it's for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950976"/>
            <a:ext cx="1259332" cy="274320"/>
          </a:xfrm>
          <a:prstGeom prst="roundRect">
            <a:avLst>
              <a:gd name="adj" fmla="val 50000"/>
            </a:avLst>
          </a:prstGeom>
          <a:solidFill>
            <a:srgbClr val="F04A4A"/>
          </a:solidFill>
          <a:ln w="12700">
            <a:solidFill>
              <a:srgbClr val="F04A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9"/>
          <p:cNvSpPr txBox="1"/>
          <p:nvPr/>
        </p:nvSpPr>
        <p:spPr>
          <a:xfrm>
            <a:off x="658368" y="1023971"/>
            <a:ext cx="1259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kern="0" spc="51" dirty="0">
                <a:solidFill>
                  <a:srgbClr val="FFFF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Persona 01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1233343"/>
            <a:ext cx="10808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88"/>
              </a:lnSpc>
              <a:buNone/>
            </a:pPr>
            <a:r>
              <a:rPr lang="en-US" sz="3600" b="1" kern="0" spc="-86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DevOps / Platform Engineer</a:t>
            </a:r>
            <a:endParaRPr lang="en-US" sz="3600" b="1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1932630"/>
            <a:ext cx="95097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Owns the pipelines and the blast radius. Needs secrets out of .env files, out of shell history, out of CI logs — and a gate that fails the build when they creep back in.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pain today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" y="3039618"/>
            <a:ext cx="3320186" cy="0"/>
          </a:xfrm>
          <a:prstGeom prst="line">
            <a:avLst/>
          </a:prstGeom>
          <a:noFill/>
          <a:ln w="22860">
            <a:solidFill>
              <a:srgbClr val="F04A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Shape 14"/>
          <p:cNvSpPr/>
          <p:nvPr/>
        </p:nvSpPr>
        <p:spPr>
          <a:xfrm>
            <a:off x="690372" y="3268538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Text 15"/>
          <p:cNvSpPr txBox="1"/>
          <p:nvPr/>
        </p:nvSpPr>
        <p:spPr>
          <a:xfrm>
            <a:off x="896112" y="3162925"/>
            <a:ext cx="3082442" cy="78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dozen repos each carrying their own </a:t>
            </a: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.env</a:t>
            </a: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all with a key called </a:t>
            </a: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OPENAI_API_KEY</a:t>
            </a: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no way to tell them apart.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0372" y="4019489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Text 17"/>
          <p:cNvSpPr txBox="1"/>
          <p:nvPr/>
        </p:nvSpPr>
        <p:spPr>
          <a:xfrm>
            <a:off x="896112" y="3913876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export AWS_SECRET_ACCESS_KEY=…</a:t>
            </a: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sitting in </a:t>
            </a: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~/.zsh_history</a:t>
            </a: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in the clear.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0372" y="4581083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Text 19"/>
          <p:cNvSpPr txBox="1"/>
          <p:nvPr/>
        </p:nvSpPr>
        <p:spPr>
          <a:xfrm>
            <a:off x="896112" y="4475470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key was committed six months ago and nobody knows which repos still carry it.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90372" y="5142677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4" name="Text 21"/>
          <p:cNvSpPr txBox="1"/>
          <p:nvPr/>
        </p:nvSpPr>
        <p:spPr>
          <a:xfrm>
            <a:off x="896112" y="5037064"/>
            <a:ext cx="3082442" cy="408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record of who read which credential, or when.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90372" y="5514914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6" name="Text 23"/>
          <p:cNvSpPr txBox="1"/>
          <p:nvPr/>
        </p:nvSpPr>
        <p:spPr>
          <a:xfrm>
            <a:off x="896112" y="5409301"/>
            <a:ext cx="3082442" cy="408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New laptop = chasing credentials in Slack threads.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435754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070D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they use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435754" y="3039618"/>
            <a:ext cx="3320186" cy="0"/>
          </a:xfrm>
          <a:prstGeom prst="line">
            <a:avLst/>
          </a:prstGeom>
          <a:noFill/>
          <a:ln w="22860">
            <a:solidFill>
              <a:srgbClr val="4070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Shape 26"/>
          <p:cNvSpPr/>
          <p:nvPr/>
        </p:nvSpPr>
        <p:spPr>
          <a:xfrm>
            <a:off x="4467758" y="3256285"/>
            <a:ext cx="81610" cy="81610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0" name="Text 27"/>
          <p:cNvSpPr txBox="1"/>
          <p:nvPr/>
        </p:nvSpPr>
        <p:spPr>
          <a:xfrm>
            <a:off x="4673498" y="3170789"/>
            <a:ext cx="3082442" cy="5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7"/>
              </a:lnSpc>
              <a:buNone/>
            </a:pPr>
            <a:r>
              <a:rPr lang="en-US" sz="8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run</a:t>
            </a:r>
            <a:r>
              <a:rPr lang="en-US" sz="8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injects the scoped secrets into a child process and redacts them from its output. Nothing lands in the shell.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467758" y="3745743"/>
            <a:ext cx="81610" cy="81610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2" name="Text 29"/>
          <p:cNvSpPr txBox="1"/>
          <p:nvPr/>
        </p:nvSpPr>
        <p:spPr>
          <a:xfrm>
            <a:off x="4673498" y="3660247"/>
            <a:ext cx="3082442" cy="679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7"/>
              </a:lnSpc>
              <a:buNone/>
            </a:pPr>
            <a:r>
              <a:rPr lang="en-US" sz="8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deploy --target</a:t>
            </a:r>
            <a:r>
              <a:rPr lang="en-US" sz="8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renders to </a:t>
            </a:r>
            <a:r>
              <a:rPr lang="en-US" sz="76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dotenv · export · docker · k8s · json · aws-secrets · aws-ssm · github</a:t>
            </a:r>
            <a:r>
              <a:rPr lang="en-US" sz="8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Nothing is pushed; you pipe it.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467758" y="4388490"/>
            <a:ext cx="81610" cy="81610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4" name="Text 31"/>
          <p:cNvSpPr txBox="1"/>
          <p:nvPr/>
        </p:nvSpPr>
        <p:spPr>
          <a:xfrm>
            <a:off x="4673498" y="4302994"/>
            <a:ext cx="3082442" cy="5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7"/>
              </a:lnSpc>
              <a:buNone/>
            </a:pPr>
            <a:r>
              <a:rPr lang="en-US" sz="8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scan</a:t>
            </a:r>
            <a:r>
              <a:rPr lang="en-US" sz="8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sweeps a folder, shell history and live env vars, then imports what it finds tagged by origin.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467758" y="4877948"/>
            <a:ext cx="81610" cy="81610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6" name="Text 33"/>
          <p:cNvSpPr txBox="1"/>
          <p:nvPr/>
        </p:nvSpPr>
        <p:spPr>
          <a:xfrm>
            <a:off x="4673498" y="4792452"/>
            <a:ext cx="3082442" cy="5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7"/>
              </a:lnSpc>
              <a:buNone/>
            </a:pPr>
            <a:r>
              <a:rPr lang="en-US" sz="8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policy check</a:t>
            </a:r>
            <a:r>
              <a:rPr lang="en-US" sz="8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exits non-zero on any violation. Drop it in cron, a pre-commit hook or CI.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467758" y="5367406"/>
            <a:ext cx="81610" cy="81610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8" name="Text 35"/>
          <p:cNvSpPr txBox="1"/>
          <p:nvPr/>
        </p:nvSpPr>
        <p:spPr>
          <a:xfrm>
            <a:off x="4673498" y="5281910"/>
            <a:ext cx="3082442" cy="679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7"/>
              </a:lnSpc>
              <a:buNone/>
            </a:pPr>
            <a:r>
              <a:rPr lang="en-US" sz="8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gitscan</a:t>
            </a:r>
            <a:r>
              <a:rPr lang="en-US" sz="8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pickaxes git history and tracked files for vault values, then writes a cleanup guide (it never rewrites history for you).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467758" y="6010153"/>
            <a:ext cx="81610" cy="81610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0" name="Text 37"/>
          <p:cNvSpPr txBox="1"/>
          <p:nvPr/>
        </p:nvSpPr>
        <p:spPr>
          <a:xfrm>
            <a:off x="4673498" y="5924657"/>
            <a:ext cx="3082442" cy="5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7"/>
              </a:lnSpc>
              <a:buNone/>
            </a:pPr>
            <a:r>
              <a:rPr lang="en-US" sz="8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audit verify</a:t>
            </a:r>
            <a:r>
              <a:rPr lang="en-US" sz="8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recomputes the HMAC chain and the tail anchor.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8213141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they get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8213141" y="3039618"/>
            <a:ext cx="3320186" cy="0"/>
          </a:xfrm>
          <a:prstGeom prst="line">
            <a:avLst/>
          </a:prstGeom>
          <a:noFill/>
          <a:ln w="22860">
            <a:solidFill>
              <a:srgbClr val="2F9E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3" name="Shape 40"/>
          <p:cNvSpPr/>
          <p:nvPr/>
        </p:nvSpPr>
        <p:spPr>
          <a:xfrm>
            <a:off x="8245145" y="3268538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4" name="Text 41"/>
          <p:cNvSpPr txBox="1"/>
          <p:nvPr/>
        </p:nvSpPr>
        <p:spPr>
          <a:xfrm>
            <a:off x="8450885" y="3162925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Values never reach the terminal, the transcript or the log.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245145" y="3830132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6" name="Text 43"/>
          <p:cNvSpPr txBox="1"/>
          <p:nvPr/>
        </p:nvSpPr>
        <p:spPr>
          <a:xfrm>
            <a:off x="8450885" y="3724519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Scope is auto-detected from the git repo — </a:t>
            </a: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--repo</a:t>
            </a: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</a:t>
            </a: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--project</a:t>
            </a: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fill themselves in.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245145" y="4391726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8" name="Text 45"/>
          <p:cNvSpPr txBox="1"/>
          <p:nvPr/>
        </p:nvSpPr>
        <p:spPr>
          <a:xfrm>
            <a:off x="8450885" y="4286113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Most-specific scope wins at inject time: </a:t>
            </a: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acme/proj-a/prod</a:t>
            </a: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beats </a:t>
            </a: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proj-a</a:t>
            </a: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beats global.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8245145" y="4953320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0" name="Text 47"/>
          <p:cNvSpPr txBox="1"/>
          <p:nvPr/>
        </p:nvSpPr>
        <p:spPr>
          <a:xfrm>
            <a:off x="8450885" y="4847707"/>
            <a:ext cx="3082442" cy="408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Zero infrastructure to run, patch or pay for.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8245145" y="5325557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2" name="Text 49"/>
          <p:cNvSpPr txBox="1"/>
          <p:nvPr/>
        </p:nvSpPr>
        <p:spPr>
          <a:xfrm>
            <a:off x="8450885" y="5219944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vault is an encrypted SOPS file — it diffs and versions next to the code.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docs/cli-reference.md · docs/risks.md · docs/policy.md</a:t>
            </a:r>
            <a:endParaRPr lang="en-US" sz="850" dirty="0"/>
          </a:p>
        </p:txBody>
      </p:sp>
      <p:sp>
        <p:nvSpPr>
          <p:cNvPr id="54" name="Shape 0">
            <a:extLst>
              <a:ext uri="{FF2B5EF4-FFF2-40B4-BE49-F238E27FC236}">
                <a16:creationId xmlns:a16="http://schemas.microsoft.com/office/drawing/2014/main" id="{0B0CD8B0-96EF-0D0A-2D81-E2EFD4A817D0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55" name="Shape 1">
            <a:extLst>
              <a:ext uri="{FF2B5EF4-FFF2-40B4-BE49-F238E27FC236}">
                <a16:creationId xmlns:a16="http://schemas.microsoft.com/office/drawing/2014/main" id="{734594F7-60FA-AA9E-E892-FD6C1E06D29E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56" name="Image 0" descr="/home/claude/decks/kit2/worlds/../logos/concealer-logo.png">
            <a:extLst>
              <a:ext uri="{FF2B5EF4-FFF2-40B4-BE49-F238E27FC236}">
                <a16:creationId xmlns:a16="http://schemas.microsoft.com/office/drawing/2014/main" id="{7284F1EB-6F9B-E77A-206F-27F00B5DE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A2A9580-E1EE-4B6E-30E4-C8CE848F27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2961817" y="-560649"/>
            <a:ext cx="101673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2961817" y="-524210"/>
            <a:ext cx="1016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Who it's for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950976"/>
            <a:ext cx="1259332" cy="274320"/>
          </a:xfrm>
          <a:prstGeom prst="roundRect">
            <a:avLst>
              <a:gd name="adj" fmla="val 50000"/>
            </a:avLst>
          </a:prstGeom>
          <a:solidFill>
            <a:srgbClr val="F04A4A"/>
          </a:solidFill>
          <a:ln w="12700">
            <a:solidFill>
              <a:srgbClr val="F04A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9"/>
          <p:cNvSpPr txBox="1"/>
          <p:nvPr/>
        </p:nvSpPr>
        <p:spPr>
          <a:xfrm>
            <a:off x="658368" y="1023971"/>
            <a:ext cx="1259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kern="0" spc="51" dirty="0">
                <a:solidFill>
                  <a:srgbClr val="FFFF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Persona 02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1233343"/>
            <a:ext cx="10808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88"/>
              </a:lnSpc>
              <a:buNone/>
            </a:pPr>
            <a:r>
              <a:rPr lang="en-US" sz="3600" b="1" kern="0" spc="-86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Cloud Architect / Solution Architect</a:t>
            </a:r>
            <a:endParaRPr lang="en-US" sz="3600" b="1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1932630"/>
            <a:ext cx="95097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Runs demos, PoCs and pilots across many customers and three clouds. Has to defend the design in a security review — and hand the whole thing over without standing up a server.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pain today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" y="3039618"/>
            <a:ext cx="3320186" cy="0"/>
          </a:xfrm>
          <a:prstGeom prst="line">
            <a:avLst/>
          </a:prstGeom>
          <a:noFill/>
          <a:ln w="22860">
            <a:solidFill>
              <a:srgbClr val="F04A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Shape 14"/>
          <p:cNvSpPr/>
          <p:nvPr/>
        </p:nvSpPr>
        <p:spPr>
          <a:xfrm>
            <a:off x="690372" y="3268538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Text 15"/>
          <p:cNvSpPr txBox="1"/>
          <p:nvPr/>
        </p:nvSpPr>
        <p:spPr>
          <a:xfrm>
            <a:off x="896112" y="3162925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Customer credentials for a PoC mixed in with personal and internal keys.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0372" y="3830132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Text 17"/>
          <p:cNvSpPr txBox="1"/>
          <p:nvPr/>
        </p:nvSpPr>
        <p:spPr>
          <a:xfrm>
            <a:off x="896112" y="3724519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clouds, a dozen tenants, four environments — one flat namespace can't express that.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0372" y="4391726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Text 19"/>
          <p:cNvSpPr txBox="1"/>
          <p:nvPr/>
        </p:nvSpPr>
        <p:spPr>
          <a:xfrm>
            <a:off x="896112" y="4286113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security review asks "where does this credential go?" and the honest answer is a shrug.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90372" y="4953320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4" name="Text 21"/>
          <p:cNvSpPr txBox="1"/>
          <p:nvPr/>
        </p:nvSpPr>
        <p:spPr>
          <a:xfrm>
            <a:off x="896112" y="4847707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Standing up Vault for a two-week PoC is absurd; a SaaS vault means procurement and a DPA.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90372" y="5514914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6" name="Text 23"/>
          <p:cNvSpPr txBox="1"/>
          <p:nvPr/>
        </p:nvSpPr>
        <p:spPr>
          <a:xfrm>
            <a:off x="896112" y="5409301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vault is tied to one laptop's Keychain, so the handover is a rebuild.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435754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070D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they use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435754" y="3039618"/>
            <a:ext cx="3320186" cy="0"/>
          </a:xfrm>
          <a:prstGeom prst="line">
            <a:avLst/>
          </a:prstGeom>
          <a:noFill/>
          <a:ln w="22860">
            <a:solidFill>
              <a:srgbClr val="4070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Shape 26"/>
          <p:cNvSpPr/>
          <p:nvPr/>
        </p:nvSpPr>
        <p:spPr>
          <a:xfrm>
            <a:off x="4467758" y="3260880"/>
            <a:ext cx="88811" cy="88811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0" name="Text 27"/>
          <p:cNvSpPr txBox="1"/>
          <p:nvPr/>
        </p:nvSpPr>
        <p:spPr>
          <a:xfrm>
            <a:off x="4673498" y="3167840"/>
            <a:ext cx="3082442" cy="71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4"/>
              </a:lnSpc>
              <a:buNone/>
            </a:pPr>
            <a:r>
              <a:rPr lang="en-US" sz="92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tenant / project / environment / repo</a:t>
            </a: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as the taxonomy — the same </a:t>
            </a:r>
            <a:r>
              <a:rPr lang="en-US" sz="833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DATABASE_URL</a:t>
            </a: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exists once per customer and stage without name mangling.</a:t>
            </a:r>
            <a:endParaRPr lang="en-US" sz="925" dirty="0"/>
          </a:p>
        </p:txBody>
      </p:sp>
      <p:sp>
        <p:nvSpPr>
          <p:cNvPr id="31" name="Shape 28"/>
          <p:cNvSpPr/>
          <p:nvPr/>
        </p:nvSpPr>
        <p:spPr>
          <a:xfrm>
            <a:off x="4467758" y="3944203"/>
            <a:ext cx="88811" cy="88811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2" name="Text 29"/>
          <p:cNvSpPr txBox="1"/>
          <p:nvPr/>
        </p:nvSpPr>
        <p:spPr>
          <a:xfrm>
            <a:off x="4673498" y="3851163"/>
            <a:ext cx="3082442" cy="553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4"/>
              </a:lnSpc>
              <a:buNone/>
            </a:pP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</a:t>
            </a:r>
            <a:r>
              <a:rPr lang="en-US" sz="92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Web UI</a:t>
            </a: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as the console: type-aware forms, multi-select filters, sortable columns, per-secret deploy renderers.</a:t>
            </a:r>
            <a:endParaRPr lang="en-US" sz="925" dirty="0"/>
          </a:p>
        </p:txBody>
      </p:sp>
      <p:sp>
        <p:nvSpPr>
          <p:cNvPr id="33" name="Shape 30"/>
          <p:cNvSpPr/>
          <p:nvPr/>
        </p:nvSpPr>
        <p:spPr>
          <a:xfrm>
            <a:off x="4467758" y="4460712"/>
            <a:ext cx="88811" cy="88811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4" name="Text 31"/>
          <p:cNvSpPr txBox="1"/>
          <p:nvPr/>
        </p:nvSpPr>
        <p:spPr>
          <a:xfrm>
            <a:off x="4673498" y="4367672"/>
            <a:ext cx="3082442" cy="553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4"/>
              </a:lnSpc>
              <a:buNone/>
            </a:pP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</a:t>
            </a:r>
            <a:r>
              <a:rPr lang="en-US" sz="92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threat-model table</a:t>
            </a: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</a:t>
            </a:r>
            <a:r>
              <a:rPr lang="en-US" sz="92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documented ceilings</a:t>
            </a: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as review artefacts — including what the tool does </a:t>
            </a:r>
            <a:r>
              <a:rPr lang="en-US" sz="925" i="1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</a:t>
            </a: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protect.</a:t>
            </a:r>
            <a:endParaRPr lang="en-US" sz="925" dirty="0"/>
          </a:p>
        </p:txBody>
      </p:sp>
      <p:sp>
        <p:nvSpPr>
          <p:cNvPr id="35" name="Shape 32"/>
          <p:cNvSpPr/>
          <p:nvPr/>
        </p:nvSpPr>
        <p:spPr>
          <a:xfrm>
            <a:off x="4467758" y="4977221"/>
            <a:ext cx="88811" cy="88811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6" name="Text 33"/>
          <p:cNvSpPr txBox="1"/>
          <p:nvPr/>
        </p:nvSpPr>
        <p:spPr>
          <a:xfrm>
            <a:off x="4673498" y="4884181"/>
            <a:ext cx="3082442" cy="553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4"/>
              </a:lnSpc>
              <a:buNone/>
            </a:pPr>
            <a:r>
              <a:rPr lang="en-US" sz="92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export / import</a:t>
            </a: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one password-protected </a:t>
            </a:r>
            <a:r>
              <a:rPr lang="en-US" sz="833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.cerbak</a:t>
            </a: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bundle to hand to the customer.</a:t>
            </a:r>
            <a:endParaRPr lang="en-US" sz="925" dirty="0"/>
          </a:p>
        </p:txBody>
      </p:sp>
      <p:sp>
        <p:nvSpPr>
          <p:cNvPr id="37" name="Shape 34"/>
          <p:cNvSpPr/>
          <p:nvPr/>
        </p:nvSpPr>
        <p:spPr>
          <a:xfrm>
            <a:off x="4467758" y="5493730"/>
            <a:ext cx="88811" cy="88811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8" name="Text 35"/>
          <p:cNvSpPr txBox="1"/>
          <p:nvPr/>
        </p:nvSpPr>
        <p:spPr>
          <a:xfrm>
            <a:off x="4673498" y="5400690"/>
            <a:ext cx="3082442" cy="71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4"/>
              </a:lnSpc>
              <a:buNone/>
            </a:pPr>
            <a:r>
              <a:rPr lang="en-US" sz="92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Portability</a:t>
            </a: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: copy </a:t>
            </a:r>
            <a:r>
              <a:rPr lang="en-US" sz="833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secrets.enc.yaml</a:t>
            </a: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+ </a:t>
            </a:r>
            <a:r>
              <a:rPr lang="en-US" sz="833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keys/</a:t>
            </a: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type the master password on the new machine. No TPM, no Keychain, no re-key.</a:t>
            </a:r>
            <a:endParaRPr lang="en-US" sz="925" dirty="0"/>
          </a:p>
        </p:txBody>
      </p:sp>
      <p:sp>
        <p:nvSpPr>
          <p:cNvPr id="39" name="Shape 36"/>
          <p:cNvSpPr/>
          <p:nvPr/>
        </p:nvSpPr>
        <p:spPr>
          <a:xfrm>
            <a:off x="4467758" y="6177054"/>
            <a:ext cx="88811" cy="88811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0" name="Text 37"/>
          <p:cNvSpPr txBox="1"/>
          <p:nvPr/>
        </p:nvSpPr>
        <p:spPr>
          <a:xfrm>
            <a:off x="4673498" y="6084014"/>
            <a:ext cx="3082442" cy="386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4"/>
              </a:lnSpc>
              <a:buNone/>
            </a:pP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</a:t>
            </a:r>
            <a:r>
              <a:rPr lang="en-US" sz="92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comparison matrix</a:t>
            </a: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for the build-vs-buy conversation.</a:t>
            </a:r>
            <a:endParaRPr lang="en-US" sz="925" dirty="0"/>
          </a:p>
        </p:txBody>
      </p:sp>
      <p:sp>
        <p:nvSpPr>
          <p:cNvPr id="41" name="Text 38"/>
          <p:cNvSpPr txBox="1"/>
          <p:nvPr/>
        </p:nvSpPr>
        <p:spPr>
          <a:xfrm>
            <a:off x="8213141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they get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8213141" y="3039618"/>
            <a:ext cx="3320186" cy="0"/>
          </a:xfrm>
          <a:prstGeom prst="line">
            <a:avLst/>
          </a:prstGeom>
          <a:noFill/>
          <a:ln w="22860">
            <a:solidFill>
              <a:srgbClr val="2F9E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3" name="Shape 40"/>
          <p:cNvSpPr/>
          <p:nvPr/>
        </p:nvSpPr>
        <p:spPr>
          <a:xfrm>
            <a:off x="8245145" y="3268538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4" name="Text 41"/>
          <p:cNvSpPr txBox="1"/>
          <p:nvPr/>
        </p:nvSpPr>
        <p:spPr>
          <a:xfrm>
            <a:off x="8450885" y="3162925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server, no container, no cloud tenant, no procurement — </a:t>
            </a: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init</a:t>
            </a: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there is a vault.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245145" y="3830132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6" name="Text 43"/>
          <p:cNvSpPr txBox="1"/>
          <p:nvPr/>
        </p:nvSpPr>
        <p:spPr>
          <a:xfrm>
            <a:off x="8450885" y="3724519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Crypto is delegated to </a:t>
            </a: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SOPS</a:t>
            </a: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(CNCF) and </a:t>
            </a: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age</a:t>
            </a: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: AES-256-GCM over X25519. Nothing home-grown.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245145" y="4391726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8" name="Text 45"/>
          <p:cNvSpPr txBox="1"/>
          <p:nvPr/>
        </p:nvSpPr>
        <p:spPr>
          <a:xfrm>
            <a:off x="8450885" y="4286113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readable MIT-licensed Python script a customer's security team can actually read.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8245145" y="4953320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0" name="Text 47"/>
          <p:cNvSpPr txBox="1"/>
          <p:nvPr/>
        </p:nvSpPr>
        <p:spPr>
          <a:xfrm>
            <a:off x="8450885" y="4847707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copied folder is </a:t>
            </a: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inert</a:t>
            </a: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without the master password or a recovery code.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8245145" y="5514914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2" name="Text 49"/>
          <p:cNvSpPr txBox="1"/>
          <p:nvPr/>
        </p:nvSpPr>
        <p:spPr>
          <a:xfrm>
            <a:off x="8450885" y="5409301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PII types by design — this is a machine-credential vault, not an identity store.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docs/security.md · docs/portability.md · docs/comparison.md</a:t>
            </a:r>
            <a:endParaRPr lang="en-US" sz="850" dirty="0"/>
          </a:p>
        </p:txBody>
      </p:sp>
      <p:sp>
        <p:nvSpPr>
          <p:cNvPr id="54" name="Shape 0">
            <a:extLst>
              <a:ext uri="{FF2B5EF4-FFF2-40B4-BE49-F238E27FC236}">
                <a16:creationId xmlns:a16="http://schemas.microsoft.com/office/drawing/2014/main" id="{1F04FB32-C11A-A8BC-DA4D-95459EBD4EA5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55" name="Shape 1">
            <a:extLst>
              <a:ext uri="{FF2B5EF4-FFF2-40B4-BE49-F238E27FC236}">
                <a16:creationId xmlns:a16="http://schemas.microsoft.com/office/drawing/2014/main" id="{07A80FEE-9878-B93F-BD6D-474258AEDE3F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56" name="Image 0" descr="/home/claude/decks/kit2/worlds/../logos/concealer-logo.png">
            <a:extLst>
              <a:ext uri="{FF2B5EF4-FFF2-40B4-BE49-F238E27FC236}">
                <a16:creationId xmlns:a16="http://schemas.microsoft.com/office/drawing/2014/main" id="{11BA7183-72B8-661C-5FA3-78E3547D1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ED777E5-1B00-7978-0965-7E10D087CA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2908297" y="-702777"/>
            <a:ext cx="101673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2908297" y="-666338"/>
            <a:ext cx="1016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Who it's for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950976"/>
            <a:ext cx="1259332" cy="274320"/>
          </a:xfrm>
          <a:prstGeom prst="roundRect">
            <a:avLst>
              <a:gd name="adj" fmla="val 50000"/>
            </a:avLst>
          </a:prstGeom>
          <a:solidFill>
            <a:srgbClr val="F04A4A"/>
          </a:solidFill>
          <a:ln w="12700">
            <a:solidFill>
              <a:srgbClr val="F04A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9"/>
          <p:cNvSpPr txBox="1"/>
          <p:nvPr/>
        </p:nvSpPr>
        <p:spPr>
          <a:xfrm>
            <a:off x="658368" y="1023971"/>
            <a:ext cx="1259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kern="0" spc="51" dirty="0">
                <a:solidFill>
                  <a:srgbClr val="FFFF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Persona 03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1233343"/>
            <a:ext cx="10808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88"/>
              </a:lnSpc>
              <a:buNone/>
            </a:pPr>
            <a:r>
              <a:rPr lang="en-US" sz="3600" b="1" kern="0" spc="-86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End User</a:t>
            </a:r>
            <a:endParaRPr lang="en-US" sz="3600" b="1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1932630"/>
            <a:ext cx="95097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 a DevOps engineer. Has Wi-Fi passwords, door PINs, logins and a couple of API keys — and wants none of it in a notes app, a browser profile or someone else's cloud.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pain today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" y="3039618"/>
            <a:ext cx="3320186" cy="0"/>
          </a:xfrm>
          <a:prstGeom prst="line">
            <a:avLst/>
          </a:prstGeom>
          <a:noFill/>
          <a:ln w="22860">
            <a:solidFill>
              <a:srgbClr val="F04A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Shape 14"/>
          <p:cNvSpPr/>
          <p:nvPr/>
        </p:nvSpPr>
        <p:spPr>
          <a:xfrm>
            <a:off x="690372" y="3268538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Text 15"/>
          <p:cNvSpPr txBox="1"/>
          <p:nvPr/>
        </p:nvSpPr>
        <p:spPr>
          <a:xfrm>
            <a:off x="896112" y="3162925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Passwords in a notes file, a spreadsheet, or the browser's password manager.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0372" y="3830132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Text 17"/>
          <p:cNvSpPr txBox="1"/>
          <p:nvPr/>
        </p:nvSpPr>
        <p:spPr>
          <a:xfrm>
            <a:off x="896112" y="3724519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same password reused across half a dozen sites, with no idea which ones have leaked.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0372" y="4391726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Text 19"/>
          <p:cNvSpPr txBox="1"/>
          <p:nvPr/>
        </p:nvSpPr>
        <p:spPr>
          <a:xfrm>
            <a:off x="896112" y="4286113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Another $3–12 a month subscription, and an account on someone else's server.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90372" y="4953320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4" name="Text 21"/>
          <p:cNvSpPr txBox="1"/>
          <p:nvPr/>
        </p:nvSpPr>
        <p:spPr>
          <a:xfrm>
            <a:off x="896112" y="4847707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Forgetting the master password means losing everything.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4435754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070D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they use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435754" y="3039618"/>
            <a:ext cx="3320186" cy="0"/>
          </a:xfrm>
          <a:prstGeom prst="line">
            <a:avLst/>
          </a:prstGeom>
          <a:noFill/>
          <a:ln w="22860">
            <a:solidFill>
              <a:srgbClr val="4070D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Shape 24"/>
          <p:cNvSpPr/>
          <p:nvPr/>
        </p:nvSpPr>
        <p:spPr>
          <a:xfrm>
            <a:off x="4467758" y="3265475"/>
            <a:ext cx="96012" cy="96012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8" name="Text 25"/>
          <p:cNvSpPr txBox="1"/>
          <p:nvPr/>
        </p:nvSpPr>
        <p:spPr>
          <a:xfrm>
            <a:off x="4673498" y="3164891"/>
            <a:ext cx="3082442" cy="76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</a:t>
            </a:r>
            <a:r>
              <a:rPr lang="en-US" sz="10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Chrome extension</a:t>
            </a: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: click the toolbar icon, unlock, copy. Multi-field secrets expand so you copy exactly the field you need.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467758" y="3989375"/>
            <a:ext cx="96012" cy="96012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0" name="Text 27"/>
          <p:cNvSpPr txBox="1"/>
          <p:nvPr/>
        </p:nvSpPr>
        <p:spPr>
          <a:xfrm>
            <a:off x="4673498" y="3888791"/>
            <a:ext cx="3082442" cy="76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</a:t>
            </a:r>
            <a:r>
              <a:rPr lang="en-US" sz="10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Web UI</a:t>
            </a: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at </a:t>
            </a: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</a:t>
            </a: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fully bilingual TR/EN, with forms for </a:t>
            </a: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wifi · pin · login · website · membership · secure_note</a:t>
            </a: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467758" y="4713275"/>
            <a:ext cx="96012" cy="96012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2" name="Text 29"/>
          <p:cNvSpPr txBox="1"/>
          <p:nvPr/>
        </p:nvSpPr>
        <p:spPr>
          <a:xfrm>
            <a:off x="4673498" y="4612691"/>
            <a:ext cx="3082442" cy="58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0"/>
              </a:lnSpc>
              <a:buNone/>
            </a:pPr>
            <a:r>
              <a:rPr lang="en-US" sz="10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🎲 Generate</a:t>
            </a: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for strong passwords, hex, base64url or a UUID — one click to copy.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467758" y="5256835"/>
            <a:ext cx="96012" cy="96012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4" name="Text 31"/>
          <p:cNvSpPr txBox="1"/>
          <p:nvPr/>
        </p:nvSpPr>
        <p:spPr>
          <a:xfrm>
            <a:off x="4673498" y="5156251"/>
            <a:ext cx="3082442" cy="58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0"/>
              </a:lnSpc>
              <a:buNone/>
            </a:pPr>
            <a:r>
              <a:rPr lang="en-US" sz="10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Risks → Exposure</a:t>
            </a: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: check a value against HIBP Pwned Passwords, and an address against HIBP breaches.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467758" y="5800395"/>
            <a:ext cx="96012" cy="96012"/>
          </a:xfrm>
          <a:prstGeom prst="ellipse">
            <a:avLst/>
          </a:prstGeom>
          <a:solidFill>
            <a:srgbClr val="4070D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6" name="Text 33"/>
          <p:cNvSpPr txBox="1"/>
          <p:nvPr/>
        </p:nvSpPr>
        <p:spPr>
          <a:xfrm>
            <a:off x="4673498" y="5699811"/>
            <a:ext cx="3082442" cy="58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0"/>
              </a:lnSpc>
              <a:buNone/>
            </a:pPr>
            <a:r>
              <a:rPr lang="en-US" sz="10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8 recovery codes</a:t>
            </a: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printed at setup — any one of them gets you back in.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8213141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they get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8213141" y="3039618"/>
            <a:ext cx="3320186" cy="0"/>
          </a:xfrm>
          <a:prstGeom prst="line">
            <a:avLst/>
          </a:prstGeom>
          <a:noFill/>
          <a:ln w="22860">
            <a:solidFill>
              <a:srgbClr val="2F9E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9" name="Shape 36"/>
          <p:cNvSpPr/>
          <p:nvPr/>
        </p:nvSpPr>
        <p:spPr>
          <a:xfrm>
            <a:off x="8245145" y="3268538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0" name="Text 37"/>
          <p:cNvSpPr txBox="1"/>
          <p:nvPr/>
        </p:nvSpPr>
        <p:spPr>
          <a:xfrm>
            <a:off x="8450885" y="3162925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account, no subscription, no sync server. Nothing leaves the machine.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245145" y="3830132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2" name="Text 39"/>
          <p:cNvSpPr txBox="1"/>
          <p:nvPr/>
        </p:nvSpPr>
        <p:spPr>
          <a:xfrm>
            <a:off x="8450885" y="3724519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Clipboard auto-clears after 20 s; the session auto-locks on idle (300 s by default).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8245145" y="4391726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4" name="Text 41"/>
          <p:cNvSpPr txBox="1"/>
          <p:nvPr/>
        </p:nvSpPr>
        <p:spPr>
          <a:xfrm>
            <a:off x="8450885" y="4286113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Leak checks use </a:t>
            </a: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k-anonymity</a:t>
            </a: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only the first 5 hex characters of a SHA-1 ever leave the box.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245145" y="4953320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6" name="Text 43"/>
          <p:cNvSpPr txBox="1"/>
          <p:nvPr/>
        </p:nvSpPr>
        <p:spPr>
          <a:xfrm>
            <a:off x="8450885" y="4847707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themes (Dark · White · Matrix) and a Turkish interface throughout.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245145" y="5514914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8" name="Text 45"/>
          <p:cNvSpPr txBox="1"/>
          <p:nvPr/>
        </p:nvSpPr>
        <p:spPr>
          <a:xfrm>
            <a:off x="8450885" y="5409301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Honest limits: no mobile app and no browser autofill — the copy button is the workflow.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docs/chrome-extension.md · docs/web-ui.md · docs/risks.md</a:t>
            </a:r>
            <a:endParaRPr lang="en-US" sz="850" dirty="0"/>
          </a:p>
        </p:txBody>
      </p:sp>
      <p:sp>
        <p:nvSpPr>
          <p:cNvPr id="50" name="Shape 0">
            <a:extLst>
              <a:ext uri="{FF2B5EF4-FFF2-40B4-BE49-F238E27FC236}">
                <a16:creationId xmlns:a16="http://schemas.microsoft.com/office/drawing/2014/main" id="{5E52F98C-F385-1A39-D8E3-84546C7BAB6C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51" name="Shape 1">
            <a:extLst>
              <a:ext uri="{FF2B5EF4-FFF2-40B4-BE49-F238E27FC236}">
                <a16:creationId xmlns:a16="http://schemas.microsoft.com/office/drawing/2014/main" id="{FEA108FB-D641-A438-69AE-D24D95865C59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52" name="Image 0" descr="/home/claude/decks/kit2/worlds/../logos/concealer-logo.png">
            <a:extLst>
              <a:ext uri="{FF2B5EF4-FFF2-40B4-BE49-F238E27FC236}">
                <a16:creationId xmlns:a16="http://schemas.microsoft.com/office/drawing/2014/main" id="{3995E338-928C-A2F0-5587-10898E3E8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6728E0B2-0DF9-5262-763C-3176E7B24A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2996422" y="-530203"/>
            <a:ext cx="1017403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2996422" y="-493764"/>
            <a:ext cx="10174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market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5762"/>
            <a:ext cx="6225652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kern="0" spc="-72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Local-only, zero-infra, agent-native — the gap the other three markets leave open.</a:t>
            </a:r>
            <a:endParaRPr lang="en-US" sz="3000" b="1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21353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✓ yes    ~ partial    ✕ no    ★ only concealer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58368" y="2253234"/>
            <a:ext cx="10874959" cy="310896"/>
          </a:xfrm>
          <a:prstGeom prst="roundRect">
            <a:avLst>
              <a:gd name="adj" fmla="val 14706"/>
            </a:avLst>
          </a:prstGeom>
          <a:solidFill>
            <a:srgbClr val="1B1B2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4" name="Text 11"/>
          <p:cNvSpPr txBox="1"/>
          <p:nvPr/>
        </p:nvSpPr>
        <p:spPr>
          <a:xfrm>
            <a:off x="786384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Capability</a:t>
            </a:r>
            <a:endParaRPr lang="en-US" sz="600" dirty="0"/>
          </a:p>
        </p:txBody>
      </p:sp>
      <p:sp>
        <p:nvSpPr>
          <p:cNvPr id="15" name="Text 12"/>
          <p:cNvSpPr txBox="1"/>
          <p:nvPr/>
        </p:nvSpPr>
        <p:spPr>
          <a:xfrm>
            <a:off x="2145754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concealer</a:t>
            </a:r>
            <a:endParaRPr lang="en-US" sz="600" dirty="0"/>
          </a:p>
        </p:txBody>
      </p:sp>
      <p:sp>
        <p:nvSpPr>
          <p:cNvPr id="16" name="Text 13"/>
          <p:cNvSpPr txBox="1"/>
          <p:nvPr/>
        </p:nvSpPr>
        <p:spPr>
          <a:xfrm>
            <a:off x="3505124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1Password / Bitwarden</a:t>
            </a:r>
            <a:endParaRPr lang="en-US" sz="600" dirty="0"/>
          </a:p>
        </p:txBody>
      </p:sp>
      <p:sp>
        <p:nvSpPr>
          <p:cNvPr id="17" name="Text 14"/>
          <p:cNvSpPr txBox="1"/>
          <p:nvPr/>
        </p:nvSpPr>
        <p:spPr>
          <a:xfrm>
            <a:off x="4864494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HashiCorp Vault</a:t>
            </a:r>
            <a:endParaRPr lang="en-US" sz="600" dirty="0"/>
          </a:p>
        </p:txBody>
      </p:sp>
      <p:sp>
        <p:nvSpPr>
          <p:cNvPr id="18" name="Text 15"/>
          <p:cNvSpPr txBox="1"/>
          <p:nvPr/>
        </p:nvSpPr>
        <p:spPr>
          <a:xfrm>
            <a:off x="6223864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Doppler / Infisical</a:t>
            </a:r>
            <a:endParaRPr lang="en-US" sz="600" dirty="0"/>
          </a:p>
        </p:txBody>
      </p:sp>
      <p:sp>
        <p:nvSpPr>
          <p:cNvPr id="19" name="Text 16"/>
          <p:cNvSpPr txBox="1"/>
          <p:nvPr/>
        </p:nvSpPr>
        <p:spPr>
          <a:xfrm>
            <a:off x="7583234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SOPS + age (raw)</a:t>
            </a:r>
            <a:endParaRPr lang="en-US" sz="600" dirty="0"/>
          </a:p>
        </p:txBody>
      </p:sp>
      <p:sp>
        <p:nvSpPr>
          <p:cNvPr id="20" name="Text 17"/>
          <p:cNvSpPr txBox="1"/>
          <p:nvPr/>
        </p:nvSpPr>
        <p:spPr>
          <a:xfrm>
            <a:off x="8942603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pass / gopass</a:t>
            </a:r>
            <a:endParaRPr lang="en-US" sz="600" dirty="0"/>
          </a:p>
        </p:txBody>
      </p:sp>
      <p:sp>
        <p:nvSpPr>
          <p:cNvPr id="21" name="Text 18"/>
          <p:cNvSpPr txBox="1"/>
          <p:nvPr/>
        </p:nvSpPr>
        <p:spPr>
          <a:xfrm>
            <a:off x="10301973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secretctl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658368" y="2564130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Text 20"/>
          <p:cNvSpPr txBox="1"/>
          <p:nvPr/>
        </p:nvSpPr>
        <p:spPr>
          <a:xfrm>
            <a:off x="786384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Deployment</a:t>
            </a:r>
            <a:endParaRPr lang="en-US" sz="600" dirty="0"/>
          </a:p>
        </p:txBody>
      </p:sp>
      <p:sp>
        <p:nvSpPr>
          <p:cNvPr id="24" name="Text 21"/>
          <p:cNvSpPr txBox="1"/>
          <p:nvPr/>
        </p:nvSpPr>
        <p:spPr>
          <a:xfrm>
            <a:off x="2145754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Local, single file</a:t>
            </a:r>
            <a:endParaRPr lang="en-US" sz="600" dirty="0"/>
          </a:p>
        </p:txBody>
      </p:sp>
      <p:sp>
        <p:nvSpPr>
          <p:cNvPr id="25" name="Text 22"/>
          <p:cNvSpPr txBox="1"/>
          <p:nvPr/>
        </p:nvSpPr>
        <p:spPr>
          <a:xfrm>
            <a:off x="3505124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SaaS</a:t>
            </a:r>
            <a:endParaRPr lang="en-US" sz="600" dirty="0"/>
          </a:p>
        </p:txBody>
      </p:sp>
      <p:sp>
        <p:nvSpPr>
          <p:cNvPr id="26" name="Text 23"/>
          <p:cNvSpPr txBox="1"/>
          <p:nvPr/>
        </p:nvSpPr>
        <p:spPr>
          <a:xfrm>
            <a:off x="4864494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Self-host / HCP</a:t>
            </a:r>
            <a:endParaRPr lang="en-US" sz="600" dirty="0"/>
          </a:p>
        </p:txBody>
      </p:sp>
      <p:sp>
        <p:nvSpPr>
          <p:cNvPr id="27" name="Text 24"/>
          <p:cNvSpPr txBox="1"/>
          <p:nvPr/>
        </p:nvSpPr>
        <p:spPr>
          <a:xfrm>
            <a:off x="6223864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SaaS (or self-host)</a:t>
            </a:r>
            <a:endParaRPr lang="en-US" sz="600" dirty="0"/>
          </a:p>
        </p:txBody>
      </p:sp>
      <p:sp>
        <p:nvSpPr>
          <p:cNvPr id="28" name="Text 25"/>
          <p:cNvSpPr txBox="1"/>
          <p:nvPr/>
        </p:nvSpPr>
        <p:spPr>
          <a:xfrm>
            <a:off x="7583234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Local</a:t>
            </a:r>
            <a:endParaRPr lang="en-US" sz="600" dirty="0"/>
          </a:p>
        </p:txBody>
      </p:sp>
      <p:sp>
        <p:nvSpPr>
          <p:cNvPr id="29" name="Text 26"/>
          <p:cNvSpPr txBox="1"/>
          <p:nvPr/>
        </p:nvSpPr>
        <p:spPr>
          <a:xfrm>
            <a:off x="8942603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Local</a:t>
            </a:r>
            <a:endParaRPr lang="en-US" sz="600" dirty="0"/>
          </a:p>
        </p:txBody>
      </p:sp>
      <p:sp>
        <p:nvSpPr>
          <p:cNvPr id="30" name="Text 27"/>
          <p:cNvSpPr txBox="1"/>
          <p:nvPr/>
        </p:nvSpPr>
        <p:spPr>
          <a:xfrm>
            <a:off x="10301973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Local, single binary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658368" y="2843022"/>
            <a:ext cx="10874959" cy="278892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2" name="Shape 29"/>
          <p:cNvSpPr/>
          <p:nvPr/>
        </p:nvSpPr>
        <p:spPr>
          <a:xfrm>
            <a:off x="658368" y="284302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Text 30"/>
          <p:cNvSpPr txBox="1"/>
          <p:nvPr/>
        </p:nvSpPr>
        <p:spPr>
          <a:xfrm>
            <a:off x="786384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Server or daemon needed</a:t>
            </a:r>
            <a:endParaRPr lang="en-US" sz="600" dirty="0"/>
          </a:p>
        </p:txBody>
      </p:sp>
      <p:sp>
        <p:nvSpPr>
          <p:cNvPr id="34" name="Text 31"/>
          <p:cNvSpPr txBox="1"/>
          <p:nvPr/>
        </p:nvSpPr>
        <p:spPr>
          <a:xfrm>
            <a:off x="2145754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 none</a:t>
            </a:r>
            <a:endParaRPr lang="en-US" sz="600" dirty="0"/>
          </a:p>
        </p:txBody>
      </p:sp>
      <p:sp>
        <p:nvSpPr>
          <p:cNvPr id="35" name="Text 32"/>
          <p:cNvSpPr txBox="1"/>
          <p:nvPr/>
        </p:nvSpPr>
        <p:spPr>
          <a:xfrm>
            <a:off x="3505124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cloud</a:t>
            </a:r>
            <a:endParaRPr lang="en-US" sz="600" dirty="0"/>
          </a:p>
        </p:txBody>
      </p:sp>
      <p:sp>
        <p:nvSpPr>
          <p:cNvPr id="36" name="Text 33"/>
          <p:cNvSpPr txBox="1"/>
          <p:nvPr/>
        </p:nvSpPr>
        <p:spPr>
          <a:xfrm>
            <a:off x="4864494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 server</a:t>
            </a:r>
            <a:endParaRPr lang="en-US" sz="600" dirty="0"/>
          </a:p>
        </p:txBody>
      </p:sp>
      <p:sp>
        <p:nvSpPr>
          <p:cNvPr id="37" name="Text 34"/>
          <p:cNvSpPr txBox="1"/>
          <p:nvPr/>
        </p:nvSpPr>
        <p:spPr>
          <a:xfrm>
            <a:off x="6223864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38" name="Text 35"/>
          <p:cNvSpPr txBox="1"/>
          <p:nvPr/>
        </p:nvSpPr>
        <p:spPr>
          <a:xfrm>
            <a:off x="7583234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39" name="Text 36"/>
          <p:cNvSpPr txBox="1"/>
          <p:nvPr/>
        </p:nvSpPr>
        <p:spPr>
          <a:xfrm>
            <a:off x="8942603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40" name="Text 37"/>
          <p:cNvSpPr txBox="1"/>
          <p:nvPr/>
        </p:nvSpPr>
        <p:spPr>
          <a:xfrm>
            <a:off x="10301973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 none</a:t>
            </a:r>
            <a:endParaRPr lang="en-US" sz="600" dirty="0"/>
          </a:p>
        </p:txBody>
      </p:sp>
      <p:sp>
        <p:nvSpPr>
          <p:cNvPr id="41" name="Shape 38"/>
          <p:cNvSpPr/>
          <p:nvPr/>
        </p:nvSpPr>
        <p:spPr>
          <a:xfrm>
            <a:off x="658368" y="3121914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2" name="Text 39"/>
          <p:cNvSpPr txBox="1"/>
          <p:nvPr/>
        </p:nvSpPr>
        <p:spPr>
          <a:xfrm>
            <a:off x="786384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Cost</a:t>
            </a:r>
            <a:endParaRPr lang="en-US" sz="600" dirty="0"/>
          </a:p>
        </p:txBody>
      </p:sp>
      <p:sp>
        <p:nvSpPr>
          <p:cNvPr id="43" name="Text 40"/>
          <p:cNvSpPr txBox="1"/>
          <p:nvPr/>
        </p:nvSpPr>
        <p:spPr>
          <a:xfrm>
            <a:off x="2145754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Free (MIT)</a:t>
            </a:r>
            <a:endParaRPr lang="en-US" sz="600" dirty="0"/>
          </a:p>
        </p:txBody>
      </p:sp>
      <p:sp>
        <p:nvSpPr>
          <p:cNvPr id="44" name="Text 41"/>
          <p:cNvSpPr txBox="1"/>
          <p:nvPr/>
        </p:nvSpPr>
        <p:spPr>
          <a:xfrm>
            <a:off x="3505124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~$3–12 / user / mo</a:t>
            </a:r>
            <a:endParaRPr lang="en-US" sz="600" dirty="0"/>
          </a:p>
        </p:txBody>
      </p:sp>
      <p:sp>
        <p:nvSpPr>
          <p:cNvPr id="45" name="Text 42"/>
          <p:cNvSpPr txBox="1"/>
          <p:nvPr/>
        </p:nvSpPr>
        <p:spPr>
          <a:xfrm>
            <a:off x="4864494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Free OSS / $$$ ent.</a:t>
            </a:r>
            <a:endParaRPr lang="en-US" sz="600" dirty="0"/>
          </a:p>
        </p:txBody>
      </p:sp>
      <p:sp>
        <p:nvSpPr>
          <p:cNvPr id="46" name="Text 43"/>
          <p:cNvSpPr txBox="1"/>
          <p:nvPr/>
        </p:nvSpPr>
        <p:spPr>
          <a:xfrm>
            <a:off x="6223864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paid tiers</a:t>
            </a:r>
            <a:endParaRPr lang="en-US" sz="600" dirty="0"/>
          </a:p>
        </p:txBody>
      </p:sp>
      <p:sp>
        <p:nvSpPr>
          <p:cNvPr id="47" name="Text 44"/>
          <p:cNvSpPr txBox="1"/>
          <p:nvPr/>
        </p:nvSpPr>
        <p:spPr>
          <a:xfrm>
            <a:off x="7583234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Free</a:t>
            </a:r>
            <a:endParaRPr lang="en-US" sz="600" dirty="0"/>
          </a:p>
        </p:txBody>
      </p:sp>
      <p:sp>
        <p:nvSpPr>
          <p:cNvPr id="48" name="Text 45"/>
          <p:cNvSpPr txBox="1"/>
          <p:nvPr/>
        </p:nvSpPr>
        <p:spPr>
          <a:xfrm>
            <a:off x="8942603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Free</a:t>
            </a:r>
            <a:endParaRPr lang="en-US" sz="600" dirty="0"/>
          </a:p>
        </p:txBody>
      </p:sp>
      <p:sp>
        <p:nvSpPr>
          <p:cNvPr id="49" name="Text 46"/>
          <p:cNvSpPr txBox="1"/>
          <p:nvPr/>
        </p:nvSpPr>
        <p:spPr>
          <a:xfrm>
            <a:off x="10301973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Free</a:t>
            </a:r>
            <a:endParaRPr lang="en-US" sz="600" dirty="0"/>
          </a:p>
        </p:txBody>
      </p:sp>
      <p:sp>
        <p:nvSpPr>
          <p:cNvPr id="50" name="Shape 47"/>
          <p:cNvSpPr/>
          <p:nvPr/>
        </p:nvSpPr>
        <p:spPr>
          <a:xfrm>
            <a:off x="658368" y="3400806"/>
            <a:ext cx="10874959" cy="278892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1" name="Shape 48"/>
          <p:cNvSpPr/>
          <p:nvPr/>
        </p:nvSpPr>
        <p:spPr>
          <a:xfrm>
            <a:off x="658368" y="3400806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2" name="Text 49"/>
          <p:cNvSpPr txBox="1"/>
          <p:nvPr/>
        </p:nvSpPr>
        <p:spPr>
          <a:xfrm>
            <a:off x="786384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Git-versionable vault</a:t>
            </a:r>
            <a:endParaRPr lang="en-US" sz="600" dirty="0"/>
          </a:p>
        </p:txBody>
      </p:sp>
      <p:sp>
        <p:nvSpPr>
          <p:cNvPr id="53" name="Text 50"/>
          <p:cNvSpPr txBox="1"/>
          <p:nvPr/>
        </p:nvSpPr>
        <p:spPr>
          <a:xfrm>
            <a:off x="2145754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 values encrypted</a:t>
            </a:r>
            <a:endParaRPr lang="en-US" sz="600" dirty="0"/>
          </a:p>
        </p:txBody>
      </p:sp>
      <p:sp>
        <p:nvSpPr>
          <p:cNvPr id="54" name="Text 51"/>
          <p:cNvSpPr txBox="1"/>
          <p:nvPr/>
        </p:nvSpPr>
        <p:spPr>
          <a:xfrm>
            <a:off x="3505124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55" name="Text 52"/>
          <p:cNvSpPr txBox="1"/>
          <p:nvPr/>
        </p:nvSpPr>
        <p:spPr>
          <a:xfrm>
            <a:off x="4864494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endParaRPr lang="en-US" sz="600" dirty="0"/>
          </a:p>
        </p:txBody>
      </p:sp>
      <p:sp>
        <p:nvSpPr>
          <p:cNvPr id="56" name="Text 53"/>
          <p:cNvSpPr txBox="1"/>
          <p:nvPr/>
        </p:nvSpPr>
        <p:spPr>
          <a:xfrm>
            <a:off x="6223864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57" name="Text 54"/>
          <p:cNvSpPr txBox="1"/>
          <p:nvPr/>
        </p:nvSpPr>
        <p:spPr>
          <a:xfrm>
            <a:off x="7583234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58" name="Text 55"/>
          <p:cNvSpPr txBox="1"/>
          <p:nvPr/>
        </p:nvSpPr>
        <p:spPr>
          <a:xfrm>
            <a:off x="8942603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59" name="Text 56"/>
          <p:cNvSpPr txBox="1"/>
          <p:nvPr/>
        </p:nvSpPr>
        <p:spPr>
          <a:xfrm>
            <a:off x="10301973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 SQLite blob</a:t>
            </a:r>
            <a:endParaRPr lang="en-US" sz="600" dirty="0"/>
          </a:p>
        </p:txBody>
      </p:sp>
      <p:sp>
        <p:nvSpPr>
          <p:cNvPr id="60" name="Shape 57"/>
          <p:cNvSpPr/>
          <p:nvPr/>
        </p:nvSpPr>
        <p:spPr>
          <a:xfrm>
            <a:off x="658368" y="3679698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1" name="Text 58"/>
          <p:cNvSpPr txBox="1"/>
          <p:nvPr/>
        </p:nvSpPr>
        <p:spPr>
          <a:xfrm>
            <a:off x="786384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Typed secrets (db / api / ssh…)</a:t>
            </a: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 ★</a:t>
            </a:r>
            <a:endParaRPr lang="en-US" sz="600" dirty="0"/>
          </a:p>
        </p:txBody>
      </p:sp>
      <p:sp>
        <p:nvSpPr>
          <p:cNvPr id="62" name="Text 59"/>
          <p:cNvSpPr txBox="1"/>
          <p:nvPr/>
        </p:nvSpPr>
        <p:spPr>
          <a:xfrm>
            <a:off x="2145754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 templates</a:t>
            </a:r>
            <a:endParaRPr lang="en-US" sz="600" dirty="0"/>
          </a:p>
        </p:txBody>
      </p:sp>
      <p:sp>
        <p:nvSpPr>
          <p:cNvPr id="63" name="Text 60"/>
          <p:cNvSpPr txBox="1"/>
          <p:nvPr/>
        </p:nvSpPr>
        <p:spPr>
          <a:xfrm>
            <a:off x="3505124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 item types</a:t>
            </a:r>
            <a:endParaRPr lang="en-US" sz="600" dirty="0"/>
          </a:p>
        </p:txBody>
      </p:sp>
      <p:sp>
        <p:nvSpPr>
          <p:cNvPr id="64" name="Text 61"/>
          <p:cNvSpPr txBox="1"/>
          <p:nvPr/>
        </p:nvSpPr>
        <p:spPr>
          <a:xfrm>
            <a:off x="4864494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65" name="Text 62"/>
          <p:cNvSpPr txBox="1"/>
          <p:nvPr/>
        </p:nvSpPr>
        <p:spPr>
          <a:xfrm>
            <a:off x="6223864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66" name="Text 63"/>
          <p:cNvSpPr txBox="1"/>
          <p:nvPr/>
        </p:nvSpPr>
        <p:spPr>
          <a:xfrm>
            <a:off x="7583234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67" name="Text 64"/>
          <p:cNvSpPr txBox="1"/>
          <p:nvPr/>
        </p:nvSpPr>
        <p:spPr>
          <a:xfrm>
            <a:off x="8942603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68" name="Text 65"/>
          <p:cNvSpPr txBox="1"/>
          <p:nvPr/>
        </p:nvSpPr>
        <p:spPr>
          <a:xfrm>
            <a:off x="10301973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</a:t>
            </a:r>
            <a:endParaRPr lang="en-US" sz="600" dirty="0"/>
          </a:p>
        </p:txBody>
      </p:sp>
      <p:sp>
        <p:nvSpPr>
          <p:cNvPr id="69" name="Shape 66"/>
          <p:cNvSpPr/>
          <p:nvPr/>
        </p:nvSpPr>
        <p:spPr>
          <a:xfrm>
            <a:off x="658368" y="3958590"/>
            <a:ext cx="10874959" cy="278892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70" name="Shape 67"/>
          <p:cNvSpPr/>
          <p:nvPr/>
        </p:nvSpPr>
        <p:spPr>
          <a:xfrm>
            <a:off x="658368" y="3958590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1" name="Text 68"/>
          <p:cNvSpPr txBox="1"/>
          <p:nvPr/>
        </p:nvSpPr>
        <p:spPr>
          <a:xfrm>
            <a:off x="786384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4-dimension scoping</a:t>
            </a:r>
            <a:endParaRPr lang="en-US" sz="600" dirty="0"/>
          </a:p>
        </p:txBody>
      </p:sp>
      <p:sp>
        <p:nvSpPr>
          <p:cNvPr id="72" name="Text 69"/>
          <p:cNvSpPr txBox="1"/>
          <p:nvPr/>
        </p:nvSpPr>
        <p:spPr>
          <a:xfrm>
            <a:off x="2145754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 tenant/proj/env/repo</a:t>
            </a:r>
            <a:endParaRPr lang="en-US" sz="600" dirty="0"/>
          </a:p>
        </p:txBody>
      </p:sp>
      <p:sp>
        <p:nvSpPr>
          <p:cNvPr id="73" name="Text 70"/>
          <p:cNvSpPr txBox="1"/>
          <p:nvPr/>
        </p:nvSpPr>
        <p:spPr>
          <a:xfrm>
            <a:off x="3505124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 vaults, tags</a:t>
            </a:r>
            <a:endParaRPr lang="en-US" sz="600" dirty="0"/>
          </a:p>
        </p:txBody>
      </p:sp>
      <p:sp>
        <p:nvSpPr>
          <p:cNvPr id="74" name="Text 71"/>
          <p:cNvSpPr txBox="1"/>
          <p:nvPr/>
        </p:nvSpPr>
        <p:spPr>
          <a:xfrm>
            <a:off x="4864494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 paths</a:t>
            </a:r>
            <a:endParaRPr lang="en-US" sz="600" dirty="0"/>
          </a:p>
        </p:txBody>
      </p:sp>
      <p:sp>
        <p:nvSpPr>
          <p:cNvPr id="75" name="Text 72"/>
          <p:cNvSpPr txBox="1"/>
          <p:nvPr/>
        </p:nvSpPr>
        <p:spPr>
          <a:xfrm>
            <a:off x="6223864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 envs</a:t>
            </a:r>
            <a:endParaRPr lang="en-US" sz="600" dirty="0"/>
          </a:p>
        </p:txBody>
      </p:sp>
      <p:sp>
        <p:nvSpPr>
          <p:cNvPr id="76" name="Text 73"/>
          <p:cNvSpPr txBox="1"/>
          <p:nvPr/>
        </p:nvSpPr>
        <p:spPr>
          <a:xfrm>
            <a:off x="7583234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77" name="Text 74"/>
          <p:cNvSpPr txBox="1"/>
          <p:nvPr/>
        </p:nvSpPr>
        <p:spPr>
          <a:xfrm>
            <a:off x="8942603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 dirs</a:t>
            </a:r>
            <a:endParaRPr lang="en-US" sz="600" dirty="0"/>
          </a:p>
        </p:txBody>
      </p:sp>
      <p:sp>
        <p:nvSpPr>
          <p:cNvPr id="78" name="Text 75"/>
          <p:cNvSpPr txBox="1"/>
          <p:nvPr/>
        </p:nvSpPr>
        <p:spPr>
          <a:xfrm>
            <a:off x="10301973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 wildcards</a:t>
            </a:r>
            <a:endParaRPr lang="en-US" sz="600" dirty="0"/>
          </a:p>
        </p:txBody>
      </p:sp>
      <p:sp>
        <p:nvSpPr>
          <p:cNvPr id="79" name="Shape 76"/>
          <p:cNvSpPr/>
          <p:nvPr/>
        </p:nvSpPr>
        <p:spPr>
          <a:xfrm>
            <a:off x="658368" y="423748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0" name="Text 77"/>
          <p:cNvSpPr txBox="1"/>
          <p:nvPr/>
        </p:nvSpPr>
        <p:spPr>
          <a:xfrm>
            <a:off x="786384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Tamper-evident audit log</a:t>
            </a:r>
            <a:endParaRPr lang="en-US" sz="600" dirty="0"/>
          </a:p>
        </p:txBody>
      </p:sp>
      <p:sp>
        <p:nvSpPr>
          <p:cNvPr id="81" name="Text 78"/>
          <p:cNvSpPr txBox="1"/>
          <p:nvPr/>
        </p:nvSpPr>
        <p:spPr>
          <a:xfrm>
            <a:off x="2145754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 HMAC + anchor</a:t>
            </a:r>
            <a:endParaRPr lang="en-US" sz="600" dirty="0"/>
          </a:p>
        </p:txBody>
      </p:sp>
      <p:sp>
        <p:nvSpPr>
          <p:cNvPr id="82" name="Text 79"/>
          <p:cNvSpPr txBox="1"/>
          <p:nvPr/>
        </p:nvSpPr>
        <p:spPr>
          <a:xfrm>
            <a:off x="3505124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 cloud logs</a:t>
            </a:r>
            <a:endParaRPr lang="en-US" sz="600" dirty="0"/>
          </a:p>
        </p:txBody>
      </p:sp>
      <p:sp>
        <p:nvSpPr>
          <p:cNvPr id="83" name="Text 80"/>
          <p:cNvSpPr txBox="1"/>
          <p:nvPr/>
        </p:nvSpPr>
        <p:spPr>
          <a:xfrm>
            <a:off x="4864494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84" name="Text 81"/>
          <p:cNvSpPr txBox="1"/>
          <p:nvPr/>
        </p:nvSpPr>
        <p:spPr>
          <a:xfrm>
            <a:off x="6223864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85" name="Text 82"/>
          <p:cNvSpPr txBox="1"/>
          <p:nvPr/>
        </p:nvSpPr>
        <p:spPr>
          <a:xfrm>
            <a:off x="7583234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86" name="Text 83"/>
          <p:cNvSpPr txBox="1"/>
          <p:nvPr/>
        </p:nvSpPr>
        <p:spPr>
          <a:xfrm>
            <a:off x="8942603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 git log</a:t>
            </a:r>
            <a:endParaRPr lang="en-US" sz="600" dirty="0"/>
          </a:p>
        </p:txBody>
      </p:sp>
      <p:sp>
        <p:nvSpPr>
          <p:cNvPr id="87" name="Text 84"/>
          <p:cNvSpPr txBox="1"/>
          <p:nvPr/>
        </p:nvSpPr>
        <p:spPr>
          <a:xfrm>
            <a:off x="10301973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 HMAC</a:t>
            </a:r>
            <a:endParaRPr lang="en-US" sz="600" dirty="0"/>
          </a:p>
        </p:txBody>
      </p:sp>
      <p:sp>
        <p:nvSpPr>
          <p:cNvPr id="88" name="Shape 85"/>
          <p:cNvSpPr/>
          <p:nvPr/>
        </p:nvSpPr>
        <p:spPr>
          <a:xfrm>
            <a:off x="658368" y="4516374"/>
            <a:ext cx="10874959" cy="278892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89" name="Shape 86"/>
          <p:cNvSpPr/>
          <p:nvPr/>
        </p:nvSpPr>
        <p:spPr>
          <a:xfrm>
            <a:off x="658368" y="4516374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0" name="Text 87"/>
          <p:cNvSpPr txBox="1"/>
          <p:nvPr/>
        </p:nvSpPr>
        <p:spPr>
          <a:xfrm>
            <a:off x="786384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MCP-native for AI agents</a:t>
            </a:r>
            <a:endParaRPr lang="en-US" sz="600" dirty="0"/>
          </a:p>
        </p:txBody>
      </p:sp>
      <p:sp>
        <p:nvSpPr>
          <p:cNvPr id="91" name="Text 88"/>
          <p:cNvSpPr txBox="1"/>
          <p:nvPr/>
        </p:nvSpPr>
        <p:spPr>
          <a:xfrm>
            <a:off x="2145754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 gate + quota</a:t>
            </a:r>
            <a:endParaRPr lang="en-US" sz="600" dirty="0"/>
          </a:p>
        </p:txBody>
      </p:sp>
      <p:sp>
        <p:nvSpPr>
          <p:cNvPr id="92" name="Text 89"/>
          <p:cNvSpPr txBox="1"/>
          <p:nvPr/>
        </p:nvSpPr>
        <p:spPr>
          <a:xfrm>
            <a:off x="3505124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93" name="Text 90"/>
          <p:cNvSpPr txBox="1"/>
          <p:nvPr/>
        </p:nvSpPr>
        <p:spPr>
          <a:xfrm>
            <a:off x="4864494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 SDK</a:t>
            </a:r>
            <a:endParaRPr lang="en-US" sz="600" dirty="0"/>
          </a:p>
        </p:txBody>
      </p:sp>
      <p:sp>
        <p:nvSpPr>
          <p:cNvPr id="94" name="Text 91"/>
          <p:cNvSpPr txBox="1"/>
          <p:nvPr/>
        </p:nvSpPr>
        <p:spPr>
          <a:xfrm>
            <a:off x="6223864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 SDK</a:t>
            </a:r>
            <a:endParaRPr lang="en-US" sz="600" dirty="0"/>
          </a:p>
        </p:txBody>
      </p:sp>
      <p:sp>
        <p:nvSpPr>
          <p:cNvPr id="95" name="Text 92"/>
          <p:cNvSpPr txBox="1"/>
          <p:nvPr/>
        </p:nvSpPr>
        <p:spPr>
          <a:xfrm>
            <a:off x="7583234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96" name="Text 93"/>
          <p:cNvSpPr txBox="1"/>
          <p:nvPr/>
        </p:nvSpPr>
        <p:spPr>
          <a:xfrm>
            <a:off x="8942603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97" name="Text 94"/>
          <p:cNvSpPr txBox="1"/>
          <p:nvPr/>
        </p:nvSpPr>
        <p:spPr>
          <a:xfrm>
            <a:off x="10301973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 MCP</a:t>
            </a:r>
            <a:endParaRPr lang="en-US" sz="600" dirty="0"/>
          </a:p>
        </p:txBody>
      </p:sp>
      <p:sp>
        <p:nvSpPr>
          <p:cNvPr id="98" name="Shape 95"/>
          <p:cNvSpPr/>
          <p:nvPr/>
        </p:nvSpPr>
        <p:spPr>
          <a:xfrm>
            <a:off x="658368" y="4795266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9" name="Text 96"/>
          <p:cNvSpPr txBox="1"/>
          <p:nvPr/>
        </p:nvSpPr>
        <p:spPr>
          <a:xfrm>
            <a:off x="786384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Per-agent exfiltration quotas</a:t>
            </a: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 ★</a:t>
            </a:r>
            <a:endParaRPr lang="en-US" sz="600" dirty="0"/>
          </a:p>
        </p:txBody>
      </p:sp>
      <p:sp>
        <p:nvSpPr>
          <p:cNvPr id="100" name="Text 97"/>
          <p:cNvSpPr txBox="1"/>
          <p:nvPr/>
        </p:nvSpPr>
        <p:spPr>
          <a:xfrm>
            <a:off x="2145754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01" name="Text 98"/>
          <p:cNvSpPr txBox="1"/>
          <p:nvPr/>
        </p:nvSpPr>
        <p:spPr>
          <a:xfrm>
            <a:off x="3505124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02" name="Text 99"/>
          <p:cNvSpPr txBox="1"/>
          <p:nvPr/>
        </p:nvSpPr>
        <p:spPr>
          <a:xfrm>
            <a:off x="4864494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 policy</a:t>
            </a:r>
            <a:endParaRPr lang="en-US" sz="600" dirty="0"/>
          </a:p>
        </p:txBody>
      </p:sp>
      <p:sp>
        <p:nvSpPr>
          <p:cNvPr id="103" name="Text 100"/>
          <p:cNvSpPr txBox="1"/>
          <p:nvPr/>
        </p:nvSpPr>
        <p:spPr>
          <a:xfrm>
            <a:off x="6223864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04" name="Text 101"/>
          <p:cNvSpPr txBox="1"/>
          <p:nvPr/>
        </p:nvSpPr>
        <p:spPr>
          <a:xfrm>
            <a:off x="7583234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05" name="Text 102"/>
          <p:cNvSpPr txBox="1"/>
          <p:nvPr/>
        </p:nvSpPr>
        <p:spPr>
          <a:xfrm>
            <a:off x="8942603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06" name="Text 103"/>
          <p:cNvSpPr txBox="1"/>
          <p:nvPr/>
        </p:nvSpPr>
        <p:spPr>
          <a:xfrm>
            <a:off x="10301973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</a:t>
            </a:r>
            <a:endParaRPr lang="en-US" sz="600" dirty="0"/>
          </a:p>
        </p:txBody>
      </p:sp>
      <p:sp>
        <p:nvSpPr>
          <p:cNvPr id="107" name="Shape 104"/>
          <p:cNvSpPr/>
          <p:nvPr/>
        </p:nvSpPr>
        <p:spPr>
          <a:xfrm>
            <a:off x="658368" y="5074158"/>
            <a:ext cx="10874959" cy="278892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08" name="Shape 105"/>
          <p:cNvSpPr/>
          <p:nvPr/>
        </p:nvSpPr>
        <p:spPr>
          <a:xfrm>
            <a:off x="658368" y="5074158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9" name="Text 106"/>
          <p:cNvSpPr txBox="1"/>
          <p:nvPr/>
        </p:nvSpPr>
        <p:spPr>
          <a:xfrm>
            <a:off x="786384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Works fully offline</a:t>
            </a:r>
            <a:endParaRPr lang="en-US" sz="600" dirty="0"/>
          </a:p>
        </p:txBody>
      </p:sp>
      <p:sp>
        <p:nvSpPr>
          <p:cNvPr id="110" name="Text 107"/>
          <p:cNvSpPr txBox="1"/>
          <p:nvPr/>
        </p:nvSpPr>
        <p:spPr>
          <a:xfrm>
            <a:off x="2145754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11" name="Text 108"/>
          <p:cNvSpPr txBox="1"/>
          <p:nvPr/>
        </p:nvSpPr>
        <p:spPr>
          <a:xfrm>
            <a:off x="3505124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 cache</a:t>
            </a:r>
            <a:endParaRPr lang="en-US" sz="600" dirty="0"/>
          </a:p>
        </p:txBody>
      </p:sp>
      <p:sp>
        <p:nvSpPr>
          <p:cNvPr id="112" name="Text 109"/>
          <p:cNvSpPr txBox="1"/>
          <p:nvPr/>
        </p:nvSpPr>
        <p:spPr>
          <a:xfrm>
            <a:off x="4864494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endParaRPr lang="en-US" sz="600" dirty="0"/>
          </a:p>
        </p:txBody>
      </p:sp>
      <p:sp>
        <p:nvSpPr>
          <p:cNvPr id="113" name="Text 110"/>
          <p:cNvSpPr txBox="1"/>
          <p:nvPr/>
        </p:nvSpPr>
        <p:spPr>
          <a:xfrm>
            <a:off x="6223864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14" name="Text 111"/>
          <p:cNvSpPr txBox="1"/>
          <p:nvPr/>
        </p:nvSpPr>
        <p:spPr>
          <a:xfrm>
            <a:off x="7583234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15" name="Text 112"/>
          <p:cNvSpPr txBox="1"/>
          <p:nvPr/>
        </p:nvSpPr>
        <p:spPr>
          <a:xfrm>
            <a:off x="8942603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16" name="Text 113"/>
          <p:cNvSpPr txBox="1"/>
          <p:nvPr/>
        </p:nvSpPr>
        <p:spPr>
          <a:xfrm>
            <a:off x="10301973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17" name="Shape 114"/>
          <p:cNvSpPr/>
          <p:nvPr/>
        </p:nvSpPr>
        <p:spPr>
          <a:xfrm>
            <a:off x="658368" y="5353050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8" name="Text 115"/>
          <p:cNvSpPr txBox="1"/>
          <p:nvPr/>
        </p:nvSpPr>
        <p:spPr>
          <a:xfrm>
            <a:off x="786384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Dynamic / leased secrets</a:t>
            </a:r>
            <a:endParaRPr lang="en-US" sz="600" dirty="0"/>
          </a:p>
        </p:txBody>
      </p:sp>
      <p:sp>
        <p:nvSpPr>
          <p:cNvPr id="119" name="Text 116"/>
          <p:cNvSpPr txBox="1"/>
          <p:nvPr/>
        </p:nvSpPr>
        <p:spPr>
          <a:xfrm>
            <a:off x="2145754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20" name="Text 117"/>
          <p:cNvSpPr txBox="1"/>
          <p:nvPr/>
        </p:nvSpPr>
        <p:spPr>
          <a:xfrm>
            <a:off x="3505124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21" name="Text 118"/>
          <p:cNvSpPr txBox="1"/>
          <p:nvPr/>
        </p:nvSpPr>
        <p:spPr>
          <a:xfrm>
            <a:off x="4864494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22" name="Text 119"/>
          <p:cNvSpPr txBox="1"/>
          <p:nvPr/>
        </p:nvSpPr>
        <p:spPr>
          <a:xfrm>
            <a:off x="6223864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endParaRPr lang="en-US" sz="600" dirty="0"/>
          </a:p>
        </p:txBody>
      </p:sp>
      <p:sp>
        <p:nvSpPr>
          <p:cNvPr id="123" name="Text 120"/>
          <p:cNvSpPr txBox="1"/>
          <p:nvPr/>
        </p:nvSpPr>
        <p:spPr>
          <a:xfrm>
            <a:off x="7583234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24" name="Text 121"/>
          <p:cNvSpPr txBox="1"/>
          <p:nvPr/>
        </p:nvSpPr>
        <p:spPr>
          <a:xfrm>
            <a:off x="8942603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25" name="Text 122"/>
          <p:cNvSpPr txBox="1"/>
          <p:nvPr/>
        </p:nvSpPr>
        <p:spPr>
          <a:xfrm>
            <a:off x="10301973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26" name="Shape 123"/>
          <p:cNvSpPr/>
          <p:nvPr/>
        </p:nvSpPr>
        <p:spPr>
          <a:xfrm>
            <a:off x="658368" y="5631942"/>
            <a:ext cx="10874959" cy="278892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27" name="Shape 124"/>
          <p:cNvSpPr/>
          <p:nvPr/>
        </p:nvSpPr>
        <p:spPr>
          <a:xfrm>
            <a:off x="658368" y="563194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8" name="Text 125"/>
          <p:cNvSpPr txBox="1"/>
          <p:nvPr/>
        </p:nvSpPr>
        <p:spPr>
          <a:xfrm>
            <a:off x="786384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Multi-user / RBAC / SSO</a:t>
            </a:r>
            <a:endParaRPr lang="en-US" sz="600" dirty="0"/>
          </a:p>
        </p:txBody>
      </p:sp>
      <p:sp>
        <p:nvSpPr>
          <p:cNvPr id="129" name="Text 126"/>
          <p:cNvSpPr txBox="1"/>
          <p:nvPr/>
        </p:nvSpPr>
        <p:spPr>
          <a:xfrm>
            <a:off x="2145754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 single-owner</a:t>
            </a:r>
            <a:endParaRPr lang="en-US" sz="600" dirty="0"/>
          </a:p>
        </p:txBody>
      </p:sp>
      <p:sp>
        <p:nvSpPr>
          <p:cNvPr id="130" name="Text 127"/>
          <p:cNvSpPr txBox="1"/>
          <p:nvPr/>
        </p:nvSpPr>
        <p:spPr>
          <a:xfrm>
            <a:off x="3505124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31" name="Text 128"/>
          <p:cNvSpPr txBox="1"/>
          <p:nvPr/>
        </p:nvSpPr>
        <p:spPr>
          <a:xfrm>
            <a:off x="4864494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32" name="Text 129"/>
          <p:cNvSpPr txBox="1"/>
          <p:nvPr/>
        </p:nvSpPr>
        <p:spPr>
          <a:xfrm>
            <a:off x="6223864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33" name="Text 130"/>
          <p:cNvSpPr txBox="1"/>
          <p:nvPr/>
        </p:nvSpPr>
        <p:spPr>
          <a:xfrm>
            <a:off x="7583234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 recipients</a:t>
            </a:r>
            <a:endParaRPr lang="en-US" sz="600" dirty="0"/>
          </a:p>
        </p:txBody>
      </p:sp>
      <p:sp>
        <p:nvSpPr>
          <p:cNvPr id="134" name="Text 131"/>
          <p:cNvSpPr txBox="1"/>
          <p:nvPr/>
        </p:nvSpPr>
        <p:spPr>
          <a:xfrm>
            <a:off x="8942603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 keys</a:t>
            </a:r>
            <a:endParaRPr lang="en-US" sz="600" dirty="0"/>
          </a:p>
        </p:txBody>
      </p:sp>
      <p:sp>
        <p:nvSpPr>
          <p:cNvPr id="135" name="Text 132"/>
          <p:cNvSpPr txBox="1"/>
          <p:nvPr/>
        </p:nvSpPr>
        <p:spPr>
          <a:xfrm>
            <a:off x="10301973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36" name="Shape 133"/>
          <p:cNvSpPr/>
          <p:nvPr/>
        </p:nvSpPr>
        <p:spPr>
          <a:xfrm>
            <a:off x="658368" y="5910834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7" name="Text 134"/>
          <p:cNvSpPr txBox="1"/>
          <p:nvPr/>
        </p:nvSpPr>
        <p:spPr>
          <a:xfrm>
            <a:off x="786384" y="597868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Mobile app / autofill</a:t>
            </a:r>
            <a:endParaRPr lang="en-US" sz="600" dirty="0"/>
          </a:p>
        </p:txBody>
      </p:sp>
      <p:sp>
        <p:nvSpPr>
          <p:cNvPr id="138" name="Text 135"/>
          <p:cNvSpPr txBox="1"/>
          <p:nvPr/>
        </p:nvSpPr>
        <p:spPr>
          <a:xfrm>
            <a:off x="2145754" y="597868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39" name="Text 136"/>
          <p:cNvSpPr txBox="1"/>
          <p:nvPr/>
        </p:nvSpPr>
        <p:spPr>
          <a:xfrm>
            <a:off x="3505124" y="597868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40" name="Text 137"/>
          <p:cNvSpPr txBox="1"/>
          <p:nvPr/>
        </p:nvSpPr>
        <p:spPr>
          <a:xfrm>
            <a:off x="4864494" y="597868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41" name="Text 138"/>
          <p:cNvSpPr txBox="1"/>
          <p:nvPr/>
        </p:nvSpPr>
        <p:spPr>
          <a:xfrm>
            <a:off x="6223864" y="597868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42" name="Text 139"/>
          <p:cNvSpPr txBox="1"/>
          <p:nvPr/>
        </p:nvSpPr>
        <p:spPr>
          <a:xfrm>
            <a:off x="7583234" y="597868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43" name="Text 140"/>
          <p:cNvSpPr txBox="1"/>
          <p:nvPr/>
        </p:nvSpPr>
        <p:spPr>
          <a:xfrm>
            <a:off x="8942603" y="597868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endParaRPr lang="en-US" sz="600" dirty="0"/>
          </a:p>
        </p:txBody>
      </p:sp>
      <p:sp>
        <p:nvSpPr>
          <p:cNvPr id="144" name="Text 141"/>
          <p:cNvSpPr txBox="1"/>
          <p:nvPr/>
        </p:nvSpPr>
        <p:spPr>
          <a:xfrm>
            <a:off x="10301973" y="597868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45" name="Shape 142"/>
          <p:cNvSpPr/>
          <p:nvPr/>
        </p:nvSpPr>
        <p:spPr>
          <a:xfrm>
            <a:off x="658368" y="2253234"/>
            <a:ext cx="10874959" cy="3936492"/>
          </a:xfrm>
          <a:prstGeom prst="rect">
            <a:avLst/>
          </a:prstGeom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6" name="Text 143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docs/comparison.md</a:t>
            </a:r>
            <a:endParaRPr lang="en-US" sz="850" dirty="0"/>
          </a:p>
        </p:txBody>
      </p:sp>
      <p:sp>
        <p:nvSpPr>
          <p:cNvPr id="147" name="Shape 0">
            <a:extLst>
              <a:ext uri="{FF2B5EF4-FFF2-40B4-BE49-F238E27FC236}">
                <a16:creationId xmlns:a16="http://schemas.microsoft.com/office/drawing/2014/main" id="{F6B49820-DA5A-18FB-3E82-BF0C08930C9B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148" name="Shape 1">
            <a:extLst>
              <a:ext uri="{FF2B5EF4-FFF2-40B4-BE49-F238E27FC236}">
                <a16:creationId xmlns:a16="http://schemas.microsoft.com/office/drawing/2014/main" id="{3BFDFB69-36B4-6979-64A4-3BA4F158723B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49" name="Image 0" descr="/home/claude/decks/kit2/worlds/../logos/concealer-logo.png">
            <a:extLst>
              <a:ext uri="{FF2B5EF4-FFF2-40B4-BE49-F238E27FC236}">
                <a16:creationId xmlns:a16="http://schemas.microsoft.com/office/drawing/2014/main" id="{1709CA25-23A2-9501-46A4-BC9764E5D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D9948DC0-D306-0F65-ACFA-8DBA2655AB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2952902" y="-497464"/>
            <a:ext cx="1017403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2952902" y="-461025"/>
            <a:ext cx="10174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market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5608617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10"/>
              </a:lnSpc>
              <a:buNone/>
            </a:pPr>
            <a:r>
              <a:rPr lang="en-US" sz="3100" b="1" kern="0" spc="-74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Where concealer wins — and where you should use something else.</a:t>
            </a:r>
            <a:endParaRPr lang="en-US" sz="3100" b="1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87057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Where it wins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" y="2385644"/>
            <a:ext cx="5181448" cy="0"/>
          </a:xfrm>
          <a:prstGeom prst="line">
            <a:avLst/>
          </a:prstGeom>
          <a:noFill/>
          <a:ln w="20320">
            <a:solidFill>
              <a:srgbClr val="2F9E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Shape 11"/>
          <p:cNvSpPr/>
          <p:nvPr/>
        </p:nvSpPr>
        <p:spPr>
          <a:xfrm>
            <a:off x="690372" y="2596185"/>
            <a:ext cx="72009" cy="72009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5" name="Text 12"/>
          <p:cNvSpPr txBox="1"/>
          <p:nvPr/>
        </p:nvSpPr>
        <p:spPr>
          <a:xfrm>
            <a:off x="896112" y="2520747"/>
            <a:ext cx="4943704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Zero infrastructure.</a:t>
            </a: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No server, container, cloud tenant or daemon. </a:t>
            </a:r>
            <a:r>
              <a:rPr lang="en-US" sz="67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init</a:t>
            </a: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and you have a vault.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90372" y="2914320"/>
            <a:ext cx="72009" cy="72009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7" name="Text 14"/>
          <p:cNvSpPr txBox="1"/>
          <p:nvPr/>
        </p:nvSpPr>
        <p:spPr>
          <a:xfrm>
            <a:off x="896112" y="2838882"/>
            <a:ext cx="4943704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Git-native.</a:t>
            </a: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 encrypted YAML file that diffs and versions in the same repo as the code.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90372" y="3232455"/>
            <a:ext cx="72009" cy="72009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9" name="Text 16"/>
          <p:cNvSpPr txBox="1"/>
          <p:nvPr/>
        </p:nvSpPr>
        <p:spPr>
          <a:xfrm>
            <a:off x="896112" y="3157017"/>
            <a:ext cx="4943704" cy="48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Agent-first.</a:t>
            </a: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The only tool in the matrix with an MCP server designed around AI-agent threat models: registration gate, per-agent exfiltration quotas, redacted output.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90372" y="3685845"/>
            <a:ext cx="72009" cy="72009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1" name="Text 18"/>
          <p:cNvSpPr txBox="1"/>
          <p:nvPr/>
        </p:nvSpPr>
        <p:spPr>
          <a:xfrm>
            <a:off x="896112" y="3610407"/>
            <a:ext cx="4943704" cy="48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Tamper-evident by design.</a:t>
            </a: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HMAC chain plus a head anchor that catches tail-truncation — no cloud audit pipeline required.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90372" y="4139235"/>
            <a:ext cx="72009" cy="72009"/>
          </a:xfrm>
          <a:prstGeom prst="ellipse">
            <a:avLst/>
          </a:prstGeom>
          <a:solidFill>
            <a:srgbClr val="2F9E6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3" name="Text 20"/>
          <p:cNvSpPr txBox="1"/>
          <p:nvPr/>
        </p:nvSpPr>
        <p:spPr>
          <a:xfrm>
            <a:off x="896112" y="4063797"/>
            <a:ext cx="4943704" cy="48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No lock-in, no telemetry, one file to read.</a:t>
            </a: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Compare with trusting a proprietary cloud vault — see the 2022 LastPass breach.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6351880" y="1987057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Where it doesn't — use something else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351880" y="2385644"/>
            <a:ext cx="5181448" cy="0"/>
          </a:xfrm>
          <a:prstGeom prst="line">
            <a:avLst/>
          </a:prstGeom>
          <a:noFill/>
          <a:ln w="20320">
            <a:solidFill>
              <a:srgbClr val="D8963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Shape 23"/>
          <p:cNvSpPr/>
          <p:nvPr/>
        </p:nvSpPr>
        <p:spPr>
          <a:xfrm>
            <a:off x="6383884" y="2596185"/>
            <a:ext cx="72009" cy="72009"/>
          </a:xfrm>
          <a:prstGeom prst="ellipse">
            <a:avLst/>
          </a:prstGeom>
          <a:solidFill>
            <a:srgbClr val="D8963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7" name="Text 24"/>
          <p:cNvSpPr txBox="1"/>
          <p:nvPr/>
        </p:nvSpPr>
        <p:spPr>
          <a:xfrm>
            <a:off x="6589624" y="2520747"/>
            <a:ext cx="4943704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Teams.</a:t>
            </a: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No SSO, no RBAC, no per-user sharing. It is a single-owner vault. → 1Password / Bitwarden / Vault.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6383884" y="2914320"/>
            <a:ext cx="72009" cy="72009"/>
          </a:xfrm>
          <a:prstGeom prst="ellipse">
            <a:avLst/>
          </a:prstGeom>
          <a:solidFill>
            <a:srgbClr val="D8963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9" name="Text 26"/>
          <p:cNvSpPr txBox="1"/>
          <p:nvPr/>
        </p:nvSpPr>
        <p:spPr>
          <a:xfrm>
            <a:off x="6589624" y="2838882"/>
            <a:ext cx="4943704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Dynamic secrets and leases.</a:t>
            </a: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No short-lived DB credentials minted on demand. → HashiCorp Vault.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6383884" y="3232455"/>
            <a:ext cx="72009" cy="72009"/>
          </a:xfrm>
          <a:prstGeom prst="ellipse">
            <a:avLst/>
          </a:prstGeom>
          <a:solidFill>
            <a:srgbClr val="D8963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1" name="Text 28"/>
          <p:cNvSpPr txBox="1"/>
          <p:nvPr/>
        </p:nvSpPr>
        <p:spPr>
          <a:xfrm>
            <a:off x="6589624" y="3157017"/>
            <a:ext cx="4943704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Automatic rotation and a CI/CD sync fabric.</a:t>
            </a: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Rotation is manual. → Doppler / Infisical.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6383884" y="3550590"/>
            <a:ext cx="72009" cy="72009"/>
          </a:xfrm>
          <a:prstGeom prst="ellipse">
            <a:avLst/>
          </a:prstGeom>
          <a:solidFill>
            <a:srgbClr val="D8963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3" name="Text 30"/>
          <p:cNvSpPr txBox="1"/>
          <p:nvPr/>
        </p:nvSpPr>
        <p:spPr>
          <a:xfrm>
            <a:off x="6589624" y="3475152"/>
            <a:ext cx="4943704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Consumer UX.</a:t>
            </a: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No mobile app, no browser autofill, no passkeys. → 1Password / Bitwarden / Keeper.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6383884" y="3868725"/>
            <a:ext cx="72009" cy="72009"/>
          </a:xfrm>
          <a:prstGeom prst="ellipse">
            <a:avLst/>
          </a:prstGeom>
          <a:solidFill>
            <a:srgbClr val="D8963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5" name="Text 32"/>
          <p:cNvSpPr txBox="1"/>
          <p:nvPr/>
        </p:nvSpPr>
        <p:spPr>
          <a:xfrm>
            <a:off x="6589624" y="3793287"/>
            <a:ext cx="4943704" cy="48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Turnkey compliance attestations.</a:t>
            </a: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No FedRAMP or SOC 2 — those are earned by the entity operating a tool, not shipped by the tool. → Keeper / Vault / cloud KMS.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658368" y="4711268"/>
            <a:ext cx="10874959" cy="310896"/>
          </a:xfrm>
          <a:prstGeom prst="roundRect">
            <a:avLst>
              <a:gd name="adj" fmla="val 14706"/>
            </a:avLst>
          </a:prstGeom>
          <a:solidFill>
            <a:srgbClr val="1B1B2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7" name="Text 34"/>
          <p:cNvSpPr txBox="1"/>
          <p:nvPr/>
        </p:nvSpPr>
        <p:spPr>
          <a:xfrm>
            <a:off x="786384" y="4816988"/>
            <a:ext cx="723164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If you need…</a:t>
            </a:r>
            <a:endParaRPr lang="en-US" sz="600" dirty="0"/>
          </a:p>
        </p:txBody>
      </p:sp>
      <p:sp>
        <p:nvSpPr>
          <p:cNvPr id="38" name="Text 35"/>
          <p:cNvSpPr txBox="1"/>
          <p:nvPr/>
        </p:nvSpPr>
        <p:spPr>
          <a:xfrm>
            <a:off x="8274061" y="4816988"/>
            <a:ext cx="313125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Reach for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658368" y="5022164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0" name="Text 37"/>
          <p:cNvSpPr txBox="1"/>
          <p:nvPr/>
        </p:nvSpPr>
        <p:spPr>
          <a:xfrm>
            <a:off x="786384" y="5062581"/>
            <a:ext cx="7231645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personal or single-dev vault with no server, versioned in git</a:t>
            </a:r>
            <a:endParaRPr lang="en-US" sz="600" dirty="0"/>
          </a:p>
        </p:txBody>
      </p:sp>
      <p:sp>
        <p:nvSpPr>
          <p:cNvPr id="41" name="Text 38"/>
          <p:cNvSpPr txBox="1"/>
          <p:nvPr/>
        </p:nvSpPr>
        <p:spPr>
          <a:xfrm>
            <a:off x="8274061" y="5062581"/>
            <a:ext cx="313125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concealer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658368" y="5246192"/>
            <a:ext cx="10874959" cy="224028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3" name="Shape 40"/>
          <p:cNvSpPr/>
          <p:nvPr/>
        </p:nvSpPr>
        <p:spPr>
          <a:xfrm>
            <a:off x="658368" y="524619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4" name="Text 41"/>
          <p:cNvSpPr txBox="1"/>
          <p:nvPr/>
        </p:nvSpPr>
        <p:spPr>
          <a:xfrm>
            <a:off x="786384" y="5286609"/>
            <a:ext cx="7231645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Safe secret access for local AI agents and MCP clients</a:t>
            </a:r>
            <a:endParaRPr lang="en-US" sz="600" dirty="0"/>
          </a:p>
        </p:txBody>
      </p:sp>
      <p:sp>
        <p:nvSpPr>
          <p:cNvPr id="45" name="Text 42"/>
          <p:cNvSpPr txBox="1"/>
          <p:nvPr/>
        </p:nvSpPr>
        <p:spPr>
          <a:xfrm>
            <a:off x="8274061" y="5286609"/>
            <a:ext cx="313125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concealer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658368" y="5470220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7" name="Text 44"/>
          <p:cNvSpPr txBox="1"/>
          <p:nvPr/>
        </p:nvSpPr>
        <p:spPr>
          <a:xfrm>
            <a:off x="786384" y="5510637"/>
            <a:ext cx="7231645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 just encrypt a config file in a repo</a:t>
            </a:r>
            <a:endParaRPr lang="en-US" sz="600" dirty="0"/>
          </a:p>
        </p:txBody>
      </p:sp>
      <p:sp>
        <p:nvSpPr>
          <p:cNvPr id="48" name="Text 45"/>
          <p:cNvSpPr txBox="1"/>
          <p:nvPr/>
        </p:nvSpPr>
        <p:spPr>
          <a:xfrm>
            <a:off x="8274061" y="5510637"/>
            <a:ext cx="313125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concealer</a:t>
            </a:r>
            <a:endParaRPr lang="en-US" sz="600" dirty="0"/>
          </a:p>
        </p:txBody>
      </p:sp>
      <p:sp>
        <p:nvSpPr>
          <p:cNvPr id="49" name="Shape 46"/>
          <p:cNvSpPr/>
          <p:nvPr/>
        </p:nvSpPr>
        <p:spPr>
          <a:xfrm>
            <a:off x="658368" y="5694248"/>
            <a:ext cx="10874959" cy="224028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0" name="Shape 47"/>
          <p:cNvSpPr/>
          <p:nvPr/>
        </p:nvSpPr>
        <p:spPr>
          <a:xfrm>
            <a:off x="658368" y="5694248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1" name="Text 48"/>
          <p:cNvSpPr txBox="1"/>
          <p:nvPr/>
        </p:nvSpPr>
        <p:spPr>
          <a:xfrm>
            <a:off x="786384" y="5734665"/>
            <a:ext cx="7231645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Team sharing, SSO, mobile autofill</a:t>
            </a:r>
            <a:endParaRPr lang="en-US" sz="600" dirty="0"/>
          </a:p>
        </p:txBody>
      </p:sp>
      <p:sp>
        <p:nvSpPr>
          <p:cNvPr id="52" name="Text 49"/>
          <p:cNvSpPr txBox="1"/>
          <p:nvPr/>
        </p:nvSpPr>
        <p:spPr>
          <a:xfrm>
            <a:off x="8274061" y="5734665"/>
            <a:ext cx="313125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1Password / Bitwarden</a:t>
            </a:r>
            <a:endParaRPr lang="en-US" sz="600" dirty="0"/>
          </a:p>
        </p:txBody>
      </p:sp>
      <p:sp>
        <p:nvSpPr>
          <p:cNvPr id="53" name="Shape 50"/>
          <p:cNvSpPr/>
          <p:nvPr/>
        </p:nvSpPr>
        <p:spPr>
          <a:xfrm>
            <a:off x="658368" y="5918276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4" name="Text 51"/>
          <p:cNvSpPr txBox="1"/>
          <p:nvPr/>
        </p:nvSpPr>
        <p:spPr>
          <a:xfrm>
            <a:off x="786384" y="5958693"/>
            <a:ext cx="7231645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Dynamic DB credentials, leases, encryption-as-a-service</a:t>
            </a:r>
            <a:endParaRPr lang="en-US" sz="600" dirty="0"/>
          </a:p>
        </p:txBody>
      </p:sp>
      <p:sp>
        <p:nvSpPr>
          <p:cNvPr id="55" name="Text 52"/>
          <p:cNvSpPr txBox="1"/>
          <p:nvPr/>
        </p:nvSpPr>
        <p:spPr>
          <a:xfrm>
            <a:off x="8274061" y="5958693"/>
            <a:ext cx="313125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HashiCorp Vault</a:t>
            </a:r>
            <a:endParaRPr lang="en-US" sz="600" dirty="0"/>
          </a:p>
        </p:txBody>
      </p:sp>
      <p:sp>
        <p:nvSpPr>
          <p:cNvPr id="56" name="Shape 53"/>
          <p:cNvSpPr/>
          <p:nvPr/>
        </p:nvSpPr>
        <p:spPr>
          <a:xfrm>
            <a:off x="658368" y="6142304"/>
            <a:ext cx="10874959" cy="224028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7" name="Shape 54"/>
          <p:cNvSpPr/>
          <p:nvPr/>
        </p:nvSpPr>
        <p:spPr>
          <a:xfrm>
            <a:off x="658368" y="6142304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8" name="Text 55"/>
          <p:cNvSpPr txBox="1"/>
          <p:nvPr/>
        </p:nvSpPr>
        <p:spPr>
          <a:xfrm>
            <a:off x="786384" y="6182721"/>
            <a:ext cx="7231645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Managed multi-environment secrets synced into CI/CD</a:t>
            </a:r>
            <a:endParaRPr lang="en-US" sz="600" dirty="0"/>
          </a:p>
        </p:txBody>
      </p:sp>
      <p:sp>
        <p:nvSpPr>
          <p:cNvPr id="59" name="Text 56"/>
          <p:cNvSpPr txBox="1"/>
          <p:nvPr/>
        </p:nvSpPr>
        <p:spPr>
          <a:xfrm>
            <a:off x="8274061" y="6182721"/>
            <a:ext cx="313125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Doppler / Infisical</a:t>
            </a:r>
            <a:endParaRPr lang="en-US" sz="600" dirty="0"/>
          </a:p>
        </p:txBody>
      </p:sp>
      <p:sp>
        <p:nvSpPr>
          <p:cNvPr id="60" name="Shape 57"/>
          <p:cNvSpPr/>
          <p:nvPr/>
        </p:nvSpPr>
        <p:spPr>
          <a:xfrm>
            <a:off x="658368" y="4711268"/>
            <a:ext cx="10874959" cy="1655064"/>
          </a:xfrm>
          <a:prstGeom prst="rect">
            <a:avLst/>
          </a:prstGeom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1" name="Text 58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docs/comparison.md</a:t>
            </a:r>
            <a:endParaRPr lang="en-US" sz="850" dirty="0"/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F34D389C-84EB-6FDA-231F-9CE16B5E640A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63" name="Shape 1">
            <a:extLst>
              <a:ext uri="{FF2B5EF4-FFF2-40B4-BE49-F238E27FC236}">
                <a16:creationId xmlns:a16="http://schemas.microsoft.com/office/drawing/2014/main" id="{56FEC132-122A-950F-C039-85447DAA5E91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64" name="Image 0" descr="/home/claude/decks/kit2/worlds/../logos/concealer-logo.png">
            <a:extLst>
              <a:ext uri="{FF2B5EF4-FFF2-40B4-BE49-F238E27FC236}">
                <a16:creationId xmlns:a16="http://schemas.microsoft.com/office/drawing/2014/main" id="{DBCA499A-44F2-AC2C-BA5E-A07993627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99742D23-6DEE-5630-8ABD-2A779F9269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2997506" y="-500864"/>
            <a:ext cx="1010469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 txBox="1"/>
          <p:nvPr/>
        </p:nvSpPr>
        <p:spPr>
          <a:xfrm>
            <a:off x="2997506" y="-464425"/>
            <a:ext cx="10104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Get started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24240"/>
            <a:ext cx="1080820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30"/>
              </a:lnSpc>
              <a:buNone/>
            </a:pPr>
            <a:r>
              <a:rPr lang="en-US" sz="3300" b="1" kern="0" spc="-79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Up and running in about a minute.</a:t>
            </a:r>
            <a:endParaRPr lang="en-US" sz="3300" b="1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504158"/>
            <a:ext cx="877824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Pick your package manager — each one pulls in the sops and age binaries concealer wraps. Then init once: it prints 8 recovery codes and a starter token, and removes the plaintext age key from disk.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2234778"/>
            <a:ext cx="345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macOS · Homebrew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8368" y="2611145"/>
            <a:ext cx="3454298" cy="1215771"/>
          </a:xfrm>
          <a:prstGeom prst="roundRect">
            <a:avLst>
              <a:gd name="adj" fmla="val 5265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2"/>
          <p:cNvSpPr txBox="1"/>
          <p:nvPr/>
        </p:nvSpPr>
        <p:spPr>
          <a:xfrm>
            <a:off x="859536" y="2743139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# pulls in sops, age, expect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59536" y="2924114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brew</a:t>
            </a:r>
            <a:r>
              <a:rPr lang="en-US" sz="9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install fxerkan/tap/concealer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859536" y="3286064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</a:t>
            </a:r>
            <a:r>
              <a:rPr lang="en-US" sz="9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init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59536" y="3467039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eval</a:t>
            </a:r>
            <a:r>
              <a:rPr lang="en-US" sz="9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</a:t>
            </a:r>
            <a:r>
              <a:rPr lang="en-US" sz="950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"$(cer unlock)"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368698" y="2234778"/>
            <a:ext cx="345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070D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Linux · pipx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68698" y="2611145"/>
            <a:ext cx="3454298" cy="1215771"/>
          </a:xfrm>
          <a:prstGeom prst="roundRect">
            <a:avLst>
              <a:gd name="adj" fmla="val 5265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8"/>
          <p:cNvSpPr txBox="1"/>
          <p:nvPr/>
        </p:nvSpPr>
        <p:spPr>
          <a:xfrm>
            <a:off x="4569866" y="2743139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pipx</a:t>
            </a:r>
            <a:r>
              <a:rPr lang="en-US" sz="9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install concealer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69866" y="2924114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sudo</a:t>
            </a:r>
            <a:r>
              <a:rPr lang="en-US" sz="9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apt install sops age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4569866" y="3286064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</a:t>
            </a:r>
            <a:r>
              <a:rPr lang="en-US" sz="9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init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569866" y="3467039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eval</a:t>
            </a:r>
            <a:r>
              <a:rPr lang="en-US" sz="9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</a:t>
            </a:r>
            <a:r>
              <a:rPr lang="en-US" sz="950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"$(cer unlock)"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079029" y="2234778"/>
            <a:ext cx="345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Windows · Scoop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079029" y="2611145"/>
            <a:ext cx="3454298" cy="1253871"/>
          </a:xfrm>
          <a:prstGeom prst="roundRect">
            <a:avLst>
              <a:gd name="adj" fmla="val 5105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Text 24"/>
          <p:cNvSpPr txBox="1"/>
          <p:nvPr/>
        </p:nvSpPr>
        <p:spPr>
          <a:xfrm>
            <a:off x="8280197" y="2746225"/>
            <a:ext cx="3051962" cy="27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8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scoop</a:t>
            </a:r>
            <a:r>
              <a:rPr lang="en-US" sz="8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bucket add fxerkan </a:t>
            </a:r>
            <a:r>
              <a:rPr lang="en-US" sz="825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\</a:t>
            </a:r>
            <a:endParaRPr lang="en-US" sz="825" dirty="0"/>
          </a:p>
        </p:txBody>
      </p:sp>
      <p:sp>
        <p:nvSpPr>
          <p:cNvPr id="28" name="Text 25"/>
          <p:cNvSpPr txBox="1"/>
          <p:nvPr/>
        </p:nvSpPr>
        <p:spPr>
          <a:xfrm>
            <a:off x="8280197" y="2903388"/>
            <a:ext cx="3051962" cy="27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8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 https://github.com/fxerkan/scoop-bucket</a:t>
            </a:r>
            <a:endParaRPr lang="en-US" sz="825" dirty="0"/>
          </a:p>
        </p:txBody>
      </p:sp>
      <p:sp>
        <p:nvSpPr>
          <p:cNvPr id="29" name="Text 26"/>
          <p:cNvSpPr txBox="1"/>
          <p:nvPr/>
        </p:nvSpPr>
        <p:spPr>
          <a:xfrm>
            <a:off x="8280197" y="3060550"/>
            <a:ext cx="3051962" cy="27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8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scoop</a:t>
            </a:r>
            <a:r>
              <a:rPr lang="en-US" sz="8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install concealer</a:t>
            </a:r>
            <a:endParaRPr lang="en-US" sz="825" dirty="0"/>
          </a:p>
        </p:txBody>
      </p:sp>
      <p:sp>
        <p:nvSpPr>
          <p:cNvPr id="30" name="Text 27"/>
          <p:cNvSpPr txBox="1"/>
          <p:nvPr/>
        </p:nvSpPr>
        <p:spPr>
          <a:xfrm>
            <a:off x="8280197" y="3374875"/>
            <a:ext cx="3051962" cy="27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8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</a:t>
            </a:r>
            <a:r>
              <a:rPr lang="en-US" sz="8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init</a:t>
            </a:r>
            <a:endParaRPr lang="en-US" sz="825" dirty="0"/>
          </a:p>
        </p:txBody>
      </p:sp>
      <p:sp>
        <p:nvSpPr>
          <p:cNvPr id="31" name="Text 28"/>
          <p:cNvSpPr txBox="1"/>
          <p:nvPr/>
        </p:nvSpPr>
        <p:spPr>
          <a:xfrm>
            <a:off x="8280197" y="3532038"/>
            <a:ext cx="3051962" cy="27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825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$env:</a:t>
            </a:r>
            <a:r>
              <a:rPr lang="en-US" sz="8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CONCEALER_TOKEN = </a:t>
            </a:r>
            <a:r>
              <a:rPr lang="en-US" sz="825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"…"</a:t>
            </a:r>
            <a:endParaRPr lang="en-US" sz="825" dirty="0"/>
          </a:p>
        </p:txBody>
      </p:sp>
      <p:sp>
        <p:nvSpPr>
          <p:cNvPr id="32" name="Text 29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docs/installation.md</a:t>
            </a:r>
            <a:endParaRPr lang="en-US" sz="850" dirty="0"/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BF0FC5FE-2568-A8D1-8125-F9CBC1E97F37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gradFill flip="none" rotWithShape="1">
            <a:gsLst>
              <a:gs pos="35000">
                <a:srgbClr val="0C0D10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en-TR"/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33EC97CA-3982-6C6C-6BDB-374E329C5E14}"/>
              </a:ext>
            </a:extLst>
          </p:cNvPr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35" name="Image 0" descr="/home/claude/decks/kit2/worlds/../logos/concealer-logo.png">
            <a:extLst>
              <a:ext uri="{FF2B5EF4-FFF2-40B4-BE49-F238E27FC236}">
                <a16:creationId xmlns:a16="http://schemas.microsoft.com/office/drawing/2014/main" id="{6CAABEF1-4ABB-4002-CEE3-8904049B7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8C138E2-6BB8-840D-62C4-0FEC6D0D60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48" t="8992" r="63379" b="77115"/>
          <a:stretch>
            <a:fillRect/>
          </a:stretch>
        </p:blipFill>
        <p:spPr>
          <a:xfrm>
            <a:off x="969264" y="46218"/>
            <a:ext cx="1660059" cy="4039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6">
            <a:extLst>
              <a:ext uri="{FF2B5EF4-FFF2-40B4-BE49-F238E27FC236}">
                <a16:creationId xmlns:a16="http://schemas.microsoft.com/office/drawing/2014/main" id="{3289C98B-A44A-B29A-BAB6-FD07097EACBF}"/>
              </a:ext>
            </a:extLst>
          </p:cNvPr>
          <p:cNvSpPr/>
          <p:nvPr/>
        </p:nvSpPr>
        <p:spPr>
          <a:xfrm>
            <a:off x="2613400" y="7179712"/>
            <a:ext cx="1990239" cy="310896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7" name="Text 4"/>
          <p:cNvSpPr txBox="1"/>
          <p:nvPr/>
        </p:nvSpPr>
        <p:spPr>
          <a:xfrm>
            <a:off x="638249" y="712498"/>
            <a:ext cx="6528816" cy="489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88"/>
              </a:lnSpc>
              <a:buNone/>
            </a:pPr>
            <a:r>
              <a:rPr lang="en-US" sz="3600" b="1" kern="0" spc="-94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Stop pasting keys into chats.</a:t>
            </a:r>
            <a:endParaRPr lang="en-US" sz="3600" b="1" dirty="0"/>
          </a:p>
        </p:txBody>
      </p:sp>
      <p:sp>
        <p:nvSpPr>
          <p:cNvPr id="8" name="Text 5"/>
          <p:cNvSpPr txBox="1"/>
          <p:nvPr/>
        </p:nvSpPr>
        <p:spPr>
          <a:xfrm>
            <a:off x="652272" y="3234966"/>
            <a:ext cx="6309360" cy="278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Local-only. Portable. Open source. </a:t>
            </a: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Built for the way we code now.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6856" y="7178997"/>
            <a:ext cx="1990239" cy="310896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7"/>
          <p:cNvSpPr txBox="1"/>
          <p:nvPr/>
        </p:nvSpPr>
        <p:spPr>
          <a:xfrm>
            <a:off x="574997" y="7253701"/>
            <a:ext cx="19339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brew install fxerkan/tap/concealer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943057" y="7253701"/>
            <a:ext cx="12746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pipx install concealer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3160" y="3896275"/>
            <a:ext cx="3214934" cy="310896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5"/>
          <p:cNvSpPr txBox="1"/>
          <p:nvPr/>
        </p:nvSpPr>
        <p:spPr>
          <a:xfrm>
            <a:off x="1260417" y="4001336"/>
            <a:ext cx="1940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macOS · Linux · Windows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85800" y="4735742"/>
            <a:ext cx="91440" cy="91440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Text 17">
            <a:hlinkClick r:id="rId3"/>
          </p:cNvPr>
          <p:cNvSpPr txBox="1"/>
          <p:nvPr/>
        </p:nvSpPr>
        <p:spPr>
          <a:xfrm>
            <a:off x="870257" y="4717454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6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Website</a:t>
            </a:r>
            <a:endParaRPr lang="en-US" sz="806" dirty="0"/>
          </a:p>
        </p:txBody>
      </p:sp>
      <p:sp>
        <p:nvSpPr>
          <p:cNvPr id="21" name="Shape 18"/>
          <p:cNvSpPr/>
          <p:nvPr/>
        </p:nvSpPr>
        <p:spPr>
          <a:xfrm>
            <a:off x="685800" y="4966102"/>
            <a:ext cx="91440" cy="91440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Text 19"/>
          <p:cNvSpPr txBox="1"/>
          <p:nvPr/>
        </p:nvSpPr>
        <p:spPr>
          <a:xfrm>
            <a:off x="870257" y="4947815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6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GitHub</a:t>
            </a:r>
            <a:endParaRPr lang="en-US" sz="806" dirty="0"/>
          </a:p>
        </p:txBody>
      </p:sp>
      <p:sp>
        <p:nvSpPr>
          <p:cNvPr id="23" name="Shape 20"/>
          <p:cNvSpPr/>
          <p:nvPr/>
        </p:nvSpPr>
        <p:spPr>
          <a:xfrm>
            <a:off x="685800" y="5196463"/>
            <a:ext cx="91440" cy="91440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4" name="Text 21"/>
          <p:cNvSpPr txBox="1"/>
          <p:nvPr/>
        </p:nvSpPr>
        <p:spPr>
          <a:xfrm>
            <a:off x="870257" y="5410210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6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Full comparison</a:t>
            </a:r>
            <a:endParaRPr lang="en-US" sz="806" dirty="0"/>
          </a:p>
        </p:txBody>
      </p:sp>
      <p:sp>
        <p:nvSpPr>
          <p:cNvPr id="25" name="Shape 22"/>
          <p:cNvSpPr/>
          <p:nvPr/>
        </p:nvSpPr>
        <p:spPr>
          <a:xfrm>
            <a:off x="685800" y="5426823"/>
            <a:ext cx="91440" cy="91440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6" name="Text 23"/>
          <p:cNvSpPr txBox="1"/>
          <p:nvPr/>
        </p:nvSpPr>
        <p:spPr>
          <a:xfrm>
            <a:off x="870257" y="5180422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6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Chrome Web Store</a:t>
            </a:r>
            <a:endParaRPr lang="en-US" sz="806" dirty="0"/>
          </a:p>
        </p:txBody>
      </p:sp>
      <p:sp>
        <p:nvSpPr>
          <p:cNvPr id="27" name="Shape 24"/>
          <p:cNvSpPr/>
          <p:nvPr/>
        </p:nvSpPr>
        <p:spPr>
          <a:xfrm>
            <a:off x="685800" y="5657183"/>
            <a:ext cx="91440" cy="91440"/>
          </a:xfrm>
          <a:prstGeom prst="ellipse">
            <a:avLst/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8" name="Text 25"/>
          <p:cNvSpPr txBox="1"/>
          <p:nvPr/>
        </p:nvSpPr>
        <p:spPr>
          <a:xfrm>
            <a:off x="870257" y="5642697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6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Support</a:t>
            </a:r>
            <a:endParaRPr lang="en-US" sz="806" dirty="0"/>
          </a:p>
        </p:txBody>
      </p:sp>
      <p:pic>
        <p:nvPicPr>
          <p:cNvPr id="30" name="Image 1" descr="/home/claude/deck/imgc/app-secrets.jpg"/>
          <p:cNvPicPr>
            <a:picLocks noChangeAspect="1"/>
          </p:cNvPicPr>
          <p:nvPr/>
        </p:nvPicPr>
        <p:blipFill>
          <a:blip r:embed="rId4"/>
          <a:srcRect t="-321" b="6491"/>
          <a:stretch>
            <a:fillRect/>
          </a:stretch>
        </p:blipFill>
        <p:spPr>
          <a:xfrm>
            <a:off x="5178330" y="1776659"/>
            <a:ext cx="6775882" cy="4101414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5114693" y="1709778"/>
            <a:ext cx="6911244" cy="4219459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2" name="Shape 28"/>
          <p:cNvSpPr/>
          <p:nvPr/>
        </p:nvSpPr>
        <p:spPr>
          <a:xfrm>
            <a:off x="658368" y="6126480"/>
            <a:ext cx="10874959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Text 29"/>
          <p:cNvSpPr txBox="1"/>
          <p:nvPr/>
        </p:nvSpPr>
        <p:spPr>
          <a:xfrm>
            <a:off x="658368" y="6323716"/>
            <a:ext cx="6524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 · AI Secret Manager · MIT  ·  Developed by FXerkan — Code more, worry less.</a:t>
            </a:r>
            <a:endParaRPr lang="en-US" sz="900" dirty="0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EAB549D1-BF52-0E00-4D5E-FC85C634B390}"/>
              </a:ext>
            </a:extLst>
          </p:cNvPr>
          <p:cNvSpPr/>
          <p:nvPr/>
        </p:nvSpPr>
        <p:spPr>
          <a:xfrm>
            <a:off x="4679944" y="7178997"/>
            <a:ext cx="1990239" cy="310896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1"/>
          <p:cNvSpPr txBox="1"/>
          <p:nvPr/>
        </p:nvSpPr>
        <p:spPr>
          <a:xfrm>
            <a:off x="4869248" y="7258401"/>
            <a:ext cx="16116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scoop install concealer</a:t>
            </a:r>
            <a:endParaRPr lang="en-US" sz="900" dirty="0"/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A8822D67-9C51-4F50-891D-358A87E959C9}"/>
              </a:ext>
            </a:extLst>
          </p:cNvPr>
          <p:cNvSpPr/>
          <p:nvPr/>
        </p:nvSpPr>
        <p:spPr>
          <a:xfrm>
            <a:off x="661629" y="2761587"/>
            <a:ext cx="3176465" cy="384048"/>
          </a:xfrm>
          <a:prstGeom prst="roundRect">
            <a:avLst>
              <a:gd name="adj" fmla="val 50000"/>
            </a:avLst>
          </a:prstGeom>
          <a:solidFill>
            <a:srgbClr val="F04A4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E0B2E89C-8774-2394-1114-CE9B160794E3}"/>
              </a:ext>
            </a:extLst>
          </p:cNvPr>
          <p:cNvSpPr txBox="1"/>
          <p:nvPr/>
        </p:nvSpPr>
        <p:spPr>
          <a:xfrm>
            <a:off x="846950" y="2811885"/>
            <a:ext cx="2884991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b="1" kern="0" spc="135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AI SECRET MANAGER</a:t>
            </a:r>
            <a:endParaRPr lang="en-US" b="1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DABDFAD-C3EF-0263-68EC-EAC4CAAB62C1}"/>
              </a:ext>
            </a:extLst>
          </p:cNvPr>
          <p:cNvGrpSpPr/>
          <p:nvPr/>
        </p:nvGrpSpPr>
        <p:grpSpPr>
          <a:xfrm>
            <a:off x="661629" y="1751276"/>
            <a:ext cx="3340394" cy="893560"/>
            <a:chOff x="658368" y="1172235"/>
            <a:chExt cx="3340394" cy="893560"/>
          </a:xfrm>
        </p:grpSpPr>
        <p:pic>
          <p:nvPicPr>
            <p:cNvPr id="39" name="Image 1" descr="/home/claude/decks/kit2/worlds/../logos/concealer-logo.png">
              <a:extLst>
                <a:ext uri="{FF2B5EF4-FFF2-40B4-BE49-F238E27FC236}">
                  <a16:creationId xmlns:a16="http://schemas.microsoft.com/office/drawing/2014/main" id="{1947D560-BE9B-5D1B-A03C-65405524B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8368" y="1202407"/>
              <a:ext cx="801860" cy="801860"/>
            </a:xfrm>
            <a:prstGeom prst="rect">
              <a:avLst/>
            </a:prstGeom>
          </p:spPr>
        </p:pic>
        <p:sp>
          <p:nvSpPr>
            <p:cNvPr id="40" name="Text 12">
              <a:extLst>
                <a:ext uri="{FF2B5EF4-FFF2-40B4-BE49-F238E27FC236}">
                  <a16:creationId xmlns:a16="http://schemas.microsoft.com/office/drawing/2014/main" id="{1B856DD3-6773-63B5-0AF6-D85F427D24F3}"/>
                </a:ext>
              </a:extLst>
            </p:cNvPr>
            <p:cNvSpPr txBox="1"/>
            <p:nvPr/>
          </p:nvSpPr>
          <p:spPr>
            <a:xfrm>
              <a:off x="1360497" y="1181697"/>
              <a:ext cx="2638265" cy="8840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buNone/>
              </a:pPr>
              <a:r>
                <a:rPr lang="en-US" sz="4900" b="1" kern="0" spc="-137" dirty="0">
                  <a:solidFill>
                    <a:srgbClr val="ECECEF"/>
                  </a:solidFill>
                  <a:latin typeface="Archivo Black" pitchFamily="34" charset="0"/>
                  <a:ea typeface="Archivo Black" pitchFamily="34" charset="-122"/>
                  <a:cs typeface="Archivo Black" pitchFamily="34" charset="-120"/>
                </a:rPr>
                <a:t>conceal</a:t>
              </a:r>
              <a:endParaRPr lang="en-US" sz="4900" b="1" dirty="0"/>
            </a:p>
          </p:txBody>
        </p:sp>
        <p:sp>
          <p:nvSpPr>
            <p:cNvPr id="41" name="Shape 13">
              <a:extLst>
                <a:ext uri="{FF2B5EF4-FFF2-40B4-BE49-F238E27FC236}">
                  <a16:creationId xmlns:a16="http://schemas.microsoft.com/office/drawing/2014/main" id="{D0225C9A-932C-C065-BC99-32056BDBE1DE}"/>
                </a:ext>
              </a:extLst>
            </p:cNvPr>
            <p:cNvSpPr/>
            <p:nvPr/>
          </p:nvSpPr>
          <p:spPr>
            <a:xfrm>
              <a:off x="3227480" y="1309278"/>
              <a:ext cx="607353" cy="547778"/>
            </a:xfrm>
            <a:prstGeom prst="roundRect">
              <a:avLst>
                <a:gd name="adj" fmla="val 22000"/>
              </a:avLst>
            </a:prstGeom>
            <a:solidFill>
              <a:srgbClr val="F04A4A"/>
            </a:solidFill>
            <a:ln/>
          </p:spPr>
          <p:txBody>
            <a:bodyPr/>
            <a:lstStyle/>
            <a:p>
              <a:endParaRPr lang="en-TR"/>
            </a:p>
          </p:txBody>
        </p:sp>
        <p:sp>
          <p:nvSpPr>
            <p:cNvPr id="42" name="Text 12">
              <a:extLst>
                <a:ext uri="{FF2B5EF4-FFF2-40B4-BE49-F238E27FC236}">
                  <a16:creationId xmlns:a16="http://schemas.microsoft.com/office/drawing/2014/main" id="{517DDB1A-B6D9-3433-002C-070719A27BC7}"/>
                </a:ext>
              </a:extLst>
            </p:cNvPr>
            <p:cNvSpPr txBox="1"/>
            <p:nvPr/>
          </p:nvSpPr>
          <p:spPr>
            <a:xfrm>
              <a:off x="3254918" y="1172235"/>
              <a:ext cx="647265" cy="8840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buNone/>
              </a:pPr>
              <a:r>
                <a:rPr lang="en-US" sz="4900" b="1" kern="0" spc="-137" dirty="0">
                  <a:latin typeface="Archivo Black" pitchFamily="34" charset="0"/>
                  <a:ea typeface="Archivo Black" pitchFamily="34" charset="-122"/>
                  <a:cs typeface="Archivo Black" pitchFamily="34" charset="-120"/>
                </a:rPr>
                <a:t>er</a:t>
              </a:r>
              <a:endParaRPr lang="en-US" sz="4900" b="1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4844</Words>
  <Application>Microsoft Macintosh PowerPoint</Application>
  <PresentationFormat>Widescreen</PresentationFormat>
  <Paragraphs>540</Paragraphs>
  <Slides>25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Archivo</vt:lpstr>
      <vt:lpstr>Archivo Black</vt:lpstr>
      <vt:lpstr>Archivo SemiBold</vt:lpstr>
      <vt:lpstr>Arial</vt:lpstr>
      <vt:lpstr>Martian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fxerkan.com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concealer — Pitch Deck (EN)</dc:title>
  <dc:subject>PptxGenJS Presentation</dc:subject>
  <dc:creator>FXerkan</dc:creator>
  <cp:lastModifiedBy>Erkan Çiftçi</cp:lastModifiedBy>
  <cp:revision>3</cp:revision>
  <dcterms:created xsi:type="dcterms:W3CDTF">2026-09-13T17:40:09Z</dcterms:created>
  <dcterms:modified xsi:type="dcterms:W3CDTF">2026-09-17T15:56:31Z</dcterms:modified>
</cp:coreProperties>
</file>