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jpg"/><Relationship Id="rId3" Type="http://schemas.openxmlformats.org/officeDocument/2006/relationships/image" Target="../media/image-1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34614" y="146304"/>
            <a:ext cx="802977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099206" y="182743"/>
            <a:ext cx="8029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Secrets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030199" y="182743"/>
            <a:ext cx="98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A9AA4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Audit Logs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147481" y="182743"/>
            <a:ext cx="64815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A9AA4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Stats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923655" y="182743"/>
            <a:ext cx="6750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A9AA4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Risks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726765" y="182743"/>
            <a:ext cx="8391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A9AA4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Settings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pic>
        <p:nvPicPr>
          <p:cNvPr id="15" name="Image 1" descr="/home/claude/decks/kit2/worlds/../logos/concealer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02407"/>
            <a:ext cx="801860" cy="8018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834675" y="1201704"/>
            <a:ext cx="8229600" cy="884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900" spc="-137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4900" dirty="0"/>
          </a:p>
        </p:txBody>
      </p:sp>
      <p:sp>
        <p:nvSpPr>
          <p:cNvPr id="17" name="Shape 13"/>
          <p:cNvSpPr/>
          <p:nvPr/>
        </p:nvSpPr>
        <p:spPr>
          <a:xfrm>
            <a:off x="4518157" y="1246510"/>
            <a:ext cx="1311684" cy="71365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840757" y="1201704"/>
            <a:ext cx="1032243" cy="713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900" spc="-98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4900" dirty="0"/>
          </a:p>
        </p:txBody>
      </p:sp>
      <p:sp>
        <p:nvSpPr>
          <p:cNvPr id="19" name="Shape 15"/>
          <p:cNvSpPr/>
          <p:nvPr/>
        </p:nvSpPr>
        <p:spPr>
          <a:xfrm>
            <a:off x="658368" y="2182546"/>
            <a:ext cx="3558540" cy="384048"/>
          </a:xfrm>
          <a:prstGeom prst="roundRect">
            <a:avLst>
              <a:gd name="adj" fmla="val 50000"/>
            </a:avLst>
          </a:prstGeom>
          <a:solidFill>
            <a:srgbClr val="F04A4A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914400" y="2248383"/>
            <a:ext cx="355854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spc="135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 AI SECRET MANAGER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658368" y="2793548"/>
            <a:ext cx="5184648" cy="1059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12"/>
              </a:lnSpc>
              <a:buNone/>
            </a:pPr>
            <a:r>
              <a:rPr lang="en-US" sz="2600" b="1" spc="-36" kern="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Anahtarlarınızı sohbet penceresine yapıştırmayı bırakın.</a:t>
            </a:r>
            <a:endParaRPr lang="en-US" sz="2600" dirty="0"/>
          </a:p>
        </p:txBody>
      </p:sp>
      <p:sp>
        <p:nvSpPr>
          <p:cNvPr id="22" name="Text 18"/>
          <p:cNvSpPr txBox="1"/>
          <p:nvPr/>
        </p:nvSpPr>
        <p:spPr>
          <a:xfrm>
            <a:off x="658368" y="3827018"/>
            <a:ext cx="5074920" cy="1352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Ajanlarınızın gizli anahtarlara ihtiyacı var; gerçek anahtarı onlara vermek ise sızıntının ta kendisi. concealer her şeyi kendi diskinizdeki tek bir şifreli dosyada tutar — altında SOPS ve age vardır — ve yapay zekânızın çağırabileceği MCP sunucusu dâhil her arayüze, anahtarın değerini hiç görmeden kullanma yolu verir.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58368" y="5326444"/>
            <a:ext cx="728091" cy="292608"/>
          </a:xfrm>
          <a:prstGeom prst="roundRect">
            <a:avLst>
              <a:gd name="adj" fmla="val 50000"/>
            </a:avLst>
          </a:prstGeom>
          <a:solidFill>
            <a:srgbClr val="1B1B20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58368" y="5408582"/>
            <a:ext cx="728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68" kern="0" dirty="0">
                <a:solidFill>
                  <a:srgbClr val="9A9AA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CLI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1496187" y="5326444"/>
            <a:ext cx="980694" cy="292608"/>
          </a:xfrm>
          <a:prstGeom prst="roundRect">
            <a:avLst>
              <a:gd name="adj" fmla="val 50000"/>
            </a:avLst>
          </a:prstGeom>
          <a:solidFill>
            <a:srgbClr val="1B1B20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496187" y="5408582"/>
            <a:ext cx="9806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68" kern="0" dirty="0">
                <a:solidFill>
                  <a:srgbClr val="9A9AA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WEB UI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2586609" y="5326444"/>
            <a:ext cx="728091" cy="292608"/>
          </a:xfrm>
          <a:prstGeom prst="roundRect">
            <a:avLst>
              <a:gd name="adj" fmla="val 50000"/>
            </a:avLst>
          </a:prstGeom>
          <a:solidFill>
            <a:srgbClr val="1B1B20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2586609" y="5408582"/>
            <a:ext cx="728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68" kern="0" dirty="0">
                <a:solidFill>
                  <a:srgbClr val="9A9AA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TUI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3424428" y="5326444"/>
            <a:ext cx="1317498" cy="292608"/>
          </a:xfrm>
          <a:prstGeom prst="roundRect">
            <a:avLst>
              <a:gd name="adj" fmla="val 50000"/>
            </a:avLst>
          </a:prstGeom>
          <a:solidFill>
            <a:srgbClr val="1B1B20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3424428" y="5408582"/>
            <a:ext cx="1317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68" kern="0" dirty="0">
                <a:solidFill>
                  <a:srgbClr val="9A9AA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MCP SUNUCU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658368" y="5728780"/>
            <a:ext cx="980694" cy="292608"/>
          </a:xfrm>
          <a:prstGeom prst="roundRect">
            <a:avLst>
              <a:gd name="adj" fmla="val 50000"/>
            </a:avLst>
          </a:prstGeom>
          <a:solidFill>
            <a:srgbClr val="1B1B20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58368" y="5810918"/>
            <a:ext cx="9806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68" kern="0" dirty="0">
                <a:solidFill>
                  <a:srgbClr val="9A9AA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CHROME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658368" y="6053328"/>
            <a:ext cx="5074920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58368" y="6251799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concealer.fxerkan.com</a:t>
            </a:r>
            <a:endParaRPr lang="en-US" sz="850" dirty="0"/>
          </a:p>
        </p:txBody>
      </p:sp>
      <p:sp>
        <p:nvSpPr>
          <p:cNvPr id="35" name="Text 31"/>
          <p:cNvSpPr txBox="1"/>
          <p:nvPr/>
        </p:nvSpPr>
        <p:spPr>
          <a:xfrm>
            <a:off x="2688336" y="6251799"/>
            <a:ext cx="3044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MIT  ·  macOS · Linux · Windows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6108192" y="1408176"/>
            <a:ext cx="5827471" cy="3759258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pic>
        <p:nvPicPr>
          <p:cNvPr id="37" name="Image 2" descr="/home/claude/deck/imgc/app-secret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1335024"/>
            <a:ext cx="5827471" cy="3759258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6053328" y="1335024"/>
            <a:ext cx="5827471" cy="3759258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6053328" y="5292752"/>
            <a:ext cx="58274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Her anahtar kapsamlı ve etiketli — ve hiçbiri bu makineden çıkmıyor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3099206" y="182743"/>
            <a:ext cx="80297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A9AA4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Secrets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030199" y="182743"/>
            <a:ext cx="98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A9AA4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Audit Logs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147481" y="182743"/>
            <a:ext cx="64815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A9AA4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Stats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759063" y="146304"/>
            <a:ext cx="675094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23655" y="182743"/>
            <a:ext cx="6750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Risks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726765" y="182743"/>
            <a:ext cx="8391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A9AA4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Settings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658368" y="1058144"/>
            <a:ext cx="550468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72"/>
              </a:lnSpc>
              <a:buNone/>
            </a:pPr>
            <a:r>
              <a:rPr lang="en-US" sz="3400" spc="-75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Ve size çoktan sızmış olanı da söyler.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658368" y="2269856"/>
            <a:ext cx="539496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Döndürdüğünüz bir anahtar güvendedir; geçen yılın commit'inde duran anahtar değildir. concealer çalışma dizinini, git geçmişini, .env dosyalarını ve içe aktarımları tarar; hâlihazırda açıkta olanı kapatabileceğiniz bir uyarı olarak değil, maruziyet olarak listeler.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58368" y="3523437"/>
            <a:ext cx="5394960" cy="384048"/>
          </a:xfrm>
          <a:prstGeom prst="roundRect">
            <a:avLst>
              <a:gd name="adj" fmla="val 14286"/>
            </a:avLst>
          </a:prstGeom>
          <a:solidFill>
            <a:srgbClr val="08080A"/>
          </a:solidFill>
          <a:ln w="9525">
            <a:solidFill>
              <a:srgbClr val="26262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59536" y="3629233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$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3629233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 scan ./repo --history --envvars --import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58368" y="4017213"/>
            <a:ext cx="5394960" cy="384048"/>
          </a:xfrm>
          <a:prstGeom prst="roundRect">
            <a:avLst>
              <a:gd name="adj" fmla="val 14286"/>
            </a:avLst>
          </a:prstGeom>
          <a:solidFill>
            <a:srgbClr val="08080A"/>
          </a:solidFill>
          <a:ln w="9525">
            <a:solidFill>
              <a:srgbClr val="26262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59536" y="4123009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$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97280" y="4123009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 expose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58368" y="4510989"/>
            <a:ext cx="5394960" cy="384048"/>
          </a:xfrm>
          <a:prstGeom prst="roundRect">
            <a:avLst>
              <a:gd name="adj" fmla="val 14286"/>
            </a:avLst>
          </a:prstGeom>
          <a:solidFill>
            <a:srgbClr val="08080A"/>
          </a:solidFill>
          <a:ln w="9525">
            <a:solidFill>
              <a:srgbClr val="26262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59536" y="4616785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$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097280" y="4616785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 gitscan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658368" y="5215580"/>
            <a:ext cx="539496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Aynı tarama web arayüzünden de çalışır ve her döndürme, oynanmaya karşı korumalı denetim zincirine yazılır.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6053328"/>
            <a:ext cx="5394960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6251799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Kaynak: docs/security.md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68796" y="1551054"/>
            <a:ext cx="5468112" cy="3966204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pic>
        <p:nvPicPr>
          <p:cNvPr id="30" name="Image 1" descr="/home/claude/deck/imgc/app-risks-exposur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1500762"/>
            <a:ext cx="5468112" cy="3966204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6327648" y="1500762"/>
            <a:ext cx="5468112" cy="3966204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327648" y="6142071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Riskler → Maruziyet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848716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848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Problem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6144768" cy="118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spc="-74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Kodlama asistanın repo'daki her dosyayı okuyor.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919803"/>
            <a:ext cx="6035040" cy="836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Claude Code, Codex, Gemini CLI, opencode, Cursor — hepsi harika ve hepsi proje dosyalarını okuyor. Bir anahtar .env'e, credentials.json'a ya da bir sohbet penceresine düştüğü anda dışarı çıkmanın dört yolu var.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58368" y="2891092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F04A4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58368" y="293187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3816" y="3220276"/>
            <a:ext cx="0" cy="256032"/>
          </a:xfrm>
          <a:prstGeom prst="line">
            <a:avLst/>
          </a:prstGeom>
          <a:noFill/>
          <a:ln w="17780">
            <a:solidFill>
              <a:srgbClr val="26262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133856" y="2866128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Ajan tarafından okunur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ve bir model sağlayıcısına gönderilir.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58368" y="3494596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4070D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58368" y="353537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13816" y="3823780"/>
            <a:ext cx="0" cy="256032"/>
          </a:xfrm>
          <a:prstGeom prst="line">
            <a:avLst/>
          </a:prstGeom>
          <a:noFill/>
          <a:ln w="17780">
            <a:solidFill>
              <a:srgbClr val="26262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33856" y="3469632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Kullandığın aracın 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log'larına veya telemetrisine kaydedilir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58368" y="4098100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2F9E6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58368" y="413888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13816" y="4427284"/>
            <a:ext cx="0" cy="256032"/>
          </a:xfrm>
          <a:prstGeom prst="line">
            <a:avLst/>
          </a:prstGeom>
          <a:noFill/>
          <a:ln w="17780">
            <a:solidFill>
              <a:srgbClr val="26262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133856" y="4073136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Kazara 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git'e commit edilir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ve geçmişte kalır.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58368" y="4701604"/>
            <a:ext cx="310896" cy="310896"/>
          </a:xfrm>
          <a:prstGeom prst="roundRect">
            <a:avLst>
              <a:gd name="adj" fmla="val 26471"/>
            </a:avLst>
          </a:prstGeom>
          <a:solidFill>
            <a:srgbClr val="D8963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58368" y="474238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133856" y="4676640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Aynı isimle 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on iki repo'ya kopyalanır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hangisinin hangisi olduğu ayırt edilemez.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7205472" y="954725"/>
            <a:ext cx="4327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Bunun bedeli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7205472" y="1389888"/>
            <a:ext cx="992810" cy="1060704"/>
          </a:xfrm>
          <a:prstGeom prst="roundRect">
            <a:avLst>
              <a:gd name="adj" fmla="val 8289"/>
            </a:avLst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406640" y="1524853"/>
            <a:ext cx="6270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04A4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7397496" y="2142444"/>
            <a:ext cx="645338" cy="319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4"/>
              </a:lnSpc>
              <a:buNone/>
            </a:pPr>
            <a:r>
              <a:rPr lang="en-US" sz="650" spc="39" kern="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ANAHTARIN KAÇIŞ YOLU</a:t>
            </a:r>
            <a:endParaRPr lang="en-US" sz="650" dirty="0"/>
          </a:p>
        </p:txBody>
      </p:sp>
      <p:sp>
        <p:nvSpPr>
          <p:cNvPr id="32" name="Shape 29"/>
          <p:cNvSpPr/>
          <p:nvPr/>
        </p:nvSpPr>
        <p:spPr>
          <a:xfrm>
            <a:off x="8317154" y="1389888"/>
            <a:ext cx="992810" cy="1060704"/>
          </a:xfrm>
          <a:prstGeom prst="roundRect">
            <a:avLst>
              <a:gd name="adj" fmla="val 8289"/>
            </a:avLst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518322" y="1524853"/>
            <a:ext cx="6270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4070D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1</a:t>
            </a:r>
            <a:endParaRPr lang="en-US" sz="2200" dirty="0"/>
          </a:p>
        </p:txBody>
      </p:sp>
      <p:sp>
        <p:nvSpPr>
          <p:cNvPr id="34" name="Text 31"/>
          <p:cNvSpPr txBox="1"/>
          <p:nvPr/>
        </p:nvSpPr>
        <p:spPr>
          <a:xfrm>
            <a:off x="8509178" y="2214293"/>
            <a:ext cx="645338" cy="253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"/>
              </a:lnSpc>
              <a:buNone/>
            </a:pPr>
            <a:r>
              <a:rPr lang="en-US" sz="425" spc="26" kern="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PIŞMAN OLACAĞIN YAPIŞTIRMA</a:t>
            </a:r>
            <a:endParaRPr lang="en-US" sz="425" dirty="0"/>
          </a:p>
        </p:txBody>
      </p:sp>
      <p:sp>
        <p:nvSpPr>
          <p:cNvPr id="35" name="Shape 32"/>
          <p:cNvSpPr/>
          <p:nvPr/>
        </p:nvSpPr>
        <p:spPr>
          <a:xfrm>
            <a:off x="9428836" y="1389888"/>
            <a:ext cx="992810" cy="1060704"/>
          </a:xfrm>
          <a:prstGeom prst="roundRect">
            <a:avLst>
              <a:gd name="adj" fmla="val 8289"/>
            </a:avLst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630004" y="1524853"/>
            <a:ext cx="6270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2F9E6B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0</a:t>
            </a:r>
            <a:endParaRPr lang="en-US" sz="2200" dirty="0"/>
          </a:p>
        </p:txBody>
      </p:sp>
      <p:sp>
        <p:nvSpPr>
          <p:cNvPr id="37" name="Text 34"/>
          <p:cNvSpPr txBox="1"/>
          <p:nvPr/>
        </p:nvSpPr>
        <p:spPr>
          <a:xfrm>
            <a:off x="9620860" y="2214293"/>
            <a:ext cx="645338" cy="253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"/>
              </a:lnSpc>
              <a:buNone/>
            </a:pPr>
            <a:r>
              <a:rPr lang="en-US" sz="425" spc="26" kern="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BUNU TRANSKRIPTTE DURDURAN ARAÇ</a:t>
            </a:r>
            <a:endParaRPr lang="en-US" sz="425" dirty="0"/>
          </a:p>
        </p:txBody>
      </p:sp>
      <p:sp>
        <p:nvSpPr>
          <p:cNvPr id="38" name="Shape 35"/>
          <p:cNvSpPr/>
          <p:nvPr/>
        </p:nvSpPr>
        <p:spPr>
          <a:xfrm>
            <a:off x="10540517" y="1389888"/>
            <a:ext cx="992810" cy="1060704"/>
          </a:xfrm>
          <a:prstGeom prst="roundRect">
            <a:avLst>
              <a:gd name="adj" fmla="val 8289"/>
            </a:avLst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0741685" y="1524853"/>
            <a:ext cx="6270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D8963C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∞</a:t>
            </a:r>
            <a:endParaRPr lang="en-US" sz="2200" dirty="0"/>
          </a:p>
        </p:txBody>
      </p:sp>
      <p:sp>
        <p:nvSpPr>
          <p:cNvPr id="40" name="Text 37"/>
          <p:cNvSpPr txBox="1"/>
          <p:nvPr/>
        </p:nvSpPr>
        <p:spPr>
          <a:xfrm>
            <a:off x="10732541" y="2214293"/>
            <a:ext cx="645338" cy="253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3"/>
              </a:lnSpc>
              <a:buNone/>
            </a:pPr>
            <a:r>
              <a:rPr lang="en-US" sz="425" spc="26" kern="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DIŞARI ÇIKTIKTAN SONRAKI ERIŞIM</a:t>
            </a:r>
            <a:endParaRPr lang="en-US" sz="425" dirty="0"/>
          </a:p>
        </p:txBody>
      </p:sp>
      <p:sp>
        <p:nvSpPr>
          <p:cNvPr id="41" name="Shape 38"/>
          <p:cNvSpPr/>
          <p:nvPr/>
        </p:nvSpPr>
        <p:spPr>
          <a:xfrm>
            <a:off x="7237476" y="2902031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7443216" y="2791389"/>
            <a:ext cx="4090111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 listedeki hiçbir şey ajanın hatası değil — dosyalarını okumak </a:t>
            </a:r>
            <a:pPr algn="l" indent="0" marL="0">
              <a:lnSpc>
                <a:spcPts val="1562"/>
              </a:lnSpc>
              <a:buNone/>
            </a:pPr>
            <a:r>
              <a:rPr lang="en-US" sz="1100" i="1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tam olarak bu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demek.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7237476" y="3481659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7443216" y="3371017"/>
            <a:ext cx="4090111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Dolayısıyla çözüm "dikkatli ol" olamaz. Çözüm, değerin dosyada, transkriptte ve geçmişte hiç bulunmaması olmak zorunda.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7237476" y="4061287"/>
            <a:ext cx="105613" cy="1056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7443216" y="3950645"/>
            <a:ext cx="4090111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Bir sohbet penceresine secret yapıştırıp bir saniye sonra pişman olduysan — concealer tam bu kaşıntıyı kaşıyor.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Kaynak: README.md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848716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8487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Problem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24240"/>
            <a:ext cx="10808208" cy="1242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spc="-79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Doppler, Infisical, Vault ve 1Password başka bir problemi çözüyor.</a:t>
            </a:r>
            <a:endParaRPr lang="en-US" sz="33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965168"/>
            <a:ext cx="859536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Onlar filolar, ekipler ve senkronizasyon için kurulmuş. Tek laptop'ta AI ajanıyla çalışan tek bir geliştiricinin ise hiçbirinin başa yazmadığı beş şeye ihtiyacı var: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58368" y="2724683"/>
            <a:ext cx="3503066" cy="1725676"/>
          </a:xfrm>
          <a:prstGeom prst="roundRect">
            <a:avLst>
              <a:gd name="adj" fmla="val 5299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" y="2852699"/>
            <a:ext cx="0" cy="822960"/>
          </a:xfrm>
          <a:prstGeom prst="line">
            <a:avLst/>
          </a:prstGeom>
          <a:noFill/>
          <a:ln w="38100">
            <a:solidFill>
              <a:srgbClr val="F04A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77824" y="2906100"/>
            <a:ext cx="306415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64" kern="0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01 · Çevrimdışı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877824" y="3130768"/>
            <a:ext cx="3100730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Yalnızca yerel, kanıtlanabilir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77824" y="3462096"/>
            <a:ext cx="3064154" cy="948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Secret'lar makineden hiç çıkmaz. Hesap yok, senkron sunucusu yok, telemetri yok — önüne bir firewall koyup hiçbir şeyin dışarı konuşmadığını izleyebilirsin.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344314" y="2724683"/>
            <a:ext cx="3503066" cy="1725676"/>
          </a:xfrm>
          <a:prstGeom prst="roundRect">
            <a:avLst>
              <a:gd name="adj" fmla="val 5299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44314" y="2852699"/>
            <a:ext cx="0" cy="822960"/>
          </a:xfrm>
          <a:prstGeom prst="line">
            <a:avLst/>
          </a:prstGeom>
          <a:noFill/>
          <a:ln w="38100">
            <a:solidFill>
              <a:srgbClr val="4070D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63770" y="2906100"/>
            <a:ext cx="306415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64" kern="0" dirty="0">
                <a:solidFill>
                  <a:srgbClr val="4070D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02 · Taşınabilir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4563770" y="3130768"/>
            <a:ext cx="3100730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Parolaya bağlı, donanıma değil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563770" y="3462096"/>
            <a:ext cx="3064154" cy="948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Kasa, yalnızca ana parolayla herhangi bir makinede açılır. Bu laptop'ın Keychain'ine ya da TPM'ine bağlı değil. Dosyaları kopyala, parolayı yaz, bitti.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030261" y="2724683"/>
            <a:ext cx="3503066" cy="1725676"/>
          </a:xfrm>
          <a:prstGeom prst="roundRect">
            <a:avLst>
              <a:gd name="adj" fmla="val 5299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030261" y="2852699"/>
            <a:ext cx="0" cy="822960"/>
          </a:xfrm>
          <a:prstGeom prst="line">
            <a:avLst/>
          </a:prstGeom>
          <a:noFill/>
          <a:ln w="38100">
            <a:solidFill>
              <a:srgbClr val="2F9E6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49717" y="2906100"/>
            <a:ext cx="306415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64" kern="0" dirty="0">
                <a:solidFill>
                  <a:srgbClr val="2F9E6B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03 · Git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8249717" y="3130768"/>
            <a:ext cx="3100730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İncelenebilir, versiyonlanabilir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249717" y="3462096"/>
            <a:ext cx="3064154" cy="948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Şifreli kasa, commit edebileceğin düz bir SOPS dosyası — anahtarlar görünür, değerler şifreli. Aracın kendisi kara kutu değil, okunabilir tek bir Python script'i.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58368" y="4633239"/>
            <a:ext cx="3503066" cy="1725676"/>
          </a:xfrm>
          <a:prstGeom prst="roundRect">
            <a:avLst>
              <a:gd name="adj" fmla="val 5299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58368" y="4761255"/>
            <a:ext cx="0" cy="822960"/>
          </a:xfrm>
          <a:prstGeom prst="line">
            <a:avLst/>
          </a:prstGeom>
          <a:noFill/>
          <a:ln w="38100">
            <a:solidFill>
              <a:srgbClr val="D8963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77824" y="4814656"/>
            <a:ext cx="306415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64" kern="0" dirty="0">
                <a:solidFill>
                  <a:srgbClr val="D8963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04 · AI-güvenli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877824" y="5039324"/>
            <a:ext cx="3100730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Ajan kullanır, görmez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77824" y="5370652"/>
            <a:ext cx="3064154" cy="948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MCP sunucusu ajanın isimleri listelemesine ve değerleri bir komutun ortamına enjekte etmesine izin verir. Açık metin, ajanın geri okuduğu her şeyden temizlenir.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344314" y="4633239"/>
            <a:ext cx="3503066" cy="1725676"/>
          </a:xfrm>
          <a:prstGeom prst="roundRect">
            <a:avLst>
              <a:gd name="adj" fmla="val 5299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344314" y="4761255"/>
            <a:ext cx="0" cy="822960"/>
          </a:xfrm>
          <a:prstGeom prst="line">
            <a:avLst/>
          </a:prstGeom>
          <a:noFill/>
          <a:ln w="38100">
            <a:solidFill>
              <a:srgbClr val="F04A4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563770" y="4814656"/>
            <a:ext cx="306415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64" kern="0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05 · Kapsamlı</a:t>
            </a:r>
            <a:endParaRPr lang="en-US" sz="800" dirty="0"/>
          </a:p>
        </p:txBody>
      </p:sp>
      <p:sp>
        <p:nvSpPr>
          <p:cNvPr id="36" name="Text 33"/>
          <p:cNvSpPr txBox="1"/>
          <p:nvPr/>
        </p:nvSpPr>
        <p:spPr>
          <a:xfrm>
            <a:off x="4563770" y="5039324"/>
            <a:ext cx="3100730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Tek yer, birçok proje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563770" y="5370652"/>
            <a:ext cx="3064154" cy="948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Birçok repo'da kullanılan aynı değer, tek belirsiz bir isim yerine tenant / project / environment / repo boyutlarıyla ayrıştırılır.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8030261" y="4633239"/>
            <a:ext cx="3503066" cy="1725676"/>
          </a:xfrm>
          <a:prstGeom prst="roundRect">
            <a:avLst>
              <a:gd name="adj" fmla="val 5299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030261" y="4761255"/>
            <a:ext cx="0" cy="822960"/>
          </a:xfrm>
          <a:prstGeom prst="line">
            <a:avLst/>
          </a:prstGeom>
          <a:noFill/>
          <a:ln w="38100">
            <a:solidFill>
              <a:srgbClr val="4070D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249717" y="4814656"/>
            <a:ext cx="306415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64" kern="0" dirty="0">
                <a:solidFill>
                  <a:srgbClr val="4070D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06 · Dürüst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8249717" y="5039324"/>
            <a:ext cx="3100730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Belgelenmiş tavanlar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8249717" y="5370652"/>
            <a:ext cx="3064154" cy="948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Her sınır saklanmak yerine yazılmış: yerel denetim anahtarı, CPython'un sıfırlanmayan belleği, tek kullanıcılı web sunucusu. Bir güvenlik değerlendirmesi bunları okuyabilir.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Kaynak: README.md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629622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629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Ürün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51124"/>
            <a:ext cx="6419088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spc="-62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Savaşta sınanmış iki aracın üzerinde ince ve denetlenebilir bir sarmalayıcı.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806392"/>
            <a:ext cx="6309360" cy="836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concealer kendi kriptografisini yazmaz. Kasayı SOPS şifreler, arka uç age'dir. concealer yalnızca eksik olan kısmı ekler: tipli secret'lar, dört boyutlu kapsam, etiketler, profesyonel bir yerel web konsolu, kurcalama-belirtir bir denetim zinciri ve bir MCP sunucusu.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0372" y="2826784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96112" y="2716141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Tek şifreli dosya.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secrets.enc.yaml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age X25519 üzerinde değer başına AES-256-GCM, git dostu.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0372" y="3406412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96112" y="3295769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Tek okunabilir script.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Python 3, yalnızca standart kütüphane. MIT lisanslı. Aracın kendisi için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pip install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gerekmez.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0372" y="3986040"/>
            <a:ext cx="105613" cy="1056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96112" y="3875397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Beş arayüz, tek çekirdek.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CLI · Web Arayüzü · TUI · MCP · Chrome eklentisi aynı kod yoluna — ve aynı denetim kaydına — akar.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90372" y="4565668"/>
            <a:ext cx="105613" cy="105613"/>
          </a:xfrm>
          <a:prstGeom prst="ellipse">
            <a:avLst/>
          </a:prstGeom>
          <a:solidFill>
            <a:srgbClr val="D8963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96112" y="4455025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Üç platform.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macOS, Linux ve Windows; her biri CI'da doğrulanıyor.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90372" y="4946922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96112" y="4836279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Anahtar diskte açık değil.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age özel anahtarı hiçbir zaman düz metin olarak diske yazılmaz — yalnızca sarmalanmış kopyaları vardır.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520940" y="2515823"/>
            <a:ext cx="4053535" cy="2128106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pic>
        <p:nvPicPr>
          <p:cNvPr id="24" name="Image 1" descr="/home/claude/deck/img/hero-o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2465531"/>
            <a:ext cx="4053535" cy="2128106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7479792" y="2465531"/>
            <a:ext cx="4053535" cy="2128106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Kaynak: README.md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629622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629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Ürün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6419088" cy="118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spc="-74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Ajanlar secret'ları kullanır. Asla okumaz.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919803"/>
            <a:ext cx="630936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Bir ajanı kaydet, ona iptal edilebilir bir token ver; artık canlı bir credential ile psql veya curl çalıştırabilir — değer ise bağlamına hiç girmez.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0372" y="2728422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96112" y="2617780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list_secrets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search_secrets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isim, tip, kapsam ve etiket.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Asla değer değil.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0372" y="3109676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96112" y="2999034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run_with_secrets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eşleşen secret'lar alt ortama enjekte edilerek komutu çalıştırır; değerler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dönen çıktıdan temizlenir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0372" y="3689304"/>
            <a:ext cx="105613" cy="1056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96112" y="3578662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set_secret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değer yazabilir, ama az önce yazdığı değeri geri okuyamaz.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90372" y="4070558"/>
            <a:ext cx="105613" cy="105613"/>
          </a:xfrm>
          <a:prstGeom prst="ellipse">
            <a:avLst/>
          </a:prstGeom>
          <a:solidFill>
            <a:srgbClr val="D8963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96112" y="3959916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Kayıt zorunlu.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İnsan token'ı ya da token'sızlık </a:t>
            </a:r>
            <a:pPr algn="l" indent="0" marL="0">
              <a:lnSpc>
                <a:spcPts val="1562"/>
              </a:lnSpc>
              <a:buNone/>
            </a:pPr>
            <a:r>
              <a:rPr lang="en-US" sz="1100" i="1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erişim reddedildi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alır. Sertleştirilmiş kasada sunucu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kapalı konumda arızalanır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(fail-closed).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90372" y="4650186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96112" y="4539544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Toplu sızdırmaya karşı.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Ajan başına kota: çağrı başına 10 satır, kayan saat içinde 25 farklı isim. Kotayı 0 yaparak ajanı tamamen engelle.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90372" y="5229814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96112" y="5119172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Her çağrı denetlenir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;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source=mcp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ve aktör olarak ajanın etiketi yazılır.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90372" y="5611068"/>
            <a:ext cx="105613" cy="1056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96112" y="5500426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Claude Code, Codex CLI, Gemini CLI, opencode, Cursor, Cline ve Continue ile çalışır — aynı stdio sunucusu, tek satır yapılandırma.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520940" y="2404351"/>
            <a:ext cx="4053535" cy="235105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pic>
        <p:nvPicPr>
          <p:cNvPr id="28" name="Image 1" descr="/home/claude/deck/img/concealer-mcp-flow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2354059"/>
            <a:ext cx="4053535" cy="235105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7479792" y="2354059"/>
            <a:ext cx="4053535" cy="2351050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Kaynak: docs/mcp.md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629622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629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Ürün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6419088" cy="118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spc="-74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Tek script, devredilmiş kripto, beş giriş yolu.</a:t>
            </a:r>
            <a:endParaRPr lang="en-US" sz="3100" dirty="0"/>
          </a:p>
        </p:txBody>
      </p:sp>
      <p:sp>
        <p:nvSpPr>
          <p:cNvPr id="12" name="Shape 9"/>
          <p:cNvSpPr/>
          <p:nvPr/>
        </p:nvSpPr>
        <p:spPr>
          <a:xfrm>
            <a:off x="690372" y="2105563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96112" y="1994921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Her işlem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yükle → dict'e çöz → değiştir → kaydet → yeniden şifrele; iki yönde de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sops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çağrılır.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90372" y="2486817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96112" y="2376175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age anahtarı sops'a bellekte ulaşır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SOPS_AGE_KEY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üzerinden, asla geçici dosyayla değil.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90372" y="2868071"/>
            <a:ext cx="105613" cy="1056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96112" y="2757429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Üç şekilde sarmalanır: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ana parolayla (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age-key.txt.age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), her kurtarma koduyla ve her kilit-açma token'ıyla.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90372" y="3447699"/>
            <a:ext cx="105613" cy="105613"/>
          </a:xfrm>
          <a:prstGeom prst="ellipse">
            <a:avLst/>
          </a:prstGeom>
          <a:solidFill>
            <a:srgbClr val="D8963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96112" y="3337057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Parola sorma yerine token.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İnsanlar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unlock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ile ~8 saatlik TTL token alır; her ajan kendi uzun ömürlü, iptal edilebilir token'ını alır.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90372" y="4027327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96112" y="3916685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Dış bağımlılıklar: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sops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age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expect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Homebrew bunları senin için kurar; Windows'ta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pywinpty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90372" y="4408581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96112" y="4297939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Hiçbiri commit edilmez: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keys/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secrets.enc.yaml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ve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.sops.yaml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git-ignore'da. Repo aracı gönderir, kasayı asla.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520940" y="2239594"/>
            <a:ext cx="4053535" cy="2680564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pic>
        <p:nvPicPr>
          <p:cNvPr id="25" name="Image 1" descr="/home/claude/deck/img/concealer-architectur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2189302"/>
            <a:ext cx="4053535" cy="2680564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7479792" y="2189302"/>
            <a:ext cx="4053535" cy="2680564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Kaynak: docs/concepts.md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875652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8756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Güvenlik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10808208" cy="75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spc="-74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Dört katman ve yazıya geçirilmiş her tavan.</a:t>
            </a:r>
            <a:endParaRPr lang="en-US" sz="3100" dirty="0"/>
          </a:p>
        </p:txBody>
      </p:sp>
      <p:sp>
        <p:nvSpPr>
          <p:cNvPr id="12" name="Shape 9"/>
          <p:cNvSpPr/>
          <p:nvPr/>
        </p:nvSpPr>
        <p:spPr>
          <a:xfrm>
            <a:off x="658368" y="1586814"/>
            <a:ext cx="2581580" cy="1700784"/>
          </a:xfrm>
          <a:prstGeom prst="roundRect">
            <a:avLst>
              <a:gd name="adj" fmla="val 5376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" y="1714830"/>
            <a:ext cx="0" cy="822960"/>
          </a:xfrm>
          <a:prstGeom prst="line">
            <a:avLst/>
          </a:prstGeom>
          <a:noFill/>
          <a:ln w="38100">
            <a:solidFill>
              <a:srgbClr val="F04A4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7824" y="1768231"/>
            <a:ext cx="21426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64" kern="0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Kripto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877824" y="1992899"/>
            <a:ext cx="2179244" cy="565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Devredilmiş, icat edilmemiş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77824" y="2524590"/>
            <a:ext cx="2142668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5"/>
              </a:lnSpc>
              <a:buNone/>
            </a:pPr>
            <a:r>
              <a:rPr lang="en-US" sz="77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age X25519 üzerinde SOPS ile AES-256-GCM. concealer'ın kendi yazdığı tek kripto, stdlib scrypt parola doğrulayıcı ve HMAC denetim zinciri.</a:t>
            </a:r>
            <a:endParaRPr lang="en-US" sz="775" dirty="0"/>
          </a:p>
        </p:txBody>
      </p:sp>
      <p:sp>
        <p:nvSpPr>
          <p:cNvPr id="17" name="Shape 14"/>
          <p:cNvSpPr/>
          <p:nvPr/>
        </p:nvSpPr>
        <p:spPr>
          <a:xfrm>
            <a:off x="3422828" y="1586814"/>
            <a:ext cx="2581580" cy="1700784"/>
          </a:xfrm>
          <a:prstGeom prst="roundRect">
            <a:avLst>
              <a:gd name="adj" fmla="val 5376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22828" y="1714830"/>
            <a:ext cx="0" cy="822960"/>
          </a:xfrm>
          <a:prstGeom prst="line">
            <a:avLst/>
          </a:prstGeom>
          <a:noFill/>
          <a:ln w="38100">
            <a:solidFill>
              <a:srgbClr val="4070D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642284" y="1768231"/>
            <a:ext cx="21426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64" kern="0" dirty="0">
                <a:solidFill>
                  <a:srgbClr val="4070D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Anahtar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3642284" y="1992899"/>
            <a:ext cx="2179244" cy="565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Diskte düz metin anahtar yok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642284" y="2522624"/>
            <a:ext cx="2142668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Yalnızca ana parola, kurtarma kodu ve token ile sarmalanmış kopyalar vardır. Çalınan bir klasör, parola veya kod olmadan işe yaramaz.</a:t>
            </a:r>
            <a:endParaRPr lang="en-US" sz="825" dirty="0"/>
          </a:p>
        </p:txBody>
      </p:sp>
      <p:sp>
        <p:nvSpPr>
          <p:cNvPr id="22" name="Shape 19"/>
          <p:cNvSpPr/>
          <p:nvPr/>
        </p:nvSpPr>
        <p:spPr>
          <a:xfrm>
            <a:off x="6187288" y="1586814"/>
            <a:ext cx="2581580" cy="1700784"/>
          </a:xfrm>
          <a:prstGeom prst="roundRect">
            <a:avLst>
              <a:gd name="adj" fmla="val 5376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87288" y="1714830"/>
            <a:ext cx="0" cy="822960"/>
          </a:xfrm>
          <a:prstGeom prst="line">
            <a:avLst/>
          </a:prstGeom>
          <a:noFill/>
          <a:ln w="38100">
            <a:solidFill>
              <a:srgbClr val="2F9E6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6744" y="1768231"/>
            <a:ext cx="21426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64" kern="0" dirty="0">
                <a:solidFill>
                  <a:srgbClr val="2F9E6B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Token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6406744" y="1992899"/>
            <a:ext cx="2179244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İptal edilebilir, istemcide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406744" y="2324227"/>
            <a:ext cx="2142668" cy="92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Token değeri yalnızca CONCEALER_TOKEN'da yaşar. Kasa bir scrypt hash'i ve sarmalanmış anahtarı tutar. İptal et, o kopya ölür.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951747" y="1586814"/>
            <a:ext cx="2581580" cy="1700784"/>
          </a:xfrm>
          <a:prstGeom prst="roundRect">
            <a:avLst>
              <a:gd name="adj" fmla="val 5376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951747" y="1714830"/>
            <a:ext cx="0" cy="822960"/>
          </a:xfrm>
          <a:prstGeom prst="line">
            <a:avLst/>
          </a:prstGeom>
          <a:noFill/>
          <a:ln w="38100">
            <a:solidFill>
              <a:srgbClr val="D8963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171203" y="1768231"/>
            <a:ext cx="21426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64" kern="0" dirty="0">
                <a:solidFill>
                  <a:srgbClr val="D8963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Kurtarma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9171203" y="1992899"/>
            <a:ext cx="2179244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Gerçek bir ikinci faktör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9171203" y="2324227"/>
            <a:ext cx="2142668" cy="92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8 tek kullanımlık kod. Herhangi biri kasayı kurtarır — ve passwd birini tüketir, böylece çalınmış ana parola tek başına kasayı ele geçiremez.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58368" y="3557209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Tehdit modeli — belgelendiği şekliyle azaltma ve artık risk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58368" y="3854526"/>
            <a:ext cx="10874959" cy="310896"/>
          </a:xfrm>
          <a:prstGeom prst="roundRect">
            <a:avLst>
              <a:gd name="adj" fmla="val 14706"/>
            </a:avLst>
          </a:prstGeom>
          <a:solidFill>
            <a:srgbClr val="1B1B20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786384" y="3943670"/>
            <a:ext cx="277469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Tehdit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3817110" y="3943670"/>
            <a:ext cx="384436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Azaltma</a:t>
            </a:r>
            <a:endParaRPr lang="en-US" sz="800" dirty="0"/>
          </a:p>
        </p:txBody>
      </p:sp>
      <p:sp>
        <p:nvSpPr>
          <p:cNvPr id="36" name="Text 33"/>
          <p:cNvSpPr txBox="1"/>
          <p:nvPr/>
        </p:nvSpPr>
        <p:spPr>
          <a:xfrm>
            <a:off x="7917505" y="3943670"/>
            <a:ext cx="348780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Artık risk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658368" y="4165422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86384" y="4252839"/>
            <a:ext cx="2774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AI sohbetine secret yapıştırılması</a:t>
            </a:r>
            <a:endParaRPr lang="en-US" sz="800" dirty="0"/>
          </a:p>
        </p:txBody>
      </p:sp>
      <p:sp>
        <p:nvSpPr>
          <p:cNvPr id="39" name="Text 36"/>
          <p:cNvSpPr txBox="1"/>
          <p:nvPr/>
        </p:nvSpPr>
        <p:spPr>
          <a:xfrm>
            <a:off x="3817110" y="4252839"/>
            <a:ext cx="3844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MCP göstermeden enjekte eder; çıktı temizlenir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7917505" y="4252839"/>
            <a:ext cx="34878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Ajan kayıtlı ve kota sınırlı olmalı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658368" y="4531182"/>
            <a:ext cx="10874959" cy="365760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42" name="Shape 39"/>
          <p:cNvSpPr/>
          <p:nvPr/>
        </p:nvSpPr>
        <p:spPr>
          <a:xfrm>
            <a:off x="658368" y="4531182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86384" y="4618599"/>
            <a:ext cx="2774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Laptop çalınır, disk kopyalanır</a:t>
            </a:r>
            <a:endParaRPr lang="en-US" sz="800" dirty="0"/>
          </a:p>
        </p:txBody>
      </p:sp>
      <p:sp>
        <p:nvSpPr>
          <p:cNvPr id="44" name="Text 41"/>
          <p:cNvSpPr txBox="1"/>
          <p:nvPr/>
        </p:nvSpPr>
        <p:spPr>
          <a:xfrm>
            <a:off x="3817110" y="4618599"/>
            <a:ext cx="3844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Anahtar diskte açık değil — yalnızca sarmalanmış kopya</a:t>
            </a:r>
            <a:endParaRPr lang="en-US" sz="800" dirty="0"/>
          </a:p>
        </p:txBody>
      </p:sp>
      <p:sp>
        <p:nvSpPr>
          <p:cNvPr id="45" name="Text 42"/>
          <p:cNvSpPr txBox="1"/>
          <p:nvPr/>
        </p:nvSpPr>
        <p:spPr>
          <a:xfrm>
            <a:off x="7917505" y="4618599"/>
            <a:ext cx="34878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Ana parolanın gücü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658368" y="4896942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86384" y="4984359"/>
            <a:ext cx="2774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Ana parola sızar</a:t>
            </a:r>
            <a:endParaRPr lang="en-US" sz="800" dirty="0"/>
          </a:p>
        </p:txBody>
      </p:sp>
      <p:sp>
        <p:nvSpPr>
          <p:cNvPr id="48" name="Text 45"/>
          <p:cNvSpPr txBox="1"/>
          <p:nvPr/>
        </p:nvSpPr>
        <p:spPr>
          <a:xfrm>
            <a:off x="3817110" y="4984359"/>
            <a:ext cx="3844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passwd</a:t>
            </a:r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2. faktör olarak kurtarma kodu ister</a:t>
            </a:r>
            <a:endParaRPr lang="en-US" sz="800" dirty="0"/>
          </a:p>
        </p:txBody>
      </p:sp>
      <p:sp>
        <p:nvSpPr>
          <p:cNvPr id="49" name="Text 46"/>
          <p:cNvSpPr txBox="1"/>
          <p:nvPr/>
        </p:nvSpPr>
        <p:spPr>
          <a:xfrm>
            <a:off x="7917505" y="4984359"/>
            <a:ext cx="34878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Kodlar ayrı yerde saklanmalı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658368" y="5262702"/>
            <a:ext cx="10874959" cy="365760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51" name="Shape 48"/>
          <p:cNvSpPr/>
          <p:nvPr/>
        </p:nvSpPr>
        <p:spPr>
          <a:xfrm>
            <a:off x="658368" y="5262702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786384" y="5350119"/>
            <a:ext cx="2774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Kasa kazara commit edilir</a:t>
            </a:r>
            <a:endParaRPr lang="en-US" sz="800" dirty="0"/>
          </a:p>
        </p:txBody>
      </p:sp>
      <p:sp>
        <p:nvSpPr>
          <p:cNvPr id="53" name="Text 50"/>
          <p:cNvSpPr txBox="1"/>
          <p:nvPr/>
        </p:nvSpPr>
        <p:spPr>
          <a:xfrm>
            <a:off x="3817110" y="5350119"/>
            <a:ext cx="3844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.gitignore</a:t>
            </a:r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kasa dosyalarını kapsar</a:t>
            </a:r>
            <a:endParaRPr lang="en-US" sz="800" dirty="0"/>
          </a:p>
        </p:txBody>
      </p:sp>
      <p:sp>
        <p:nvSpPr>
          <p:cNvPr id="54" name="Text 51"/>
          <p:cNvSpPr txBox="1"/>
          <p:nvPr/>
        </p:nvSpPr>
        <p:spPr>
          <a:xfrm>
            <a:off x="7917505" y="5350119"/>
            <a:ext cx="34878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git add</a:t>
            </a:r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disiplini kullanıcıda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658368" y="5628462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786384" y="5715879"/>
            <a:ext cx="2774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Denetim kaydı kurcalanır</a:t>
            </a:r>
            <a:endParaRPr lang="en-US" sz="800" dirty="0"/>
          </a:p>
        </p:txBody>
      </p:sp>
      <p:sp>
        <p:nvSpPr>
          <p:cNvPr id="57" name="Text 54"/>
          <p:cNvSpPr txBox="1"/>
          <p:nvPr/>
        </p:nvSpPr>
        <p:spPr>
          <a:xfrm>
            <a:off x="3817110" y="5715879"/>
            <a:ext cx="3844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HMAC zinciri + </a:t>
            </a:r>
            <a:pPr algn="l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seq</a:t>
            </a:r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+ kuyruk çapası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7917505" y="5715879"/>
            <a:ext cx="34878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Yerel anahtara erişen FS-root saldırgan zinciri yeniden üretebilir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658368" y="5994222"/>
            <a:ext cx="10874959" cy="365760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60" name="Shape 57"/>
          <p:cNvSpPr/>
          <p:nvPr/>
        </p:nvSpPr>
        <p:spPr>
          <a:xfrm>
            <a:off x="658368" y="5994222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786384" y="6081639"/>
            <a:ext cx="2774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Ajan kasayı boşaltmaya çalışır</a:t>
            </a:r>
            <a:endParaRPr lang="en-US" sz="800" dirty="0"/>
          </a:p>
        </p:txBody>
      </p:sp>
      <p:sp>
        <p:nvSpPr>
          <p:cNvPr id="62" name="Text 59"/>
          <p:cNvSpPr txBox="1"/>
          <p:nvPr/>
        </p:nvSpPr>
        <p:spPr>
          <a:xfrm>
            <a:off x="3817110" y="6081639"/>
            <a:ext cx="38443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Kayıt kapısı + ajan başına kota</a:t>
            </a:r>
            <a:endParaRPr lang="en-US" sz="800" dirty="0"/>
          </a:p>
        </p:txBody>
      </p:sp>
      <p:sp>
        <p:nvSpPr>
          <p:cNvPr id="63" name="Text 60"/>
          <p:cNvSpPr txBox="1"/>
          <p:nvPr/>
        </p:nvSpPr>
        <p:spPr>
          <a:xfrm>
            <a:off x="7917505" y="6081639"/>
            <a:ext cx="34878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Sınırlar ajan başına ayarlanabilir</a:t>
            </a:r>
            <a:endParaRPr lang="en-US" sz="800" dirty="0"/>
          </a:p>
        </p:txBody>
      </p:sp>
      <p:sp>
        <p:nvSpPr>
          <p:cNvPr id="64" name="Shape 61"/>
          <p:cNvSpPr/>
          <p:nvPr/>
        </p:nvSpPr>
        <p:spPr>
          <a:xfrm>
            <a:off x="658368" y="3854526"/>
            <a:ext cx="10874959" cy="2505456"/>
          </a:xfrm>
          <a:prstGeom prst="rect">
            <a:avLst/>
          </a:prstGeom>
          <a:ln w="11430">
            <a:solidFill>
              <a:srgbClr val="26262C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Kaynak: docs/security.md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875652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8756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Güvenlik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6419088" cy="118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spc="-74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Her okuma, yazma, kopyalama ve enjeksiyon — zincirlenmiş.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919803"/>
            <a:ext cx="6309360" cy="412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Beş arayüzün tamamı için tek, yalnızca-ekleme kaydı. İsimleri ve eylemleri tutar, değerleri asla.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0372" y="2516650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96112" y="2406007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HMAC-SHA256 zincirli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her kaydın hash'i öncekine bağlıdır.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0372" y="2897904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96112" y="2787261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İmzalı yükün içinde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monoton seq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böylece sıralama değişikliği fark edilir.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0372" y="3279158"/>
            <a:ext cx="105613" cy="1056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96112" y="3168515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Kuyruk çapası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(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audit.head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) kırpmayı yakalar — son satırları silmek doğrulamayı bozar.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90372" y="3660412"/>
            <a:ext cx="105613" cy="105613"/>
          </a:xfrm>
          <a:prstGeom prst="ellipse">
            <a:avLst/>
          </a:prstGeom>
          <a:solidFill>
            <a:srgbClr val="D8963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96112" y="3549769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Web Arayüzünde: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eyleme / kaynağa / anahtara / tarihe göre filtrele, sayfala, satır detayını aç, zinciri doğrula, CSV veya JSON dışa aktar.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90372" y="4240040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96112" y="4129397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CLI'dan: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 audit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ve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 audit verify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90372" y="4621294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96112" y="4510651"/>
            <a:ext cx="6071616" cy="814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Açıkça belirtilen tavan: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keys/audit.key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yereldir; dolayısıyla FS-root bir saldırgan zinciri yeniden üretebilir. Makine dışı çapa gönderimi tam yeniden üretimi yakalar; gerçek değiştirilemezlik makine dışı anahtar gerektirir.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520940" y="2274638"/>
            <a:ext cx="4053535" cy="2610477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pic>
        <p:nvPicPr>
          <p:cNvPr id="26" name="Image 1" descr="/home/claude/deck/img/app-audit-log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2224346"/>
            <a:ext cx="4053535" cy="2610477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479792" y="2224346"/>
            <a:ext cx="4053535" cy="2610477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Kaynak: docs/concepts.md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1151687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11516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Beş giriş yolu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10808208" cy="75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spc="-74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Aynı şifreli kasa, sana uyan her yoldan.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486733"/>
            <a:ext cx="8595360" cy="412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Her arayüz aynı çekirdeğe gider ve aynı denetim kaydını yazar. Hiçbiri bir atlatma yolu değil.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58368" y="1997901"/>
            <a:ext cx="2028688" cy="1700784"/>
          </a:xfrm>
          <a:prstGeom prst="roundRect">
            <a:avLst>
              <a:gd name="adj" fmla="val 5376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" y="2125917"/>
            <a:ext cx="0" cy="822960"/>
          </a:xfrm>
          <a:prstGeom prst="line">
            <a:avLst/>
          </a:prstGeom>
          <a:noFill/>
          <a:ln w="38100">
            <a:solidFill>
              <a:srgbClr val="F04A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77824" y="2179317"/>
            <a:ext cx="158977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64" kern="0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877824" y="2403986"/>
            <a:ext cx="1626352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CLI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77824" y="2735313"/>
            <a:ext cx="1589776" cy="92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Terminalden set, get, run-with ve deploy. Script'lenebilir, CI dostu.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869936" y="1997901"/>
            <a:ext cx="2028688" cy="1700784"/>
          </a:xfrm>
          <a:prstGeom prst="roundRect">
            <a:avLst>
              <a:gd name="adj" fmla="val 5376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869936" y="2125917"/>
            <a:ext cx="0" cy="822960"/>
          </a:xfrm>
          <a:prstGeom prst="line">
            <a:avLst/>
          </a:prstGeom>
          <a:noFill/>
          <a:ln w="38100">
            <a:solidFill>
              <a:srgbClr val="4070D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089392" y="2179317"/>
            <a:ext cx="158977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64" kern="0" dirty="0">
                <a:solidFill>
                  <a:srgbClr val="4070D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3089392" y="2403986"/>
            <a:ext cx="1626352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Web Arayüzü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3089392" y="2735313"/>
            <a:ext cx="1589776" cy="92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Yerel konsol: tip-duyarlı formlar, filtreler, deploy renderer'ları, denetim görüntüleyici.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081504" y="1997901"/>
            <a:ext cx="2028688" cy="1700784"/>
          </a:xfrm>
          <a:prstGeom prst="roundRect">
            <a:avLst>
              <a:gd name="adj" fmla="val 5376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81504" y="2125917"/>
            <a:ext cx="0" cy="822960"/>
          </a:xfrm>
          <a:prstGeom prst="line">
            <a:avLst/>
          </a:prstGeom>
          <a:noFill/>
          <a:ln w="38100">
            <a:solidFill>
              <a:srgbClr val="2F9E6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300960" y="2179317"/>
            <a:ext cx="158977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64" kern="0" dirty="0">
                <a:solidFill>
                  <a:srgbClr val="2F9E6B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5300960" y="2403986"/>
            <a:ext cx="1626352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TUI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300960" y="2735313"/>
            <a:ext cx="1589776" cy="92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Üç panel, yalnızca klavye. Terminalde gez, ara, göster ve düzenle.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293072" y="1997901"/>
            <a:ext cx="2028688" cy="1700784"/>
          </a:xfrm>
          <a:prstGeom prst="roundRect">
            <a:avLst>
              <a:gd name="adj" fmla="val 5376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293072" y="2125917"/>
            <a:ext cx="0" cy="822960"/>
          </a:xfrm>
          <a:prstGeom prst="line">
            <a:avLst/>
          </a:prstGeom>
          <a:noFill/>
          <a:ln w="38100">
            <a:solidFill>
              <a:srgbClr val="D8963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512528" y="2179317"/>
            <a:ext cx="158977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64" kern="0" dirty="0">
                <a:solidFill>
                  <a:srgbClr val="D8963C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7512528" y="2403986"/>
            <a:ext cx="1626352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MCP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7512528" y="2735313"/>
            <a:ext cx="1589776" cy="92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Ajanlar isim listeler, değer enjekte eder. Yalnızca kayıtlı token, kotalı.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9504639" y="1997901"/>
            <a:ext cx="2028688" cy="1700784"/>
          </a:xfrm>
          <a:prstGeom prst="roundRect">
            <a:avLst>
              <a:gd name="adj" fmla="val 5376"/>
            </a:avLst>
          </a:prstGeom>
          <a:solidFill>
            <a:srgbClr val="141418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504639" y="2125917"/>
            <a:ext cx="0" cy="822960"/>
          </a:xfrm>
          <a:prstGeom prst="line">
            <a:avLst/>
          </a:prstGeom>
          <a:noFill/>
          <a:ln w="38100">
            <a:solidFill>
              <a:srgbClr val="F04A4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724095" y="2179317"/>
            <a:ext cx="158977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64" kern="0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 txBox="1"/>
          <p:nvPr/>
        </p:nvSpPr>
        <p:spPr>
          <a:xfrm>
            <a:off x="9724095" y="2403986"/>
            <a:ext cx="1626352" cy="37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8"/>
              </a:lnSpc>
              <a:buNone/>
            </a:pPr>
            <a:r>
              <a:rPr lang="en-US" sz="1300" b="1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Chrome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9724095" y="2735313"/>
            <a:ext cx="1589776" cy="92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Araç çubuğundan secret kopyala. Alan bazlı kopya, üretici, üç tema.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58368" y="4009581"/>
            <a:ext cx="10874959" cy="310896"/>
          </a:xfrm>
          <a:prstGeom prst="roundRect">
            <a:avLst>
              <a:gd name="adj" fmla="val 14706"/>
            </a:avLst>
          </a:prstGeom>
          <a:solidFill>
            <a:srgbClr val="1B1B20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786384" y="4086292"/>
            <a:ext cx="740992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İhtiyacın…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8452339" y="4086292"/>
            <a:ext cx="295297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Kullan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658368" y="4320477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86384" y="4401995"/>
            <a:ext cx="7409923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Script, CI, </a:t>
            </a:r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run</a:t>
            </a:r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veya </a:t>
            </a:r>
            <a:pPr algn="l" indent="0" marL="0">
              <a:lnSpc>
                <a:spcPts val="1197"/>
              </a:lnSpc>
              <a:buNone/>
            </a:pPr>
            <a:r>
              <a:rPr lang="en-US" sz="85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deploy</a:t>
            </a:r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'a pipe etmek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8452339" y="4401995"/>
            <a:ext cx="2952972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CLI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658368" y="4710240"/>
            <a:ext cx="10874959" cy="389763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45" name="Shape 42"/>
          <p:cNvSpPr/>
          <p:nvPr/>
        </p:nvSpPr>
        <p:spPr>
          <a:xfrm>
            <a:off x="658368" y="4710240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86384" y="4791758"/>
            <a:ext cx="7409923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Zengin formlar, filtreler, risk görünümleri, denetim görüntüleyici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452339" y="4791758"/>
            <a:ext cx="2952972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Web Arayüzü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658368" y="5100002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786384" y="5181521"/>
            <a:ext cx="7409923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Terminalden çıkmadan hızlı klavye gezinmesi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8452339" y="5181521"/>
            <a:ext cx="2952972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TUI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658368" y="5489765"/>
            <a:ext cx="10874959" cy="389763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52" name="Shape 49"/>
          <p:cNvSpPr/>
          <p:nvPr/>
        </p:nvSpPr>
        <p:spPr>
          <a:xfrm>
            <a:off x="658368" y="5489765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786384" y="5571284"/>
            <a:ext cx="7409923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Secret'ları görmeden kullanan bir ajan</a:t>
            </a:r>
            <a:endParaRPr lang="en-US" sz="950" dirty="0"/>
          </a:p>
        </p:txBody>
      </p:sp>
      <p:sp>
        <p:nvSpPr>
          <p:cNvPr id="54" name="Text 51"/>
          <p:cNvSpPr txBox="1"/>
          <p:nvPr/>
        </p:nvSpPr>
        <p:spPr>
          <a:xfrm>
            <a:off x="8452339" y="5571284"/>
            <a:ext cx="2952972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MCP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658368" y="5879528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786384" y="5961047"/>
            <a:ext cx="7409923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Tarayıcıdayken bir şifre veya Wi-Fi anahtarı kopyalamak</a:t>
            </a:r>
            <a:endParaRPr lang="en-US" sz="950" dirty="0"/>
          </a:p>
        </p:txBody>
      </p:sp>
      <p:sp>
        <p:nvSpPr>
          <p:cNvPr id="57" name="Text 54"/>
          <p:cNvSpPr txBox="1"/>
          <p:nvPr/>
        </p:nvSpPr>
        <p:spPr>
          <a:xfrm>
            <a:off x="8452339" y="5961047"/>
            <a:ext cx="2952972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Chrome eklentisi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658368" y="4009581"/>
            <a:ext cx="10874959" cy="2259711"/>
          </a:xfrm>
          <a:prstGeom prst="rect">
            <a:avLst/>
          </a:prstGeom>
          <a:ln w="11430">
            <a:solidFill>
              <a:srgbClr val="26262C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Kaynak: docs/ · concealer.fxerkan.com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1151687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11516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Beş giriş yolu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6419088" cy="118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spc="-74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Tek komut, herhangi bir secret, ekrana hiçbir şey basmadan.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919803"/>
            <a:ext cx="630936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cer, concealer'ın kısa takma adı — ikisi de birebir aynı çalışır. Her komut bir kapsam alır; belirtilmeyen boyut joker karakterdir.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58368" y="2679319"/>
            <a:ext cx="6309360" cy="1720596"/>
          </a:xfrm>
          <a:prstGeom prst="roundRect">
            <a:avLst>
              <a:gd name="adj" fmla="val 3720"/>
            </a:avLst>
          </a:prstGeom>
          <a:solidFill>
            <a:srgbClr val="08080A"/>
          </a:solidFill>
          <a:ln w="9525">
            <a:solidFill>
              <a:srgbClr val="26262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59536" y="2811930"/>
            <a:ext cx="5907024" cy="29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25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</a:t>
            </a:r>
            <a:pPr indent="0" marL="0">
              <a:buNone/>
            </a:pPr>
            <a:r>
              <a:rPr lang="en-US" sz="9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set --name OPENAI_API_KEY --project web --env prod </a:t>
            </a:r>
            <a:pPr indent="0" marL="0">
              <a:buNone/>
            </a:pPr>
            <a:r>
              <a:rPr lang="en-US" sz="925" dirty="0">
                <a:solidFill>
                  <a:srgbClr val="2F9E6B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'sk-…'</a:t>
            </a:r>
            <a:pPr indent="0" marL="0">
              <a:buNone/>
            </a:pPr>
            <a:r>
              <a:rPr lang="en-US" sz="9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--tags ai</a:t>
            </a:r>
            <a:endParaRPr lang="en-US" sz="925" dirty="0"/>
          </a:p>
        </p:txBody>
      </p:sp>
      <p:sp>
        <p:nvSpPr>
          <p:cNvPr id="15" name="Text 12"/>
          <p:cNvSpPr txBox="1"/>
          <p:nvPr/>
        </p:nvSpPr>
        <p:spPr>
          <a:xfrm>
            <a:off x="859536" y="2988142"/>
            <a:ext cx="5907024" cy="29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25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</a:t>
            </a:r>
            <a:pPr indent="0" marL="0">
              <a:buNone/>
            </a:pPr>
            <a:r>
              <a:rPr lang="en-US" sz="9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list --type database --tenant acme</a:t>
            </a:r>
            <a:endParaRPr lang="en-US" sz="925" dirty="0"/>
          </a:p>
        </p:txBody>
      </p:sp>
      <p:sp>
        <p:nvSpPr>
          <p:cNvPr id="16" name="Text 13"/>
          <p:cNvSpPr txBox="1"/>
          <p:nvPr/>
        </p:nvSpPr>
        <p:spPr>
          <a:xfrm>
            <a:off x="859536" y="3164355"/>
            <a:ext cx="5907024" cy="29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25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</a:t>
            </a:r>
            <a:pPr indent="0" marL="0">
              <a:buNone/>
            </a:pPr>
            <a:r>
              <a:rPr lang="en-US" sz="9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get --name OPENAI_API_KEY --project web --env prod</a:t>
            </a:r>
            <a:endParaRPr lang="en-US" sz="925" dirty="0"/>
          </a:p>
        </p:txBody>
      </p:sp>
      <p:sp>
        <p:nvSpPr>
          <p:cNvPr id="17" name="Text 14"/>
          <p:cNvSpPr txBox="1"/>
          <p:nvPr/>
        </p:nvSpPr>
        <p:spPr>
          <a:xfrm>
            <a:off x="859536" y="3340567"/>
            <a:ext cx="5907024" cy="29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25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</a:t>
            </a:r>
            <a:pPr indent="0" marL="0">
              <a:buNone/>
            </a:pPr>
            <a:r>
              <a:rPr lang="en-US" sz="9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rotate --name OPENAI_API_KEY --project web   </a:t>
            </a:r>
            <a:pPr indent="0" marL="0">
              <a:buNone/>
            </a:pPr>
            <a:r>
              <a:rPr lang="en-US" sz="925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# 32 rastgele bayt</a:t>
            </a:r>
            <a:endParaRPr lang="en-US" sz="925" dirty="0"/>
          </a:p>
        </p:txBody>
      </p:sp>
      <p:sp>
        <p:nvSpPr>
          <p:cNvPr id="18" name="Text 15"/>
          <p:cNvSpPr txBox="1"/>
          <p:nvPr/>
        </p:nvSpPr>
        <p:spPr>
          <a:xfrm>
            <a:off x="859536" y="3516780"/>
            <a:ext cx="5907024" cy="29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25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</a:t>
            </a:r>
            <a:pPr indent="0" marL="0">
              <a:buNone/>
            </a:pPr>
            <a:r>
              <a:rPr lang="en-US" sz="9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run --project web --env prod npm run deploy</a:t>
            </a:r>
            <a:endParaRPr lang="en-US" sz="925" dirty="0"/>
          </a:p>
        </p:txBody>
      </p:sp>
      <p:sp>
        <p:nvSpPr>
          <p:cNvPr id="19" name="Text 16"/>
          <p:cNvSpPr txBox="1"/>
          <p:nvPr/>
        </p:nvSpPr>
        <p:spPr>
          <a:xfrm>
            <a:off x="859536" y="3692992"/>
            <a:ext cx="5907024" cy="29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25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</a:t>
            </a:r>
            <a:pPr indent="0" marL="0">
              <a:buNone/>
            </a:pPr>
            <a:r>
              <a:rPr lang="en-US" sz="9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deploy --target k8s --project web --env prod</a:t>
            </a:r>
            <a:endParaRPr lang="en-US" sz="925" dirty="0"/>
          </a:p>
        </p:txBody>
      </p:sp>
      <p:sp>
        <p:nvSpPr>
          <p:cNvPr id="20" name="Text 17"/>
          <p:cNvSpPr txBox="1"/>
          <p:nvPr/>
        </p:nvSpPr>
        <p:spPr>
          <a:xfrm>
            <a:off x="859536" y="3869205"/>
            <a:ext cx="5907024" cy="29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25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</a:t>
            </a:r>
            <a:pPr indent="0" marL="0">
              <a:buNone/>
            </a:pPr>
            <a:r>
              <a:rPr lang="en-US" sz="9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scan ./myrepo --history --envvars --import</a:t>
            </a:r>
            <a:endParaRPr lang="en-US" sz="925" dirty="0"/>
          </a:p>
        </p:txBody>
      </p:sp>
      <p:sp>
        <p:nvSpPr>
          <p:cNvPr id="21" name="Text 18"/>
          <p:cNvSpPr txBox="1"/>
          <p:nvPr/>
        </p:nvSpPr>
        <p:spPr>
          <a:xfrm>
            <a:off x="859536" y="4045417"/>
            <a:ext cx="5907024" cy="29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25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</a:t>
            </a:r>
            <a:pPr indent="0" marL="0">
              <a:buNone/>
            </a:pPr>
            <a:r>
              <a:rPr lang="en-US" sz="9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audit verify</a:t>
            </a:r>
            <a:endParaRPr lang="en-US" sz="925" dirty="0"/>
          </a:p>
        </p:txBody>
      </p:sp>
      <p:sp>
        <p:nvSpPr>
          <p:cNvPr id="22" name="Shape 19"/>
          <p:cNvSpPr/>
          <p:nvPr/>
        </p:nvSpPr>
        <p:spPr>
          <a:xfrm>
            <a:off x="690372" y="4769013"/>
            <a:ext cx="91211" cy="91211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96112" y="4673458"/>
            <a:ext cx="6071616" cy="390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Kapsam otomatik algılama</a:t>
            </a:r>
            <a:pPr algn="l"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belirtmediğinde </a:t>
            </a:r>
            <a:pPr algn="l" indent="0" marL="0">
              <a:lnSpc>
                <a:spcPts val="1349"/>
              </a:lnSpc>
              <a:buNone/>
            </a:pPr>
            <a:r>
              <a:rPr lang="en-US" sz="85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repo</a:t>
            </a:r>
            <a:pPr algn="l"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ve </a:t>
            </a:r>
            <a:pPr algn="l" indent="0" marL="0">
              <a:lnSpc>
                <a:spcPts val="1349"/>
              </a:lnSpc>
              <a:buNone/>
            </a:pPr>
            <a:r>
              <a:rPr lang="en-US" sz="85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project</a:t>
            </a:r>
            <a:pPr algn="l"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mevcut git repo'sundan gelir.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90372" y="5123216"/>
            <a:ext cx="91211" cy="91211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96112" y="5027661"/>
            <a:ext cx="6071616" cy="390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Tipli enjeksiyon</a:t>
            </a:r>
            <a:pPr algn="l"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bir </a:t>
            </a:r>
            <a:pPr algn="l" indent="0" marL="0">
              <a:lnSpc>
                <a:spcPts val="1349"/>
              </a:lnSpc>
              <a:buNone/>
            </a:pPr>
            <a:r>
              <a:rPr lang="en-US" sz="85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database</a:t>
            </a:r>
            <a:pPr algn="l"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secret'ı </a:t>
            </a:r>
            <a:pPr algn="l" indent="0" marL="0">
              <a:lnSpc>
                <a:spcPts val="1349"/>
              </a:lnSpc>
              <a:buNone/>
            </a:pPr>
            <a:r>
              <a:rPr lang="en-US" sz="85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PG_HOST</a:t>
            </a:r>
            <a:pPr algn="l"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</a:t>
            </a:r>
            <a:pPr algn="l" indent="0" marL="0">
              <a:lnSpc>
                <a:spcPts val="1349"/>
              </a:lnSpc>
              <a:buNone/>
            </a:pPr>
            <a:r>
              <a:rPr lang="en-US" sz="85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PG_PORT</a:t>
            </a:r>
            <a:pPr algn="l"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</a:t>
            </a:r>
            <a:pPr algn="l" indent="0" marL="0">
              <a:lnSpc>
                <a:spcPts val="1349"/>
              </a:lnSpc>
              <a:buNone/>
            </a:pPr>
            <a:r>
              <a:rPr lang="en-US" sz="85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PG_PASSWORD</a:t>
            </a:r>
            <a:pPr algn="l"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… olur; </a:t>
            </a:r>
            <a:pPr algn="l" indent="0" marL="0">
              <a:lnSpc>
                <a:spcPts val="1349"/>
              </a:lnSpc>
              <a:buNone/>
            </a:pPr>
            <a:r>
              <a:rPr lang="en-US" sz="85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api_key</a:t>
            </a:r>
            <a:pPr algn="l"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tek değişken olur.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90372" y="5477419"/>
            <a:ext cx="91211" cy="91211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96112" y="5381864"/>
            <a:ext cx="6071616" cy="5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8 deploy hedefi</a:t>
            </a:r>
            <a:pPr algn="l"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</a:t>
            </a:r>
            <a:pPr algn="l" indent="0" marL="0">
              <a:lnSpc>
                <a:spcPts val="1349"/>
              </a:lnSpc>
              <a:buNone/>
            </a:pPr>
            <a:r>
              <a:rPr lang="en-US" sz="85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dotenv · export · docker · json · k8s · aws-secrets · aws-ssm · github</a:t>
            </a:r>
            <a:pPr algn="l"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 stdout'a render edilir; senin yerine hiçbir yere push edilmez.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90372" y="6002945"/>
            <a:ext cx="91211" cy="91211"/>
          </a:xfrm>
          <a:prstGeom prst="ellipse">
            <a:avLst/>
          </a:prstGeom>
          <a:solidFill>
            <a:srgbClr val="D8963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96112" y="5907390"/>
            <a:ext cx="6071616" cy="390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Emniyet kilidi</a:t>
            </a:r>
            <a:pPr algn="l"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</a:t>
            </a:r>
            <a:pPr algn="l" indent="0" marL="0">
              <a:lnSpc>
                <a:spcPts val="1349"/>
              </a:lnSpc>
              <a:buNone/>
            </a:pPr>
            <a:r>
              <a:rPr lang="en-US" sz="85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get</a:t>
            </a:r>
            <a:pPr algn="l"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</a:t>
            </a:r>
            <a:pPr algn="l" indent="0" marL="0">
              <a:lnSpc>
                <a:spcPts val="1349"/>
              </a:lnSpc>
              <a:buNone/>
            </a:pPr>
            <a:r>
              <a:rPr lang="en-US" sz="85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rm</a:t>
            </a:r>
            <a:pPr algn="l"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ve </a:t>
            </a:r>
            <a:pPr algn="l" indent="0" marL="0">
              <a:lnSpc>
                <a:spcPts val="1349"/>
              </a:lnSpc>
              <a:buNone/>
            </a:pPr>
            <a:r>
              <a:rPr lang="en-US" sz="85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rotate</a:t>
            </a:r>
            <a:pPr algn="l"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belirsiz kapsamı tahmin etmek yerine reddeder.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7520940" y="2363815"/>
            <a:ext cx="4053535" cy="2432121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pic>
        <p:nvPicPr>
          <p:cNvPr id="31" name="Image 1" descr="/home/claude/deck/img/cli-termina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2313523"/>
            <a:ext cx="4053535" cy="2432121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7479792" y="2313523"/>
            <a:ext cx="4053535" cy="2432121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Kaynak: docs/cli-reference.md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1151687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11516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Beş giriş yolu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6419088" cy="118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spc="-74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localhost'tan hiç çıkmayan profesyonel bir konsol.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919803"/>
            <a:ext cx="630936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cer web, tek sayfalık uygulamayı ve JSON API'yi yalnızca 127.0.0.1 üzerinde sunar. Tek kullanıcılı, ana parolayla açılır.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0372" y="2728422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96112" y="2617780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Baştan sona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çift dilli TR / EN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; Dark · Light · Matrix temaları ve telefon/tablet uyumlu düzen.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0372" y="3109676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96112" y="2999034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Tip-duyarlı CRUD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15 tipin her biri tam olarak ihtiyaç duyduğu alanları gösterir; secret alanlar maskeli saklanır.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0372" y="3689304"/>
            <a:ext cx="105613" cy="1056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96112" y="3578662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Tip, tenant, proje, ortam, repo ve etiket için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aranabilir çok seçimli filtreler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; sıralanabilir ve yeri değiştirilebilir kolonlar — her özel alan kendi kolonu olabilir.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90372" y="4268932"/>
            <a:ext cx="105613" cy="105613"/>
          </a:xfrm>
          <a:prstGeom prst="ellipse">
            <a:avLst/>
          </a:prstGeom>
          <a:solidFill>
            <a:srgbClr val="D8963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96112" y="4158290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Secret başına Deploy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sekiz hedef için tam komutu veya manifest'i doğrudan satırdan render et.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90372" y="4650186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96112" y="4539544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Otomatik temizlenen pano kopyası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(20 sn), göster/gizle anahtarı ve sert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boşta kilitlenme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(varsayılan 300 sn).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90372" y="5229814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96112" y="5119172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Riskler · Politika · Klasör tarama · Denetim · Ayarlar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birinci sınıf sekmeler olarak.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520940" y="2228698"/>
            <a:ext cx="4053535" cy="2702357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pic>
        <p:nvPicPr>
          <p:cNvPr id="26" name="Image 1" descr="/home/claude/deck/img/app-secret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2178406"/>
            <a:ext cx="4053535" cy="2702357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479792" y="2178406"/>
            <a:ext cx="4053535" cy="2702357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Kaynak: docs/web-ui.md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1151687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11516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Beş giriş yolu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6419088" cy="118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spc="-74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Zayıf, bayat, tekrar kullanılan ve çoktan sızmış olanı bul.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919803"/>
            <a:ext cx="6309360" cy="412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Dört alt görünüm — ve hiçbiri bir secret değerini hiçbir yere göndermiyor.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0372" y="2516650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96112" y="2406007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Genel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Sağlık panosu: süresi geçmiş, yaklaşan, rotasyonu gecikmiş, yüksek riskli tekrar kullanım, en çok kullanılan — her biri ne kadar geciktiğiyle birlikte.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0372" y="3096278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96112" y="2985635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Tekrar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Aynı değeri birden fazla kayıtta bulur ve patlama yarıçapını puanlar. Sızarsa, o değeri paylaşan her şey aynı anda açığa çıkar.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0372" y="3675906"/>
            <a:ext cx="105613" cy="1056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96112" y="3565263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Geçmiş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bash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zsh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fish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geçmişini açık yazılmış credential'lar için tarar. İçe aktar, sonra satırları temizle.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90372" y="4255534"/>
            <a:ext cx="105613" cy="105613"/>
          </a:xfrm>
          <a:prstGeom prst="ellipse">
            <a:avLst/>
          </a:prstGeom>
          <a:solidFill>
            <a:srgbClr val="D8963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96112" y="4144891"/>
            <a:ext cx="6071616" cy="814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Maruziyet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k-anonimlik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ile HIBP Pwned Passwords — SHA-1'in yalnızca ilk 5 hex karakteri makineden çıkar. Ayrıca e-posta ihlal sorgusu ve git geçmişi / takip edilen dosyalar / log taraması; üretilen bir temizlik kılavuzuyla.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520940" y="2458398"/>
            <a:ext cx="4053535" cy="2242956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pic>
        <p:nvPicPr>
          <p:cNvPr id="22" name="Image 1" descr="/home/claude/deck/img/app-risk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2408106"/>
            <a:ext cx="4053535" cy="2242956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7479792" y="2408106"/>
            <a:ext cx="4053535" cy="2242956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Kaynak: docs/risks.md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1151687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11516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Beş giriş yolu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6327648" cy="118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spc="-74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Senin kuralların, uygulanıyor — ve ajan kapısı.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919803"/>
            <a:ext cx="621792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Hatırlatma kuralları tanımla, hangi secret'ların ihlal ettiğini tam olarak gör ve ihlal edenleri toplu düzelt. Her kural bir hedef kitle taşır: user · agent · cli · web · tui · mcp · all.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58368" y="2661031"/>
            <a:ext cx="6217920" cy="310896"/>
          </a:xfrm>
          <a:prstGeom prst="roundRect">
            <a:avLst>
              <a:gd name="adj" fmla="val 14706"/>
            </a:avLst>
          </a:prstGeom>
          <a:solidFill>
            <a:srgbClr val="1B1B2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86384" y="2737743"/>
            <a:ext cx="147683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Kural türü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2519247" y="2737743"/>
            <a:ext cx="422902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Şu durumda işaretler…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58368" y="2971927"/>
            <a:ext cx="6217920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86384" y="3053446"/>
            <a:ext cx="1476831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Rotasyon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2519247" y="3053446"/>
            <a:ext cx="4229025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rotasyon politikası yoksa, gecikmişse veya aralığı belirlediğin üst sınırı aşıyorsa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58368" y="3361690"/>
            <a:ext cx="6217920" cy="389763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20" name="Shape 17"/>
          <p:cNvSpPr/>
          <p:nvPr/>
        </p:nvSpPr>
        <p:spPr>
          <a:xfrm>
            <a:off x="658368" y="3361690"/>
            <a:ext cx="6217920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86384" y="3443209"/>
            <a:ext cx="1476831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Süre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2519247" y="3443209"/>
            <a:ext cx="4229025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süresi geçmişse, N gün içinde doluyorsa veya süre alanı eksikse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58368" y="3751453"/>
            <a:ext cx="6217920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86384" y="3832972"/>
            <a:ext cx="1476831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Tekrar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2519247" y="3832972"/>
            <a:ext cx="4229025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değeri başka bir kayıtla paylaşılıyorsa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58368" y="4141216"/>
            <a:ext cx="6217920" cy="389763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27" name="Shape 24"/>
          <p:cNvSpPr/>
          <p:nvPr/>
        </p:nvSpPr>
        <p:spPr>
          <a:xfrm>
            <a:off x="658368" y="4141216"/>
            <a:ext cx="6217920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86384" y="4222735"/>
            <a:ext cx="1476831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İsimlendirme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2519247" y="4222735"/>
            <a:ext cx="4229025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adı verdiğin düzenli ifadeye uymuyorsa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58368" y="4530979"/>
            <a:ext cx="6217920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86384" y="4612498"/>
            <a:ext cx="1476831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Etiketleme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2519247" y="4612498"/>
            <a:ext cx="4229025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zorunlu tuttuğun etiketler eksikse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58368" y="2661031"/>
            <a:ext cx="6217920" cy="2259711"/>
          </a:xfrm>
          <a:prstGeom prst="rect">
            <a:avLst/>
          </a:prstGeom>
          <a:ln w="11430">
            <a:solidFill>
              <a:srgbClr val="26262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58368" y="5176774"/>
            <a:ext cx="6217920" cy="663321"/>
          </a:xfrm>
          <a:prstGeom prst="roundRect">
            <a:avLst>
              <a:gd name="adj" fmla="val 9650"/>
            </a:avLst>
          </a:prstGeom>
          <a:solidFill>
            <a:srgbClr val="08080A"/>
          </a:solidFill>
          <a:ln w="9525">
            <a:solidFill>
              <a:srgbClr val="26262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59536" y="5309385"/>
            <a:ext cx="5815584" cy="29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25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</a:t>
            </a:r>
            <a:pPr indent="0" marL="0">
              <a:buNone/>
            </a:pPr>
            <a:r>
              <a:rPr lang="en-US" sz="9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policy list</a:t>
            </a:r>
            <a:endParaRPr lang="en-US" sz="925" dirty="0"/>
          </a:p>
        </p:txBody>
      </p:sp>
      <p:sp>
        <p:nvSpPr>
          <p:cNvPr id="36" name="Text 33"/>
          <p:cNvSpPr txBox="1"/>
          <p:nvPr/>
        </p:nvSpPr>
        <p:spPr>
          <a:xfrm>
            <a:off x="859536" y="5485597"/>
            <a:ext cx="5815584" cy="29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25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</a:t>
            </a:r>
            <a:pPr indent="0" marL="0">
              <a:buNone/>
            </a:pPr>
            <a:r>
              <a:rPr lang="en-US" sz="9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policy check   </a:t>
            </a:r>
            <a:pPr indent="0" marL="0">
              <a:buNone/>
            </a:pPr>
            <a:r>
              <a:rPr lang="en-US" sz="925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# ihlalde sıfırdan farklı çıkış — cron ve CI dostu</a:t>
            </a:r>
            <a:endParaRPr lang="en-US" sz="925" dirty="0"/>
          </a:p>
        </p:txBody>
      </p:sp>
      <p:sp>
        <p:nvSpPr>
          <p:cNvPr id="37" name="Shape 34"/>
          <p:cNvSpPr/>
          <p:nvPr/>
        </p:nvSpPr>
        <p:spPr>
          <a:xfrm>
            <a:off x="7429500" y="2362635"/>
            <a:ext cx="4144975" cy="2434482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pic>
        <p:nvPicPr>
          <p:cNvPr id="38" name="Image 1" descr="/home/claude/deck/img/app-polic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2" y="2312343"/>
            <a:ext cx="4144975" cy="2434482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7388352" y="2312343"/>
            <a:ext cx="4144975" cy="2434482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Kaynak: docs/policy.md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1151687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11516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Beş giriş yolu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6419088" cy="75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spc="-74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Tüm kasa, yalnızca klavyeyle.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486733"/>
            <a:ext cx="6309360" cy="412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Üç panel — Filtreler, Secret'lar, Detaylar. Shell'den çıkmadan gez, ara, göster, kopyala ve düzenle.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0372" y="2083580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96112" y="1972937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Vim tarzı gezinme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j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/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g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/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G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paneller arası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Tab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/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2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/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3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ile atlama.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0372" y="2464834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96112" y="2354191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veya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/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ile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canlı arama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;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x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tüm filtreleri temizler.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0372" y="2846088"/>
            <a:ext cx="105613" cy="1056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96112" y="2735445"/>
            <a:ext cx="607161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Alan bazlı gösterme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kayıtta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m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ya da Detaylar'da tek bir alan seç.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u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/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ile değer, kullanıcı adı veya url kopyala.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90372" y="3425716"/>
            <a:ext cx="105613" cy="105613"/>
          </a:xfrm>
          <a:prstGeom prst="ellipse">
            <a:avLst/>
          </a:prstGeom>
          <a:solidFill>
            <a:srgbClr val="D8963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96112" y="3315073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Pano 45 saniye sonra otomatik temizlenir.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Yapıştırma yok — değer girmek için ekle/düzenle kullan.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90372" y="3806970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96112" y="3696327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Çift dilli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L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TR/EN değiştirir,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?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kısayol tablosunu uygulama içinde gösterir.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90372" y="4188224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96112" y="4077581"/>
            <a:ext cx="607161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Atlatma yolu değil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her gösterme, oluşturma, güncelleme ve silme kaynağıyla birlikte denetlenir.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520940" y="2266531"/>
            <a:ext cx="4053535" cy="2626691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pic>
        <p:nvPicPr>
          <p:cNvPr id="26" name="Image 1" descr="/home/claude/deck/img/tui-secret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2216239"/>
            <a:ext cx="4053535" cy="2626691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7479792" y="2216239"/>
            <a:ext cx="4053535" cy="2626691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Kaynak: docs/tui.md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1151687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11516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Beş giriş yolu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5589727" y="839602"/>
            <a:ext cx="6053328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900" spc="-70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Araç çubuğundan secret kopyala.</a:t>
            </a:r>
            <a:endParaRPr lang="en-US" sz="2900" dirty="0"/>
          </a:p>
        </p:txBody>
      </p:sp>
      <p:sp>
        <p:nvSpPr>
          <p:cNvPr id="12" name="Text 9"/>
          <p:cNvSpPr txBox="1"/>
          <p:nvPr/>
        </p:nvSpPr>
        <p:spPr>
          <a:xfrm>
            <a:off x="5589727" y="1874439"/>
            <a:ext cx="594360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Yerel kasanın üzerinde ince bir açılır pencere. Yalnızca 127.0.0.1 ile konuşur — bulut yok, hesap yok, telemetri yok. Chrome Web Store'da yayında.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621731" y="2683058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827471" y="2572415"/>
            <a:ext cx="570585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Alan bazlı kopyalama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çok alanlı secret'lar alt satırlara açılır; tam istediğin alanı kopyala veya göster.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621731" y="3262686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827471" y="3152043"/>
            <a:ext cx="570585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İhtiyaç anında sunucu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açılır pencere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concealer web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'i başlatır ve 15 dakika boştalıktan sonra kendini kapatır. Arkada bir şey kalmaz.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621731" y="3842314"/>
            <a:ext cx="105613" cy="1056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827471" y="3731671"/>
            <a:ext cx="570585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Başlıkta 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otomatik kilitlenme geri sayımı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süre azalırken yanıp söner; pano otomatik temizlenir; değerler asla loglanmaz.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621731" y="4421942"/>
            <a:ext cx="105613" cy="105613"/>
          </a:xfrm>
          <a:prstGeom prst="ellipse">
            <a:avLst/>
          </a:prstGeom>
          <a:solidFill>
            <a:srgbClr val="D8963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827471" y="4311299"/>
            <a:ext cx="570585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🎲 Üretici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güçlü şifre, hex, base64url, UUID. Kilidi açmadan önce de çalışır.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21731" y="4803196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827471" y="4692553"/>
            <a:ext cx="5705856" cy="417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Üç tema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Dark · White · Matrix; web konsoluyla uyumlu.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621731" y="5184450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827471" y="5073807"/>
            <a:ext cx="570585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Yerel yardımcı concealer'ın içinde geliyor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(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concealer native-host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) —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cer chrome-extension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onu yalnızca kaydeder, makine başına bir kez.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985266" y="836676"/>
            <a:ext cx="3847795" cy="2404872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pic>
        <p:nvPicPr>
          <p:cNvPr id="26" name="Image 1" descr="/home/claude/deck/img/ext-field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18" y="786384"/>
            <a:ext cx="3847795" cy="2404872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944118" y="786384"/>
            <a:ext cx="3847795" cy="2404872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944118" y="3353151"/>
            <a:ext cx="3847795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Çok alanlı secret'lar için alan bazlı kopyalama.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985266" y="3790188"/>
            <a:ext cx="3847795" cy="2404872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pic>
        <p:nvPicPr>
          <p:cNvPr id="30" name="Image 2" descr="/home/claude/deck/img/ext-matrix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18" y="3739896"/>
            <a:ext cx="3847795" cy="2404872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944118" y="3739896"/>
            <a:ext cx="3847795" cy="2404872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944118" y="6306663"/>
            <a:ext cx="3847795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Matrix teması.</a:t>
            </a:r>
            <a:endParaRPr lang="en-US" sz="850" dirty="0"/>
          </a:p>
        </p:txBody>
      </p:sp>
      <p:sp>
        <p:nvSpPr>
          <p:cNvPr id="33" name="Text 28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Kaynak: docs/chrome-extension.md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629622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629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Ürün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5589727" y="839602"/>
            <a:ext cx="6053328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0"/>
              </a:lnSpc>
              <a:buNone/>
            </a:pPr>
            <a:r>
              <a:rPr lang="en-US" sz="2900" spc="-70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Tipli secret'lar, dört boyutlu kapsam.</a:t>
            </a:r>
            <a:endParaRPr lang="en-US" sz="2900" dirty="0"/>
          </a:p>
        </p:txBody>
      </p:sp>
      <p:sp>
        <p:nvSpPr>
          <p:cNvPr id="12" name="Text 9"/>
          <p:cNvSpPr txBox="1"/>
          <p:nvPr/>
        </p:nvSpPr>
        <p:spPr>
          <a:xfrm>
            <a:off x="5589727" y="1874439"/>
            <a:ext cx="594360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Bir credential bir string değildir. Her tip tam olarak ihtiyaç duyduğu girdileri gösterir; secret alanlar maskeli saklanır ve yalnızca talep üzerine — denetlenerek — gösterilir.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621731" y="2683058"/>
            <a:ext cx="105613" cy="1056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827471" y="2572415"/>
            <a:ext cx="570585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15 tip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api_key · access_token · oauth · jwt · ssh_key · certificate · database · server · website · login · pin · wifi · membership · secure_note · custom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621731" y="3262686"/>
            <a:ext cx="105613" cy="105613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827471" y="3152043"/>
            <a:ext cx="5705856" cy="814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Maskeleme kayıt-duyarlıdır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, şu sırayla çözülür: alan bazlı geçersiz kılma → tip şablonu → alan adı sezgisi → değer sezgisi (</a:t>
            </a:r>
            <a:pPr algn="l" indent="0" marL="0">
              <a:lnSpc>
                <a:spcPts val="1562"/>
              </a:lnSpc>
              <a:buNone/>
            </a:pPr>
            <a:r>
              <a:rPr lang="en-US" sz="99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scheme://user:pass@host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biçimli bir DSN, düz bir alanda bile maskelenir).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621731" y="4040688"/>
            <a:ext cx="105613" cy="1056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827471" y="3930045"/>
            <a:ext cx="570585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Kapsam: tenant / project / environment / repo.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Boş boyut joker karakterdir; enjeksiyonda en özgül eşleşme kazanır.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621731" y="4620316"/>
            <a:ext cx="105613" cy="105613"/>
          </a:xfrm>
          <a:prstGeom prst="ellipse">
            <a:avLst/>
          </a:prstGeom>
          <a:solidFill>
            <a:srgbClr val="D8963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827471" y="4509673"/>
            <a:ext cx="5705856" cy="61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Tasarımı gereği PII yok</a:t>
            </a:r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kredi kartı, pasaport veya kimlik numarası tipleri bilinçli olarak bulunmuyor. Bu bir makine ve hesap credential kasası.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880275" y="836676"/>
            <a:ext cx="2057777" cy="2404872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pic>
        <p:nvPicPr>
          <p:cNvPr id="22" name="Image 1" descr="/home/claude/deck/img/secret-type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127" y="786384"/>
            <a:ext cx="2057777" cy="2404872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1839127" y="786384"/>
            <a:ext cx="2057777" cy="2404872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839127" y="3353151"/>
            <a:ext cx="2057777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Tip seçici.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1825582" y="3790188"/>
            <a:ext cx="2167163" cy="2404872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pic>
        <p:nvPicPr>
          <p:cNvPr id="26" name="Image 2" descr="/home/claude/deck/img/secrets-db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434" y="3739896"/>
            <a:ext cx="2167163" cy="2404872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1784434" y="3739896"/>
            <a:ext cx="2167163" cy="2404872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1784434" y="6309131"/>
            <a:ext cx="2167163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Bir database secret'ının formu.</a:t>
            </a:r>
            <a:endParaRPr lang="en-US" sz="750" dirty="0"/>
          </a:p>
        </p:txBody>
      </p:sp>
      <p:sp>
        <p:nvSpPr>
          <p:cNvPr id="29" name="Text 24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Kaynak: docs/secret-types.md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926459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9264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Kimin için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950976"/>
            <a:ext cx="1259332" cy="274320"/>
          </a:xfrm>
          <a:prstGeom prst="roundRect">
            <a:avLst>
              <a:gd name="adj" fmla="val 50000"/>
            </a:avLst>
          </a:prstGeom>
          <a:solidFill>
            <a:srgbClr val="F04A4A"/>
          </a:solidFill>
          <a:ln w="12700">
            <a:solidFill>
              <a:srgbClr val="F04A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1023971"/>
            <a:ext cx="12593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51" kern="0" dirty="0">
                <a:solidFill>
                  <a:srgbClr val="FFFFF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Persona 01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1233343"/>
            <a:ext cx="1080820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88"/>
              </a:lnSpc>
              <a:buNone/>
            </a:pPr>
            <a:r>
              <a:rPr lang="en-US" sz="3600" spc="-86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DevOps / Platform Engineer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1932630"/>
            <a:ext cx="950976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Pipeline'ların ve patlama yarıçapının sahibi. Secret'ların .env dosyalarından, shell geçmişinden ve CI log'larından çıkmasını — ve geri sızdıklarında build'i kıran bir kapı — istiyor.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58368" y="2661285"/>
            <a:ext cx="33201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Bugünkü acı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58368" y="3039618"/>
            <a:ext cx="3320186" cy="0"/>
          </a:xfrm>
          <a:prstGeom prst="line">
            <a:avLst/>
          </a:prstGeom>
          <a:noFill/>
          <a:ln w="22860">
            <a:solidFill>
              <a:srgbClr val="F04A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90372" y="3268538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96112" y="3162925"/>
            <a:ext cx="3082442" cy="787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 iki repo, her birinde kendi 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.env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'i, hepsinde </a:t>
            </a:r>
            <a:pPr algn="l" indent="0" marL="0">
              <a:lnSpc>
                <a:spcPts val="1491"/>
              </a:lnSpc>
              <a:buNone/>
            </a:pPr>
            <a:r>
              <a:rPr lang="en-US" sz="94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OPENAI_API_KEY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adında bir anahtar ve hangisinin hangisi olduğunu ayırt etmenin yolu yok.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90372" y="4019489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96112" y="3913876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export AWS_SECRET_ACCESS_KEY=…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satırı </a:t>
            </a:r>
            <a:pPr algn="l" indent="0" marL="0">
              <a:lnSpc>
                <a:spcPts val="1491"/>
              </a:lnSpc>
              <a:buNone/>
            </a:pPr>
            <a:r>
              <a:rPr lang="en-US" sz="94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~/.zsh_history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'de açık metin olarak duruyor.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90372" y="4581083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96112" y="4475470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Altı ay önce commit edilmiş bir anahtar var; hangi repo'ların hâlâ taşıdığını kimse bilmiyor.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90372" y="5142677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96112" y="5037064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Hangi credential'ı kimin, ne zaman okuduğuna dair hiçbir kayıt yok.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90372" y="5704271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96112" y="5598658"/>
            <a:ext cx="3082442" cy="408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Yeni laptop = Slack thread'lerinde credential avı.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4435754" y="2661285"/>
            <a:ext cx="33201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4070D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 kullanır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4435754" y="3039618"/>
            <a:ext cx="3320186" cy="0"/>
          </a:xfrm>
          <a:prstGeom prst="line">
            <a:avLst/>
          </a:prstGeom>
          <a:noFill/>
          <a:ln w="22860">
            <a:solidFill>
              <a:srgbClr val="4070D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467758" y="3253222"/>
            <a:ext cx="76810" cy="76810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673498" y="3172755"/>
            <a:ext cx="308244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6"/>
              </a:lnSpc>
              <a:buNone/>
            </a:pPr>
            <a:r>
              <a:rPr lang="en-US" sz="8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cer run</a:t>
            </a:r>
            <a:pPr algn="l" indent="0" marL="0">
              <a:lnSpc>
                <a:spcPts val="1136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kapsama uyan secret'ları alt process'in ortamına enjekte eder, çıktısından da temizler (redact). Shell'e hiçbir şey düşmez.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467758" y="3724646"/>
            <a:ext cx="76810" cy="76810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673498" y="3644179"/>
            <a:ext cx="3082442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6"/>
              </a:lnSpc>
              <a:buNone/>
            </a:pPr>
            <a:r>
              <a:rPr lang="en-US" sz="8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cer deploy --target</a:t>
            </a:r>
            <a:pPr algn="l" indent="0" marL="0">
              <a:lnSpc>
                <a:spcPts val="1136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</a:t>
            </a:r>
            <a:pPr algn="l" indent="0" marL="0">
              <a:lnSpc>
                <a:spcPts val="1136"/>
              </a:lnSpc>
              <a:buNone/>
            </a:pPr>
            <a:r>
              <a:rPr lang="en-US" sz="72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dotenv · export · docker · k8s · json · aws-secrets · aws-ssm · github</a:t>
            </a:r>
            <a:pPr algn="l" indent="0" marL="0">
              <a:lnSpc>
                <a:spcPts val="1136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formatlarına render eder. Hiçbir yere push etmez; sen pipe'larsın.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467758" y="4340342"/>
            <a:ext cx="76810" cy="76810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4673498" y="4259875"/>
            <a:ext cx="308244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6"/>
              </a:lnSpc>
              <a:buNone/>
            </a:pPr>
            <a:r>
              <a:rPr lang="en-US" sz="8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cer scan</a:t>
            </a:r>
            <a:pPr algn="l" indent="0" marL="0">
              <a:lnSpc>
                <a:spcPts val="1136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bir klasörü, shell geçmişini ve canlı ortam değişkenlerini tarar; bulduklarını kaynağına göre etiketleyip içe aktarır.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467758" y="4811766"/>
            <a:ext cx="76810" cy="76810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673498" y="4731299"/>
            <a:ext cx="308244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6"/>
              </a:lnSpc>
              <a:buNone/>
            </a:pPr>
            <a:r>
              <a:rPr lang="en-US" sz="8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cer policy check</a:t>
            </a:r>
            <a:pPr algn="l" indent="0" marL="0">
              <a:lnSpc>
                <a:spcPts val="1136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herhangi bir ihlalde sıfırdan farklı çıkış kodu döner. Cron'a, pre-commit hook'a veya CI'a koy.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4467758" y="5283190"/>
            <a:ext cx="76810" cy="76810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673498" y="5202723"/>
            <a:ext cx="3082442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6"/>
              </a:lnSpc>
              <a:buNone/>
            </a:pPr>
            <a:r>
              <a:rPr lang="en-US" sz="8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cer gitscan</a:t>
            </a:r>
            <a:pPr algn="l" indent="0" marL="0">
              <a:lnSpc>
                <a:spcPts val="1136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git geçmişini ve takip edilen dosyaları kasa değerleriyle tarar, ardından bir temizlik kılavuzu yazar (geçmişi asla kendisi yeniden yazmaz).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4467758" y="5898886"/>
            <a:ext cx="76810" cy="76810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4673498" y="5818419"/>
            <a:ext cx="3082442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6"/>
              </a:lnSpc>
              <a:buNone/>
            </a:pPr>
            <a:r>
              <a:rPr lang="en-US" sz="8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cer audit verify</a:t>
            </a:r>
            <a:pPr algn="l" indent="0" marL="0">
              <a:lnSpc>
                <a:spcPts val="1136"/>
              </a:lnSpc>
              <a:buNone/>
            </a:pPr>
            <a:r>
              <a:rPr lang="en-US" sz="8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HMAC zincirini ve kuyruk çapasını yeniden hesaplar.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8213141" y="2661285"/>
            <a:ext cx="33201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 kazanır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8213141" y="3039618"/>
            <a:ext cx="3320186" cy="0"/>
          </a:xfrm>
          <a:prstGeom prst="line">
            <a:avLst/>
          </a:prstGeom>
          <a:noFill/>
          <a:ln w="22860">
            <a:solidFill>
              <a:srgbClr val="2F9E6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245145" y="3268538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8450885" y="3162925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Değerler terminale, transkripte ya da log'a hiç ulaşmaz.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8245145" y="3830132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8450885" y="3724519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Kapsam git repo'sundan otomatik algılanır — </a:t>
            </a:r>
            <a:pPr algn="l" indent="0" marL="0">
              <a:lnSpc>
                <a:spcPts val="1491"/>
              </a:lnSpc>
              <a:buNone/>
            </a:pPr>
            <a:r>
              <a:rPr lang="en-US" sz="94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--repo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ve </a:t>
            </a:r>
            <a:pPr algn="l" indent="0" marL="0">
              <a:lnSpc>
                <a:spcPts val="1491"/>
              </a:lnSpc>
              <a:buNone/>
            </a:pPr>
            <a:r>
              <a:rPr lang="en-US" sz="94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--project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kendini doldurur.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8245145" y="4391726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8450885" y="4286113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Enjeksiyonda en özgül kapsam kazanır: </a:t>
            </a:r>
            <a:pPr algn="l" indent="0" marL="0">
              <a:lnSpc>
                <a:spcPts val="1491"/>
              </a:lnSpc>
              <a:buNone/>
            </a:pPr>
            <a:r>
              <a:rPr lang="en-US" sz="94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acme/proj-a/prod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&gt; </a:t>
            </a:r>
            <a:pPr algn="l" indent="0" marL="0">
              <a:lnSpc>
                <a:spcPts val="1491"/>
              </a:lnSpc>
              <a:buNone/>
            </a:pPr>
            <a:r>
              <a:rPr lang="en-US" sz="94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proj-a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&gt; global.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8245145" y="4953320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8450885" y="4847707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Çalıştırılacak, yamalanacak ya da parası ödenecek sıfır altyapı.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8245145" y="5514914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8450885" y="5409301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Kasa şifreli bir SOPS dosyası — kodun yanında diff'lenir ve versiyonlanır.</a:t>
            </a:r>
            <a:endParaRPr lang="en-US" sz="1050" dirty="0"/>
          </a:p>
        </p:txBody>
      </p:sp>
      <p:sp>
        <p:nvSpPr>
          <p:cNvPr id="53" name="Text 50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docs/cli-reference.md · docs/risks.md · docs/policy.md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926459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9264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Kimin için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950976"/>
            <a:ext cx="1259332" cy="274320"/>
          </a:xfrm>
          <a:prstGeom prst="roundRect">
            <a:avLst>
              <a:gd name="adj" fmla="val 50000"/>
            </a:avLst>
          </a:prstGeom>
          <a:solidFill>
            <a:srgbClr val="F04A4A"/>
          </a:solidFill>
          <a:ln w="12700">
            <a:solidFill>
              <a:srgbClr val="F04A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1023971"/>
            <a:ext cx="12593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51" kern="0" dirty="0">
                <a:solidFill>
                  <a:srgbClr val="FFFFF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Persona 02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1233343"/>
            <a:ext cx="1080820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88"/>
              </a:lnSpc>
              <a:buNone/>
            </a:pPr>
            <a:r>
              <a:rPr lang="en-US" sz="3600" spc="-86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Cloud Architect / Solution Architect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1932630"/>
            <a:ext cx="950976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Birçok müşteri ve üç bulut üzerinde demo, PoC ve pilot yürütüyor. Tasarımı bir güvenlik değerlendirmesinde savunmak — ve sunucu ayağa kaldırmadan her şeyi devretmek — zorunda.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58368" y="2661285"/>
            <a:ext cx="33201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Bugünkü acı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58368" y="3039618"/>
            <a:ext cx="3320186" cy="0"/>
          </a:xfrm>
          <a:prstGeom prst="line">
            <a:avLst/>
          </a:prstGeom>
          <a:noFill/>
          <a:ln w="22860">
            <a:solidFill>
              <a:srgbClr val="F04A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90372" y="3268538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96112" y="3162925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PoC için alınan müşteri credential'ları, kişisel ve kurum içi anahtarlarla iç içe.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90372" y="3830132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96112" y="3724519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Üç bulut, on iki tenant, dört ortam — tek düzlemsel bir isim alanı bunu ifade edemez.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90372" y="4391726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96112" y="4286113"/>
            <a:ext cx="3082442" cy="787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Güvenlik değerlendirmesi "bu credential nereye gidiyor?" diye soruyor ve dürüst cevap omuz silkmek.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90372" y="5142677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96112" y="5037064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İki haftalık bir PoC için Vault kurmak saçma; SaaS kasa ise satın alma süreci ve DPA demek.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90372" y="5704271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96112" y="5598658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Kasa tek bir laptop'ın Keychain'ine bağlı, dolayısıyla devir teslim aslında yeniden kurulum.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4435754" y="2661285"/>
            <a:ext cx="33201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4070D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 kullanır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4435754" y="3039618"/>
            <a:ext cx="3320186" cy="0"/>
          </a:xfrm>
          <a:prstGeom prst="line">
            <a:avLst/>
          </a:prstGeom>
          <a:noFill/>
          <a:ln w="22860">
            <a:solidFill>
              <a:srgbClr val="4070D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467758" y="3257817"/>
            <a:ext cx="84011" cy="84011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673498" y="3169806"/>
            <a:ext cx="3082442" cy="69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7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Taksonomi olarak </a:t>
            </a:r>
            <a:pPr algn="l" indent="0" marL="0">
              <a:lnSpc>
                <a:spcPts val="1243"/>
              </a:lnSpc>
              <a:buNone/>
            </a:pPr>
            <a:r>
              <a:rPr lang="en-US" sz="875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tenant / project / environment / repo</a:t>
            </a:r>
            <a:pPr algn="l" indent="0" marL="0">
              <a:lnSpc>
                <a:spcPts val="1243"/>
              </a:lnSpc>
              <a:buNone/>
            </a:pPr>
            <a:r>
              <a:rPr lang="en-US" sz="87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aynı </a:t>
            </a:r>
            <a:pPr algn="l" indent="0" marL="0">
              <a:lnSpc>
                <a:spcPts val="1243"/>
              </a:lnSpc>
              <a:buNone/>
            </a:pPr>
            <a:r>
              <a:rPr lang="en-US" sz="788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DATABASE_URL</a:t>
            </a:r>
            <a:pPr algn="l" indent="0" marL="0">
              <a:lnSpc>
                <a:spcPts val="1243"/>
              </a:lnSpc>
              <a:buNone/>
            </a:pPr>
            <a:r>
              <a:rPr lang="en-US" sz="87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her müşteri ve aşama için bir kez, isim çarpıtmadan var olur.</a:t>
            </a:r>
            <a:endParaRPr lang="en-US" sz="875" dirty="0"/>
          </a:p>
        </p:txBody>
      </p:sp>
      <p:sp>
        <p:nvSpPr>
          <p:cNvPr id="31" name="Shape 28"/>
          <p:cNvSpPr/>
          <p:nvPr/>
        </p:nvSpPr>
        <p:spPr>
          <a:xfrm>
            <a:off x="4467758" y="3914089"/>
            <a:ext cx="84011" cy="84011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673498" y="3826078"/>
            <a:ext cx="3082442" cy="535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7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Konsol olarak </a:t>
            </a:r>
            <a:pPr algn="l" indent="0" marL="0">
              <a:lnSpc>
                <a:spcPts val="1243"/>
              </a:lnSpc>
              <a:buNone/>
            </a:pPr>
            <a:r>
              <a:rPr lang="en-US" sz="875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Web Arayüzü</a:t>
            </a:r>
            <a:pPr algn="l" indent="0" marL="0">
              <a:lnSpc>
                <a:spcPts val="1243"/>
              </a:lnSpc>
              <a:buNone/>
            </a:pPr>
            <a:r>
              <a:rPr lang="en-US" sz="87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: tip-duyarlı formlar, çok seçimli filtreler, sıralanabilir kolonlar, secret başına deploy renderer'ları.</a:t>
            </a:r>
            <a:endParaRPr lang="en-US" sz="875" dirty="0"/>
          </a:p>
        </p:txBody>
      </p:sp>
      <p:sp>
        <p:nvSpPr>
          <p:cNvPr id="33" name="Shape 30"/>
          <p:cNvSpPr/>
          <p:nvPr/>
        </p:nvSpPr>
        <p:spPr>
          <a:xfrm>
            <a:off x="4467758" y="4412564"/>
            <a:ext cx="84011" cy="84011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4673498" y="4324553"/>
            <a:ext cx="3082442" cy="535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7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Değerlendirme çıktısı olarak </a:t>
            </a:r>
            <a:pPr algn="l" indent="0" marL="0">
              <a:lnSpc>
                <a:spcPts val="1243"/>
              </a:lnSpc>
              <a:buNone/>
            </a:pPr>
            <a:r>
              <a:rPr lang="en-US" sz="875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tehdit modeli tablosu</a:t>
            </a:r>
            <a:pPr algn="l" indent="0" marL="0">
              <a:lnSpc>
                <a:spcPts val="1243"/>
              </a:lnSpc>
              <a:buNone/>
            </a:pPr>
            <a:r>
              <a:rPr lang="en-US" sz="87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ve </a:t>
            </a:r>
            <a:pPr algn="l" indent="0" marL="0">
              <a:lnSpc>
                <a:spcPts val="1243"/>
              </a:lnSpc>
              <a:buNone/>
            </a:pPr>
            <a:r>
              <a:rPr lang="en-US" sz="875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belgelenmiş tavanlar</a:t>
            </a:r>
            <a:pPr algn="l" indent="0" marL="0">
              <a:lnSpc>
                <a:spcPts val="1243"/>
              </a:lnSpc>
              <a:buNone/>
            </a:pPr>
            <a:r>
              <a:rPr lang="en-US" sz="87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aracın neyi korumadığı dahil.</a:t>
            </a:r>
            <a:endParaRPr lang="en-US" sz="875" dirty="0"/>
          </a:p>
        </p:txBody>
      </p:sp>
      <p:sp>
        <p:nvSpPr>
          <p:cNvPr id="35" name="Shape 32"/>
          <p:cNvSpPr/>
          <p:nvPr/>
        </p:nvSpPr>
        <p:spPr>
          <a:xfrm>
            <a:off x="4467758" y="4911039"/>
            <a:ext cx="84011" cy="84011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673498" y="4823028"/>
            <a:ext cx="3082442" cy="535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75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cer export / import</a:t>
            </a:r>
            <a:pPr algn="l" indent="0" marL="0">
              <a:lnSpc>
                <a:spcPts val="1243"/>
              </a:lnSpc>
              <a:buNone/>
            </a:pPr>
            <a:r>
              <a:rPr lang="en-US" sz="87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müşteriye verilecek tek, parola korumalı </a:t>
            </a:r>
            <a:pPr algn="l" indent="0" marL="0">
              <a:lnSpc>
                <a:spcPts val="1243"/>
              </a:lnSpc>
              <a:buNone/>
            </a:pPr>
            <a:r>
              <a:rPr lang="en-US" sz="788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.cerbak</a:t>
            </a:r>
            <a:pPr algn="l" indent="0" marL="0">
              <a:lnSpc>
                <a:spcPts val="1243"/>
              </a:lnSpc>
              <a:buNone/>
            </a:pPr>
            <a:r>
              <a:rPr lang="en-US" sz="87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paketi.</a:t>
            </a:r>
            <a:endParaRPr lang="en-US" sz="875" dirty="0"/>
          </a:p>
        </p:txBody>
      </p:sp>
      <p:sp>
        <p:nvSpPr>
          <p:cNvPr id="37" name="Shape 34"/>
          <p:cNvSpPr/>
          <p:nvPr/>
        </p:nvSpPr>
        <p:spPr>
          <a:xfrm>
            <a:off x="4467758" y="5409514"/>
            <a:ext cx="84011" cy="84011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673498" y="5321503"/>
            <a:ext cx="3082442" cy="69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75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Taşınabilirlik</a:t>
            </a:r>
            <a:pPr algn="l" indent="0" marL="0">
              <a:lnSpc>
                <a:spcPts val="1243"/>
              </a:lnSpc>
              <a:buNone/>
            </a:pPr>
            <a:r>
              <a:rPr lang="en-US" sz="87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: </a:t>
            </a:r>
            <a:pPr algn="l" indent="0" marL="0">
              <a:lnSpc>
                <a:spcPts val="1243"/>
              </a:lnSpc>
              <a:buNone/>
            </a:pPr>
            <a:r>
              <a:rPr lang="en-US" sz="788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secrets.enc.yaml</a:t>
            </a:r>
            <a:pPr algn="l" indent="0" marL="0">
              <a:lnSpc>
                <a:spcPts val="1243"/>
              </a:lnSpc>
              <a:buNone/>
            </a:pPr>
            <a:r>
              <a:rPr lang="en-US" sz="87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+ </a:t>
            </a:r>
            <a:pPr algn="l" indent="0" marL="0">
              <a:lnSpc>
                <a:spcPts val="1243"/>
              </a:lnSpc>
              <a:buNone/>
            </a:pPr>
            <a:r>
              <a:rPr lang="en-US" sz="788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keys/</a:t>
            </a:r>
            <a:pPr algn="l" indent="0" marL="0">
              <a:lnSpc>
                <a:spcPts val="1243"/>
              </a:lnSpc>
              <a:buNone/>
            </a:pPr>
            <a:r>
              <a:rPr lang="en-US" sz="87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kopyala, yeni makinede ana parolayı yaz. TPM yok, Keychain yok, yeniden anahtarlama yok.</a:t>
            </a:r>
            <a:endParaRPr lang="en-US" sz="875" dirty="0"/>
          </a:p>
        </p:txBody>
      </p:sp>
      <p:sp>
        <p:nvSpPr>
          <p:cNvPr id="39" name="Shape 36"/>
          <p:cNvSpPr/>
          <p:nvPr/>
        </p:nvSpPr>
        <p:spPr>
          <a:xfrm>
            <a:off x="4467758" y="6065787"/>
            <a:ext cx="84011" cy="84011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4673498" y="5977776"/>
            <a:ext cx="3082442" cy="377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7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Build-vs-buy konuşması için </a:t>
            </a:r>
            <a:pPr algn="l" indent="0" marL="0">
              <a:lnSpc>
                <a:spcPts val="1243"/>
              </a:lnSpc>
              <a:buNone/>
            </a:pPr>
            <a:r>
              <a:rPr lang="en-US" sz="875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karşılaştırma matrisi</a:t>
            </a:r>
            <a:pPr algn="l" indent="0" marL="0">
              <a:lnSpc>
                <a:spcPts val="1243"/>
              </a:lnSpc>
              <a:buNone/>
            </a:pPr>
            <a:r>
              <a:rPr lang="en-US" sz="875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875" dirty="0"/>
          </a:p>
        </p:txBody>
      </p:sp>
      <p:sp>
        <p:nvSpPr>
          <p:cNvPr id="41" name="Text 38"/>
          <p:cNvSpPr txBox="1"/>
          <p:nvPr/>
        </p:nvSpPr>
        <p:spPr>
          <a:xfrm>
            <a:off x="8213141" y="2661285"/>
            <a:ext cx="33201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 kazanır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8213141" y="3039618"/>
            <a:ext cx="3320186" cy="0"/>
          </a:xfrm>
          <a:prstGeom prst="line">
            <a:avLst/>
          </a:prstGeom>
          <a:noFill/>
          <a:ln w="22860">
            <a:solidFill>
              <a:srgbClr val="2F9E6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245145" y="3268538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8450885" y="3162925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Sunucu yok, container yok, bulut tenant'ı yok, satın alma yok — </a:t>
            </a:r>
            <a:pPr algn="l" indent="0" marL="0">
              <a:lnSpc>
                <a:spcPts val="1491"/>
              </a:lnSpc>
              <a:buNone/>
            </a:pPr>
            <a:r>
              <a:rPr lang="en-US" sz="94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init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ve kasa hazır.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8245145" y="3830132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8450885" y="3724519"/>
            <a:ext cx="3082442" cy="787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Kriptografi 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SOPS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(CNCF) ve 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age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'e devredilmiş: age X25519 üzerinde AES-256-GCM. Ev yapımı hiçbir şey yok.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8245145" y="4581083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8450885" y="4475470"/>
            <a:ext cx="3082442" cy="787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Müşterinin güvenlik ekibinin gerçekten okuyabileceği, MIT lisanslı tek bir okunabilir Python script'i.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8245145" y="5332034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8450885" y="5226421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Kopyalanmış bir klasör, ana parola veya kurtarma kodu olmadan 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işe yaramaz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.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8245145" y="5893628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8450885" y="5788015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Tasarımı gereği PII tipi yok — bu bir makine credential kasası, kimlik deposu değil.</a:t>
            </a:r>
            <a:endParaRPr lang="en-US" sz="1050" dirty="0"/>
          </a:p>
        </p:txBody>
      </p:sp>
      <p:sp>
        <p:nvSpPr>
          <p:cNvPr id="53" name="Text 50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docs/security.md · docs/portability.md · docs/comparison.md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926459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9264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Kimin için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950976"/>
            <a:ext cx="1259332" cy="274320"/>
          </a:xfrm>
          <a:prstGeom prst="roundRect">
            <a:avLst>
              <a:gd name="adj" fmla="val 50000"/>
            </a:avLst>
          </a:prstGeom>
          <a:solidFill>
            <a:srgbClr val="F04A4A"/>
          </a:solidFill>
          <a:ln w="12700">
            <a:solidFill>
              <a:srgbClr val="F04A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1023971"/>
            <a:ext cx="12593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51" kern="0" dirty="0">
                <a:solidFill>
                  <a:srgbClr val="FFFFF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Persona 03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1233343"/>
            <a:ext cx="1080820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88"/>
              </a:lnSpc>
              <a:buNone/>
            </a:pPr>
            <a:r>
              <a:rPr lang="en-US" sz="3600" spc="-86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End User (Son Kullanıcı)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1932630"/>
            <a:ext cx="950976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DevOps mühendisi değil. Wi-Fi şifreleri, kapı PIN'leri, site girişleri ve birkaç API anahtarı var — ve bunların hiçbirinin not uygulamasında, tarayıcı profilinde ya da başkasının bulutunda olmasını istemiyor.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58368" y="2661285"/>
            <a:ext cx="33201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Bugünkü acı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58368" y="3039618"/>
            <a:ext cx="3320186" cy="0"/>
          </a:xfrm>
          <a:prstGeom prst="line">
            <a:avLst/>
          </a:prstGeom>
          <a:noFill/>
          <a:ln w="22860">
            <a:solidFill>
              <a:srgbClr val="F04A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90372" y="3268538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96112" y="3162925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Şifreler bir not dosyasında, bir Excel'de ya da tarayıcının şifre yöneticisinde.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90372" y="3830132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96112" y="3724519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Aynı şifre yarım düzine sitede tekrar kullanılıyor; hangilerinin sızdığı ise meçhul.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90372" y="4391726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96112" y="4286113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Ayda 3–12 dolarlık bir abonelik daha ve başkasının sunucusunda bir hesap daha.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90372" y="4953320"/>
            <a:ext cx="100813" cy="100813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96112" y="4847707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Ana parolayı unutmak her şeyi kaybetmek anlamına geliyor.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4435754" y="2661285"/>
            <a:ext cx="33201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4070D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 kullanır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435754" y="3039618"/>
            <a:ext cx="3320186" cy="0"/>
          </a:xfrm>
          <a:prstGeom prst="line">
            <a:avLst/>
          </a:prstGeom>
          <a:noFill/>
          <a:ln w="22860">
            <a:solidFill>
              <a:srgbClr val="4070D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467758" y="3265475"/>
            <a:ext cx="96012" cy="96012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673498" y="3164891"/>
            <a:ext cx="3082442" cy="76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Chrome eklentisi</a:t>
            </a:r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: araç çubuğu simgesine tıkla, kilidi aç, kopyala. Çok alanlı secret'lar açılır, tam istediğin alanı kopyalarsın.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467758" y="3989375"/>
            <a:ext cx="96012" cy="96012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673498" y="3888791"/>
            <a:ext cx="3082442" cy="76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90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</a:t>
            </a:r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adresindeki </a:t>
            </a:r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Web Arayüzü</a:t>
            </a:r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tamamen çift dilli TR/EN; </a:t>
            </a:r>
            <a:pPr algn="l" indent="0" marL="0">
              <a:lnSpc>
                <a:spcPts val="1420"/>
              </a:lnSpc>
              <a:buNone/>
            </a:pPr>
            <a:r>
              <a:rPr lang="en-US" sz="90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wifi · pin · login · website · membership · secure_note</a:t>
            </a:r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formları hazır.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467758" y="4713275"/>
            <a:ext cx="96012" cy="96012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673498" y="4612691"/>
            <a:ext cx="3082442" cy="580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🎲 Üret</a:t>
            </a:r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güçlü şifre, hex, base64url veya UUID; tek tıkla kopyala.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467758" y="5256835"/>
            <a:ext cx="96012" cy="96012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4673498" y="5156251"/>
            <a:ext cx="3082442" cy="76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Riskler → Maruziyet</a:t>
            </a:r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: bir değeri HIBP Pwned Passwords'a, bir adresi HIBP ihlal kayıtlarına karşı kontrol et.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467758" y="5980735"/>
            <a:ext cx="96012" cy="96012"/>
          </a:xfrm>
          <a:prstGeom prst="ellipse">
            <a:avLst/>
          </a:prstGeom>
          <a:solidFill>
            <a:srgbClr val="4070D0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673498" y="5880151"/>
            <a:ext cx="3082442" cy="580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Kurulumda basılan </a:t>
            </a:r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8 kurtarma kodu</a:t>
            </a:r>
            <a:pPr algn="l"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— herhangi biri seni geri içeri alır.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8213141" y="2661285"/>
            <a:ext cx="332018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 kazanır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8213141" y="3039618"/>
            <a:ext cx="3320186" cy="0"/>
          </a:xfrm>
          <a:prstGeom prst="line">
            <a:avLst/>
          </a:prstGeom>
          <a:noFill/>
          <a:ln w="22860">
            <a:solidFill>
              <a:srgbClr val="2F9E6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245145" y="3268538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450885" y="3162925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Hesap yok, abonelik yok, senkronizasyon sunucusu yok. Hiçbir şey makineden çıkmaz.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8245145" y="3830132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8450885" y="3724519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Pano 20 saniye sonra otomatik temizlenir; oturum boşta kalınca kilitlenir (varsayılan 300 sn).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8245145" y="4391726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8450885" y="4286113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Sızıntı kontrolü 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k-anonimlik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ile çalışır — SHA-1'in yalnızca ilk 5 hex karakteri makineden çıkar.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8245145" y="4953320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8450885" y="4847707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Üç tema (Dark · White · Matrix) ve baştan sona Türkçe arayüz.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8245145" y="5514914"/>
            <a:ext cx="100813" cy="100813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8450885" y="5409301"/>
            <a:ext cx="3082442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Dürüst sınır: mobil uygulama ve tarayıcı otomatik doldurma yok — iş akışı kopyala butonu.</a:t>
            </a:r>
            <a:endParaRPr lang="en-US" sz="1050" dirty="0"/>
          </a:p>
        </p:txBody>
      </p:sp>
      <p:sp>
        <p:nvSpPr>
          <p:cNvPr id="49" name="Text 46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docs/chrome-extension.md · docs/web-ui.md · docs/risks.md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682962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6829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Pazar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5762"/>
            <a:ext cx="10808208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spc="-72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Yalnızca yerel, sıfır altyapı, ajan-yerlisi — diğer üç pazarın açık bıraktığı boşluk.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921353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✓ var    ~ kısmen    ✕ yok    ★ yalnızca concealer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58368" y="2253234"/>
            <a:ext cx="10874959" cy="310896"/>
          </a:xfrm>
          <a:prstGeom prst="roundRect">
            <a:avLst>
              <a:gd name="adj" fmla="val 14706"/>
            </a:avLst>
          </a:prstGeom>
          <a:solidFill>
            <a:srgbClr val="1B1B2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86384" y="2358954"/>
            <a:ext cx="110333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Yetenek</a:t>
            </a:r>
            <a:endParaRPr lang="en-US" sz="600" dirty="0"/>
          </a:p>
        </p:txBody>
      </p:sp>
      <p:sp>
        <p:nvSpPr>
          <p:cNvPr id="15" name="Text 12"/>
          <p:cNvSpPr txBox="1"/>
          <p:nvPr/>
        </p:nvSpPr>
        <p:spPr>
          <a:xfrm>
            <a:off x="2145754" y="2358954"/>
            <a:ext cx="110333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concealer</a:t>
            </a:r>
            <a:endParaRPr lang="en-US" sz="600" dirty="0"/>
          </a:p>
        </p:txBody>
      </p:sp>
      <p:sp>
        <p:nvSpPr>
          <p:cNvPr id="16" name="Text 13"/>
          <p:cNvSpPr txBox="1"/>
          <p:nvPr/>
        </p:nvSpPr>
        <p:spPr>
          <a:xfrm>
            <a:off x="3505124" y="2358954"/>
            <a:ext cx="110333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1Password / Bitwarden</a:t>
            </a:r>
            <a:endParaRPr lang="en-US" sz="600" dirty="0"/>
          </a:p>
        </p:txBody>
      </p:sp>
      <p:sp>
        <p:nvSpPr>
          <p:cNvPr id="17" name="Text 14"/>
          <p:cNvSpPr txBox="1"/>
          <p:nvPr/>
        </p:nvSpPr>
        <p:spPr>
          <a:xfrm>
            <a:off x="4864494" y="2358954"/>
            <a:ext cx="110333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HashiCorp Vault</a:t>
            </a:r>
            <a:endParaRPr lang="en-US" sz="600" dirty="0"/>
          </a:p>
        </p:txBody>
      </p:sp>
      <p:sp>
        <p:nvSpPr>
          <p:cNvPr id="18" name="Text 15"/>
          <p:cNvSpPr txBox="1"/>
          <p:nvPr/>
        </p:nvSpPr>
        <p:spPr>
          <a:xfrm>
            <a:off x="6223864" y="2358954"/>
            <a:ext cx="110333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Doppler / Infisical</a:t>
            </a:r>
            <a:endParaRPr lang="en-US" sz="600" dirty="0"/>
          </a:p>
        </p:txBody>
      </p:sp>
      <p:sp>
        <p:nvSpPr>
          <p:cNvPr id="19" name="Text 16"/>
          <p:cNvSpPr txBox="1"/>
          <p:nvPr/>
        </p:nvSpPr>
        <p:spPr>
          <a:xfrm>
            <a:off x="7583234" y="2358954"/>
            <a:ext cx="110333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SOPS + age (ham)</a:t>
            </a:r>
            <a:endParaRPr lang="en-US" sz="600" dirty="0"/>
          </a:p>
        </p:txBody>
      </p:sp>
      <p:sp>
        <p:nvSpPr>
          <p:cNvPr id="20" name="Text 17"/>
          <p:cNvSpPr txBox="1"/>
          <p:nvPr/>
        </p:nvSpPr>
        <p:spPr>
          <a:xfrm>
            <a:off x="8942603" y="2358954"/>
            <a:ext cx="110333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pass / gopass</a:t>
            </a:r>
            <a:endParaRPr lang="en-US" sz="600" dirty="0"/>
          </a:p>
        </p:txBody>
      </p:sp>
      <p:sp>
        <p:nvSpPr>
          <p:cNvPr id="21" name="Text 18"/>
          <p:cNvSpPr txBox="1"/>
          <p:nvPr/>
        </p:nvSpPr>
        <p:spPr>
          <a:xfrm>
            <a:off x="10301973" y="2358954"/>
            <a:ext cx="110333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secretctl</a:t>
            </a:r>
            <a:endParaRPr lang="en-US" sz="600" dirty="0"/>
          </a:p>
        </p:txBody>
      </p:sp>
      <p:sp>
        <p:nvSpPr>
          <p:cNvPr id="22" name="Shape 19"/>
          <p:cNvSpPr/>
          <p:nvPr/>
        </p:nvSpPr>
        <p:spPr>
          <a:xfrm>
            <a:off x="658368" y="2564130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86384" y="263197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Dağıtım</a:t>
            </a:r>
            <a:endParaRPr lang="en-US" sz="600" dirty="0"/>
          </a:p>
        </p:txBody>
      </p:sp>
      <p:sp>
        <p:nvSpPr>
          <p:cNvPr id="24" name="Text 21"/>
          <p:cNvSpPr txBox="1"/>
          <p:nvPr/>
        </p:nvSpPr>
        <p:spPr>
          <a:xfrm>
            <a:off x="2145754" y="263197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Yerel, tek dosya</a:t>
            </a:r>
            <a:endParaRPr lang="en-US" sz="600" dirty="0"/>
          </a:p>
        </p:txBody>
      </p:sp>
      <p:sp>
        <p:nvSpPr>
          <p:cNvPr id="25" name="Text 22"/>
          <p:cNvSpPr txBox="1"/>
          <p:nvPr/>
        </p:nvSpPr>
        <p:spPr>
          <a:xfrm>
            <a:off x="3505124" y="263197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SaaS</a:t>
            </a:r>
            <a:endParaRPr lang="en-US" sz="600" dirty="0"/>
          </a:p>
        </p:txBody>
      </p:sp>
      <p:sp>
        <p:nvSpPr>
          <p:cNvPr id="26" name="Text 23"/>
          <p:cNvSpPr txBox="1"/>
          <p:nvPr/>
        </p:nvSpPr>
        <p:spPr>
          <a:xfrm>
            <a:off x="4864494" y="263197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Self-host / HCP</a:t>
            </a:r>
            <a:endParaRPr lang="en-US" sz="600" dirty="0"/>
          </a:p>
        </p:txBody>
      </p:sp>
      <p:sp>
        <p:nvSpPr>
          <p:cNvPr id="27" name="Text 24"/>
          <p:cNvSpPr txBox="1"/>
          <p:nvPr/>
        </p:nvSpPr>
        <p:spPr>
          <a:xfrm>
            <a:off x="6223864" y="263197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SaaS (veya self-host)</a:t>
            </a:r>
            <a:endParaRPr lang="en-US" sz="600" dirty="0"/>
          </a:p>
        </p:txBody>
      </p:sp>
      <p:sp>
        <p:nvSpPr>
          <p:cNvPr id="28" name="Text 25"/>
          <p:cNvSpPr txBox="1"/>
          <p:nvPr/>
        </p:nvSpPr>
        <p:spPr>
          <a:xfrm>
            <a:off x="7583234" y="263197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Yerel</a:t>
            </a:r>
            <a:endParaRPr lang="en-US" sz="600" dirty="0"/>
          </a:p>
        </p:txBody>
      </p:sp>
      <p:sp>
        <p:nvSpPr>
          <p:cNvPr id="29" name="Text 26"/>
          <p:cNvSpPr txBox="1"/>
          <p:nvPr/>
        </p:nvSpPr>
        <p:spPr>
          <a:xfrm>
            <a:off x="8942603" y="263197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Yerel</a:t>
            </a:r>
            <a:endParaRPr lang="en-US" sz="600" dirty="0"/>
          </a:p>
        </p:txBody>
      </p:sp>
      <p:sp>
        <p:nvSpPr>
          <p:cNvPr id="30" name="Text 27"/>
          <p:cNvSpPr txBox="1"/>
          <p:nvPr/>
        </p:nvSpPr>
        <p:spPr>
          <a:xfrm>
            <a:off x="10301973" y="263197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Yerel, tek ikili</a:t>
            </a:r>
            <a:endParaRPr lang="en-US" sz="600" dirty="0"/>
          </a:p>
        </p:txBody>
      </p:sp>
      <p:sp>
        <p:nvSpPr>
          <p:cNvPr id="31" name="Shape 28"/>
          <p:cNvSpPr/>
          <p:nvPr/>
        </p:nvSpPr>
        <p:spPr>
          <a:xfrm>
            <a:off x="658368" y="2843022"/>
            <a:ext cx="10874959" cy="278892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32" name="Shape 29"/>
          <p:cNvSpPr/>
          <p:nvPr/>
        </p:nvSpPr>
        <p:spPr>
          <a:xfrm>
            <a:off x="658368" y="2843022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86384" y="291087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Sunucu veya daemon gerekir</a:t>
            </a:r>
            <a:endParaRPr lang="en-US" sz="600" dirty="0"/>
          </a:p>
        </p:txBody>
      </p:sp>
      <p:sp>
        <p:nvSpPr>
          <p:cNvPr id="34" name="Text 31"/>
          <p:cNvSpPr txBox="1"/>
          <p:nvPr/>
        </p:nvSpPr>
        <p:spPr>
          <a:xfrm>
            <a:off x="2145754" y="291087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yok</a:t>
            </a:r>
            <a:endParaRPr lang="en-US" sz="600" dirty="0"/>
          </a:p>
        </p:txBody>
      </p:sp>
      <p:sp>
        <p:nvSpPr>
          <p:cNvPr id="35" name="Text 32"/>
          <p:cNvSpPr txBox="1"/>
          <p:nvPr/>
        </p:nvSpPr>
        <p:spPr>
          <a:xfrm>
            <a:off x="3505124" y="291087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bulut</a:t>
            </a:r>
            <a:endParaRPr lang="en-US" sz="600" dirty="0"/>
          </a:p>
        </p:txBody>
      </p:sp>
      <p:sp>
        <p:nvSpPr>
          <p:cNvPr id="36" name="Text 33"/>
          <p:cNvSpPr txBox="1"/>
          <p:nvPr/>
        </p:nvSpPr>
        <p:spPr>
          <a:xfrm>
            <a:off x="4864494" y="291087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sunucu</a:t>
            </a:r>
            <a:endParaRPr lang="en-US" sz="600" dirty="0"/>
          </a:p>
        </p:txBody>
      </p:sp>
      <p:sp>
        <p:nvSpPr>
          <p:cNvPr id="37" name="Text 34"/>
          <p:cNvSpPr txBox="1"/>
          <p:nvPr/>
        </p:nvSpPr>
        <p:spPr>
          <a:xfrm>
            <a:off x="6223864" y="291087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38" name="Text 35"/>
          <p:cNvSpPr txBox="1"/>
          <p:nvPr/>
        </p:nvSpPr>
        <p:spPr>
          <a:xfrm>
            <a:off x="7583234" y="291087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39" name="Text 36"/>
          <p:cNvSpPr txBox="1"/>
          <p:nvPr/>
        </p:nvSpPr>
        <p:spPr>
          <a:xfrm>
            <a:off x="8942603" y="291087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40" name="Text 37"/>
          <p:cNvSpPr txBox="1"/>
          <p:nvPr/>
        </p:nvSpPr>
        <p:spPr>
          <a:xfrm>
            <a:off x="10301973" y="291087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yok</a:t>
            </a:r>
            <a:endParaRPr lang="en-US" sz="600" dirty="0"/>
          </a:p>
        </p:txBody>
      </p:sp>
      <p:sp>
        <p:nvSpPr>
          <p:cNvPr id="41" name="Shape 38"/>
          <p:cNvSpPr/>
          <p:nvPr/>
        </p:nvSpPr>
        <p:spPr>
          <a:xfrm>
            <a:off x="658368" y="3121914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86384" y="318976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Maliyet</a:t>
            </a:r>
            <a:endParaRPr lang="en-US" sz="600" dirty="0"/>
          </a:p>
        </p:txBody>
      </p:sp>
      <p:sp>
        <p:nvSpPr>
          <p:cNvPr id="43" name="Text 40"/>
          <p:cNvSpPr txBox="1"/>
          <p:nvPr/>
        </p:nvSpPr>
        <p:spPr>
          <a:xfrm>
            <a:off x="2145754" y="318976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Ücretsiz (MIT)</a:t>
            </a:r>
            <a:endParaRPr lang="en-US" sz="600" dirty="0"/>
          </a:p>
        </p:txBody>
      </p:sp>
      <p:sp>
        <p:nvSpPr>
          <p:cNvPr id="44" name="Text 41"/>
          <p:cNvSpPr txBox="1"/>
          <p:nvPr/>
        </p:nvSpPr>
        <p:spPr>
          <a:xfrm>
            <a:off x="3505124" y="318976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3–12 $ / kişi / ay</a:t>
            </a:r>
            <a:endParaRPr lang="en-US" sz="600" dirty="0"/>
          </a:p>
        </p:txBody>
      </p:sp>
      <p:sp>
        <p:nvSpPr>
          <p:cNvPr id="45" name="Text 42"/>
          <p:cNvSpPr txBox="1"/>
          <p:nvPr/>
        </p:nvSpPr>
        <p:spPr>
          <a:xfrm>
            <a:off x="4864494" y="318976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Ücretsiz OSS / $$$ kurumsal</a:t>
            </a:r>
            <a:endParaRPr lang="en-US" sz="600" dirty="0"/>
          </a:p>
        </p:txBody>
      </p:sp>
      <p:sp>
        <p:nvSpPr>
          <p:cNvPr id="46" name="Text 43"/>
          <p:cNvSpPr txBox="1"/>
          <p:nvPr/>
        </p:nvSpPr>
        <p:spPr>
          <a:xfrm>
            <a:off x="6223864" y="318976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ücretli paketler</a:t>
            </a:r>
            <a:endParaRPr lang="en-US" sz="600" dirty="0"/>
          </a:p>
        </p:txBody>
      </p:sp>
      <p:sp>
        <p:nvSpPr>
          <p:cNvPr id="47" name="Text 44"/>
          <p:cNvSpPr txBox="1"/>
          <p:nvPr/>
        </p:nvSpPr>
        <p:spPr>
          <a:xfrm>
            <a:off x="7583234" y="318976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Ücretsiz</a:t>
            </a:r>
            <a:endParaRPr lang="en-US" sz="600" dirty="0"/>
          </a:p>
        </p:txBody>
      </p:sp>
      <p:sp>
        <p:nvSpPr>
          <p:cNvPr id="48" name="Text 45"/>
          <p:cNvSpPr txBox="1"/>
          <p:nvPr/>
        </p:nvSpPr>
        <p:spPr>
          <a:xfrm>
            <a:off x="8942603" y="318976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Ücretsiz</a:t>
            </a:r>
            <a:endParaRPr lang="en-US" sz="600" dirty="0"/>
          </a:p>
        </p:txBody>
      </p:sp>
      <p:sp>
        <p:nvSpPr>
          <p:cNvPr id="49" name="Text 46"/>
          <p:cNvSpPr txBox="1"/>
          <p:nvPr/>
        </p:nvSpPr>
        <p:spPr>
          <a:xfrm>
            <a:off x="10301973" y="318976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Ücretsiz</a:t>
            </a:r>
            <a:endParaRPr lang="en-US" sz="600" dirty="0"/>
          </a:p>
        </p:txBody>
      </p:sp>
      <p:sp>
        <p:nvSpPr>
          <p:cNvPr id="50" name="Shape 47"/>
          <p:cNvSpPr/>
          <p:nvPr/>
        </p:nvSpPr>
        <p:spPr>
          <a:xfrm>
            <a:off x="658368" y="3400806"/>
            <a:ext cx="10874959" cy="278892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51" name="Shape 48"/>
          <p:cNvSpPr/>
          <p:nvPr/>
        </p:nvSpPr>
        <p:spPr>
          <a:xfrm>
            <a:off x="658368" y="3400806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786384" y="346865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Git'te versiyonlanabilir kasa</a:t>
            </a:r>
            <a:endParaRPr lang="en-US" sz="600" dirty="0"/>
          </a:p>
        </p:txBody>
      </p:sp>
      <p:sp>
        <p:nvSpPr>
          <p:cNvPr id="53" name="Text 50"/>
          <p:cNvSpPr txBox="1"/>
          <p:nvPr/>
        </p:nvSpPr>
        <p:spPr>
          <a:xfrm>
            <a:off x="2145754" y="346865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değerler şifreli</a:t>
            </a:r>
            <a:endParaRPr lang="en-US" sz="600" dirty="0"/>
          </a:p>
        </p:txBody>
      </p:sp>
      <p:sp>
        <p:nvSpPr>
          <p:cNvPr id="54" name="Text 51"/>
          <p:cNvSpPr txBox="1"/>
          <p:nvPr/>
        </p:nvSpPr>
        <p:spPr>
          <a:xfrm>
            <a:off x="3505124" y="346865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55" name="Text 52"/>
          <p:cNvSpPr txBox="1"/>
          <p:nvPr/>
        </p:nvSpPr>
        <p:spPr>
          <a:xfrm>
            <a:off x="4864494" y="346865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endParaRPr lang="en-US" sz="600" dirty="0"/>
          </a:p>
        </p:txBody>
      </p:sp>
      <p:sp>
        <p:nvSpPr>
          <p:cNvPr id="56" name="Text 53"/>
          <p:cNvSpPr txBox="1"/>
          <p:nvPr/>
        </p:nvSpPr>
        <p:spPr>
          <a:xfrm>
            <a:off x="6223864" y="346865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57" name="Text 54"/>
          <p:cNvSpPr txBox="1"/>
          <p:nvPr/>
        </p:nvSpPr>
        <p:spPr>
          <a:xfrm>
            <a:off x="7583234" y="346865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58" name="Text 55"/>
          <p:cNvSpPr txBox="1"/>
          <p:nvPr/>
        </p:nvSpPr>
        <p:spPr>
          <a:xfrm>
            <a:off x="8942603" y="346865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59" name="Text 56"/>
          <p:cNvSpPr txBox="1"/>
          <p:nvPr/>
        </p:nvSpPr>
        <p:spPr>
          <a:xfrm>
            <a:off x="10301973" y="346865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SQLite blob</a:t>
            </a:r>
            <a:endParaRPr lang="en-US" sz="600" dirty="0"/>
          </a:p>
        </p:txBody>
      </p:sp>
      <p:sp>
        <p:nvSpPr>
          <p:cNvPr id="60" name="Shape 57"/>
          <p:cNvSpPr/>
          <p:nvPr/>
        </p:nvSpPr>
        <p:spPr>
          <a:xfrm>
            <a:off x="658368" y="3679698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786384" y="374754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Tipli secret'lar (db / api / ssh…)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 ★</a:t>
            </a:r>
            <a:endParaRPr lang="en-US" sz="600" dirty="0"/>
          </a:p>
        </p:txBody>
      </p:sp>
      <p:sp>
        <p:nvSpPr>
          <p:cNvPr id="62" name="Text 59"/>
          <p:cNvSpPr txBox="1"/>
          <p:nvPr/>
        </p:nvSpPr>
        <p:spPr>
          <a:xfrm>
            <a:off x="2145754" y="374754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şablonlu</a:t>
            </a:r>
            <a:endParaRPr lang="en-US" sz="600" dirty="0"/>
          </a:p>
        </p:txBody>
      </p:sp>
      <p:sp>
        <p:nvSpPr>
          <p:cNvPr id="63" name="Text 60"/>
          <p:cNvSpPr txBox="1"/>
          <p:nvPr/>
        </p:nvSpPr>
        <p:spPr>
          <a:xfrm>
            <a:off x="3505124" y="374754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öğe tipleri</a:t>
            </a:r>
            <a:endParaRPr lang="en-US" sz="600" dirty="0"/>
          </a:p>
        </p:txBody>
      </p:sp>
      <p:sp>
        <p:nvSpPr>
          <p:cNvPr id="64" name="Text 61"/>
          <p:cNvSpPr txBox="1"/>
          <p:nvPr/>
        </p:nvSpPr>
        <p:spPr>
          <a:xfrm>
            <a:off x="4864494" y="374754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65" name="Text 62"/>
          <p:cNvSpPr txBox="1"/>
          <p:nvPr/>
        </p:nvSpPr>
        <p:spPr>
          <a:xfrm>
            <a:off x="6223864" y="374754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66" name="Text 63"/>
          <p:cNvSpPr txBox="1"/>
          <p:nvPr/>
        </p:nvSpPr>
        <p:spPr>
          <a:xfrm>
            <a:off x="7583234" y="374754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67" name="Text 64"/>
          <p:cNvSpPr txBox="1"/>
          <p:nvPr/>
        </p:nvSpPr>
        <p:spPr>
          <a:xfrm>
            <a:off x="8942603" y="374754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68" name="Text 65"/>
          <p:cNvSpPr txBox="1"/>
          <p:nvPr/>
        </p:nvSpPr>
        <p:spPr>
          <a:xfrm>
            <a:off x="10301973" y="374754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</a:t>
            </a:r>
            <a:endParaRPr lang="en-US" sz="600" dirty="0"/>
          </a:p>
        </p:txBody>
      </p:sp>
      <p:sp>
        <p:nvSpPr>
          <p:cNvPr id="69" name="Shape 66"/>
          <p:cNvSpPr/>
          <p:nvPr/>
        </p:nvSpPr>
        <p:spPr>
          <a:xfrm>
            <a:off x="658368" y="3958590"/>
            <a:ext cx="10874959" cy="278892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70" name="Shape 67"/>
          <p:cNvSpPr/>
          <p:nvPr/>
        </p:nvSpPr>
        <p:spPr>
          <a:xfrm>
            <a:off x="658368" y="3958590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786384" y="402643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Dört boyutlu kapsam</a:t>
            </a:r>
            <a:endParaRPr lang="en-US" sz="600" dirty="0"/>
          </a:p>
        </p:txBody>
      </p:sp>
      <p:sp>
        <p:nvSpPr>
          <p:cNvPr id="72" name="Text 69"/>
          <p:cNvSpPr txBox="1"/>
          <p:nvPr/>
        </p:nvSpPr>
        <p:spPr>
          <a:xfrm>
            <a:off x="2145754" y="402643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tenant/proje/ortam/repo</a:t>
            </a:r>
            <a:endParaRPr lang="en-US" sz="600" dirty="0"/>
          </a:p>
        </p:txBody>
      </p:sp>
      <p:sp>
        <p:nvSpPr>
          <p:cNvPr id="73" name="Text 70"/>
          <p:cNvSpPr txBox="1"/>
          <p:nvPr/>
        </p:nvSpPr>
        <p:spPr>
          <a:xfrm>
            <a:off x="3505124" y="402643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kasa, etiket</a:t>
            </a:r>
            <a:endParaRPr lang="en-US" sz="600" dirty="0"/>
          </a:p>
        </p:txBody>
      </p:sp>
      <p:sp>
        <p:nvSpPr>
          <p:cNvPr id="74" name="Text 71"/>
          <p:cNvSpPr txBox="1"/>
          <p:nvPr/>
        </p:nvSpPr>
        <p:spPr>
          <a:xfrm>
            <a:off x="4864494" y="402643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yollar</a:t>
            </a:r>
            <a:endParaRPr lang="en-US" sz="600" dirty="0"/>
          </a:p>
        </p:txBody>
      </p:sp>
      <p:sp>
        <p:nvSpPr>
          <p:cNvPr id="75" name="Text 72"/>
          <p:cNvSpPr txBox="1"/>
          <p:nvPr/>
        </p:nvSpPr>
        <p:spPr>
          <a:xfrm>
            <a:off x="6223864" y="402643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ortamlar</a:t>
            </a:r>
            <a:endParaRPr lang="en-US" sz="600" dirty="0"/>
          </a:p>
        </p:txBody>
      </p:sp>
      <p:sp>
        <p:nvSpPr>
          <p:cNvPr id="76" name="Text 73"/>
          <p:cNvSpPr txBox="1"/>
          <p:nvPr/>
        </p:nvSpPr>
        <p:spPr>
          <a:xfrm>
            <a:off x="7583234" y="402643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77" name="Text 74"/>
          <p:cNvSpPr txBox="1"/>
          <p:nvPr/>
        </p:nvSpPr>
        <p:spPr>
          <a:xfrm>
            <a:off x="8942603" y="402643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dizinler</a:t>
            </a:r>
            <a:endParaRPr lang="en-US" sz="600" dirty="0"/>
          </a:p>
        </p:txBody>
      </p:sp>
      <p:sp>
        <p:nvSpPr>
          <p:cNvPr id="78" name="Text 75"/>
          <p:cNvSpPr txBox="1"/>
          <p:nvPr/>
        </p:nvSpPr>
        <p:spPr>
          <a:xfrm>
            <a:off x="10301973" y="402643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joker</a:t>
            </a:r>
            <a:endParaRPr lang="en-US" sz="600" dirty="0"/>
          </a:p>
        </p:txBody>
      </p:sp>
      <p:sp>
        <p:nvSpPr>
          <p:cNvPr id="79" name="Shape 76"/>
          <p:cNvSpPr/>
          <p:nvPr/>
        </p:nvSpPr>
        <p:spPr>
          <a:xfrm>
            <a:off x="658368" y="4237482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786384" y="430533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Kurcalama-belirtir denetim kaydı</a:t>
            </a:r>
            <a:endParaRPr lang="en-US" sz="600" dirty="0"/>
          </a:p>
        </p:txBody>
      </p:sp>
      <p:sp>
        <p:nvSpPr>
          <p:cNvPr id="81" name="Text 78"/>
          <p:cNvSpPr txBox="1"/>
          <p:nvPr/>
        </p:nvSpPr>
        <p:spPr>
          <a:xfrm>
            <a:off x="2145754" y="430533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HMAC + çapa</a:t>
            </a:r>
            <a:endParaRPr lang="en-US" sz="600" dirty="0"/>
          </a:p>
        </p:txBody>
      </p:sp>
      <p:sp>
        <p:nvSpPr>
          <p:cNvPr id="82" name="Text 79"/>
          <p:cNvSpPr txBox="1"/>
          <p:nvPr/>
        </p:nvSpPr>
        <p:spPr>
          <a:xfrm>
            <a:off x="3505124" y="430533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bulut log</a:t>
            </a:r>
            <a:endParaRPr lang="en-US" sz="600" dirty="0"/>
          </a:p>
        </p:txBody>
      </p:sp>
      <p:sp>
        <p:nvSpPr>
          <p:cNvPr id="83" name="Text 80"/>
          <p:cNvSpPr txBox="1"/>
          <p:nvPr/>
        </p:nvSpPr>
        <p:spPr>
          <a:xfrm>
            <a:off x="4864494" y="430533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84" name="Text 81"/>
          <p:cNvSpPr txBox="1"/>
          <p:nvPr/>
        </p:nvSpPr>
        <p:spPr>
          <a:xfrm>
            <a:off x="6223864" y="430533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85" name="Text 82"/>
          <p:cNvSpPr txBox="1"/>
          <p:nvPr/>
        </p:nvSpPr>
        <p:spPr>
          <a:xfrm>
            <a:off x="7583234" y="430533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86" name="Text 83"/>
          <p:cNvSpPr txBox="1"/>
          <p:nvPr/>
        </p:nvSpPr>
        <p:spPr>
          <a:xfrm>
            <a:off x="8942603" y="430533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git log</a:t>
            </a:r>
            <a:endParaRPr lang="en-US" sz="600" dirty="0"/>
          </a:p>
        </p:txBody>
      </p:sp>
      <p:sp>
        <p:nvSpPr>
          <p:cNvPr id="87" name="Text 84"/>
          <p:cNvSpPr txBox="1"/>
          <p:nvPr/>
        </p:nvSpPr>
        <p:spPr>
          <a:xfrm>
            <a:off x="10301973" y="430533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HMAC</a:t>
            </a:r>
            <a:endParaRPr lang="en-US" sz="600" dirty="0"/>
          </a:p>
        </p:txBody>
      </p:sp>
      <p:sp>
        <p:nvSpPr>
          <p:cNvPr id="88" name="Shape 85"/>
          <p:cNvSpPr/>
          <p:nvPr/>
        </p:nvSpPr>
        <p:spPr>
          <a:xfrm>
            <a:off x="658368" y="4516374"/>
            <a:ext cx="10874959" cy="278892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89" name="Shape 86"/>
          <p:cNvSpPr/>
          <p:nvPr/>
        </p:nvSpPr>
        <p:spPr>
          <a:xfrm>
            <a:off x="658368" y="4516374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786384" y="458422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AI ajanları için MCP-yerlisi</a:t>
            </a:r>
            <a:endParaRPr lang="en-US" sz="600" dirty="0"/>
          </a:p>
        </p:txBody>
      </p:sp>
      <p:sp>
        <p:nvSpPr>
          <p:cNvPr id="91" name="Text 88"/>
          <p:cNvSpPr txBox="1"/>
          <p:nvPr/>
        </p:nvSpPr>
        <p:spPr>
          <a:xfrm>
            <a:off x="2145754" y="458422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kapı + kota</a:t>
            </a:r>
            <a:endParaRPr lang="en-US" sz="600" dirty="0"/>
          </a:p>
        </p:txBody>
      </p:sp>
      <p:sp>
        <p:nvSpPr>
          <p:cNvPr id="92" name="Text 89"/>
          <p:cNvSpPr txBox="1"/>
          <p:nvPr/>
        </p:nvSpPr>
        <p:spPr>
          <a:xfrm>
            <a:off x="3505124" y="458422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93" name="Text 90"/>
          <p:cNvSpPr txBox="1"/>
          <p:nvPr/>
        </p:nvSpPr>
        <p:spPr>
          <a:xfrm>
            <a:off x="4864494" y="458422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SDK</a:t>
            </a:r>
            <a:endParaRPr lang="en-US" sz="600" dirty="0"/>
          </a:p>
        </p:txBody>
      </p:sp>
      <p:sp>
        <p:nvSpPr>
          <p:cNvPr id="94" name="Text 91"/>
          <p:cNvSpPr txBox="1"/>
          <p:nvPr/>
        </p:nvSpPr>
        <p:spPr>
          <a:xfrm>
            <a:off x="6223864" y="458422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SDK</a:t>
            </a:r>
            <a:endParaRPr lang="en-US" sz="600" dirty="0"/>
          </a:p>
        </p:txBody>
      </p:sp>
      <p:sp>
        <p:nvSpPr>
          <p:cNvPr id="95" name="Text 92"/>
          <p:cNvSpPr txBox="1"/>
          <p:nvPr/>
        </p:nvSpPr>
        <p:spPr>
          <a:xfrm>
            <a:off x="7583234" y="458422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96" name="Text 93"/>
          <p:cNvSpPr txBox="1"/>
          <p:nvPr/>
        </p:nvSpPr>
        <p:spPr>
          <a:xfrm>
            <a:off x="8942603" y="458422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97" name="Text 94"/>
          <p:cNvSpPr txBox="1"/>
          <p:nvPr/>
        </p:nvSpPr>
        <p:spPr>
          <a:xfrm>
            <a:off x="10301973" y="4584222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MCP</a:t>
            </a:r>
            <a:endParaRPr lang="en-US" sz="600" dirty="0"/>
          </a:p>
        </p:txBody>
      </p:sp>
      <p:sp>
        <p:nvSpPr>
          <p:cNvPr id="98" name="Shape 95"/>
          <p:cNvSpPr/>
          <p:nvPr/>
        </p:nvSpPr>
        <p:spPr>
          <a:xfrm>
            <a:off x="658368" y="4795266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786384" y="486311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Ajan başına sızdırma kotası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 ★</a:t>
            </a:r>
            <a:endParaRPr lang="en-US" sz="600" dirty="0"/>
          </a:p>
        </p:txBody>
      </p:sp>
      <p:sp>
        <p:nvSpPr>
          <p:cNvPr id="100" name="Text 97"/>
          <p:cNvSpPr txBox="1"/>
          <p:nvPr/>
        </p:nvSpPr>
        <p:spPr>
          <a:xfrm>
            <a:off x="2145754" y="486311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101" name="Text 98"/>
          <p:cNvSpPr txBox="1"/>
          <p:nvPr/>
        </p:nvSpPr>
        <p:spPr>
          <a:xfrm>
            <a:off x="3505124" y="486311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02" name="Text 99"/>
          <p:cNvSpPr txBox="1"/>
          <p:nvPr/>
        </p:nvSpPr>
        <p:spPr>
          <a:xfrm>
            <a:off x="4864494" y="486311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politika</a:t>
            </a:r>
            <a:endParaRPr lang="en-US" sz="600" dirty="0"/>
          </a:p>
        </p:txBody>
      </p:sp>
      <p:sp>
        <p:nvSpPr>
          <p:cNvPr id="103" name="Text 100"/>
          <p:cNvSpPr txBox="1"/>
          <p:nvPr/>
        </p:nvSpPr>
        <p:spPr>
          <a:xfrm>
            <a:off x="6223864" y="486311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04" name="Text 101"/>
          <p:cNvSpPr txBox="1"/>
          <p:nvPr/>
        </p:nvSpPr>
        <p:spPr>
          <a:xfrm>
            <a:off x="7583234" y="486311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05" name="Text 102"/>
          <p:cNvSpPr txBox="1"/>
          <p:nvPr/>
        </p:nvSpPr>
        <p:spPr>
          <a:xfrm>
            <a:off x="8942603" y="486311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06" name="Text 103"/>
          <p:cNvSpPr txBox="1"/>
          <p:nvPr/>
        </p:nvSpPr>
        <p:spPr>
          <a:xfrm>
            <a:off x="10301973" y="4863114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—</a:t>
            </a:r>
            <a:endParaRPr lang="en-US" sz="600" dirty="0"/>
          </a:p>
        </p:txBody>
      </p:sp>
      <p:sp>
        <p:nvSpPr>
          <p:cNvPr id="107" name="Shape 104"/>
          <p:cNvSpPr/>
          <p:nvPr/>
        </p:nvSpPr>
        <p:spPr>
          <a:xfrm>
            <a:off x="658368" y="5074158"/>
            <a:ext cx="10874959" cy="278892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108" name="Shape 105"/>
          <p:cNvSpPr/>
          <p:nvPr/>
        </p:nvSpPr>
        <p:spPr>
          <a:xfrm>
            <a:off x="658368" y="5074158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786384" y="514200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Tamamen çevrimdışı çalışır</a:t>
            </a:r>
            <a:endParaRPr lang="en-US" sz="600" dirty="0"/>
          </a:p>
        </p:txBody>
      </p:sp>
      <p:sp>
        <p:nvSpPr>
          <p:cNvPr id="110" name="Text 107"/>
          <p:cNvSpPr txBox="1"/>
          <p:nvPr/>
        </p:nvSpPr>
        <p:spPr>
          <a:xfrm>
            <a:off x="2145754" y="514200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111" name="Text 108"/>
          <p:cNvSpPr txBox="1"/>
          <p:nvPr/>
        </p:nvSpPr>
        <p:spPr>
          <a:xfrm>
            <a:off x="3505124" y="514200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önbellek</a:t>
            </a:r>
            <a:endParaRPr lang="en-US" sz="600" dirty="0"/>
          </a:p>
        </p:txBody>
      </p:sp>
      <p:sp>
        <p:nvSpPr>
          <p:cNvPr id="112" name="Text 109"/>
          <p:cNvSpPr txBox="1"/>
          <p:nvPr/>
        </p:nvSpPr>
        <p:spPr>
          <a:xfrm>
            <a:off x="4864494" y="514200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endParaRPr lang="en-US" sz="600" dirty="0"/>
          </a:p>
        </p:txBody>
      </p:sp>
      <p:sp>
        <p:nvSpPr>
          <p:cNvPr id="113" name="Text 110"/>
          <p:cNvSpPr txBox="1"/>
          <p:nvPr/>
        </p:nvSpPr>
        <p:spPr>
          <a:xfrm>
            <a:off x="6223864" y="514200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14" name="Text 111"/>
          <p:cNvSpPr txBox="1"/>
          <p:nvPr/>
        </p:nvSpPr>
        <p:spPr>
          <a:xfrm>
            <a:off x="7583234" y="514200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115" name="Text 112"/>
          <p:cNvSpPr txBox="1"/>
          <p:nvPr/>
        </p:nvSpPr>
        <p:spPr>
          <a:xfrm>
            <a:off x="8942603" y="514200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116" name="Text 113"/>
          <p:cNvSpPr txBox="1"/>
          <p:nvPr/>
        </p:nvSpPr>
        <p:spPr>
          <a:xfrm>
            <a:off x="10301973" y="5142006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117" name="Shape 114"/>
          <p:cNvSpPr/>
          <p:nvPr/>
        </p:nvSpPr>
        <p:spPr>
          <a:xfrm>
            <a:off x="658368" y="5353050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118" name="Text 115"/>
          <p:cNvSpPr txBox="1"/>
          <p:nvPr/>
        </p:nvSpPr>
        <p:spPr>
          <a:xfrm>
            <a:off x="786384" y="542089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Dinamik / kiralık secret</a:t>
            </a:r>
            <a:endParaRPr lang="en-US" sz="600" dirty="0"/>
          </a:p>
        </p:txBody>
      </p:sp>
      <p:sp>
        <p:nvSpPr>
          <p:cNvPr id="119" name="Text 116"/>
          <p:cNvSpPr txBox="1"/>
          <p:nvPr/>
        </p:nvSpPr>
        <p:spPr>
          <a:xfrm>
            <a:off x="2145754" y="542089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20" name="Text 117"/>
          <p:cNvSpPr txBox="1"/>
          <p:nvPr/>
        </p:nvSpPr>
        <p:spPr>
          <a:xfrm>
            <a:off x="3505124" y="542089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21" name="Text 118"/>
          <p:cNvSpPr txBox="1"/>
          <p:nvPr/>
        </p:nvSpPr>
        <p:spPr>
          <a:xfrm>
            <a:off x="4864494" y="542089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122" name="Text 119"/>
          <p:cNvSpPr txBox="1"/>
          <p:nvPr/>
        </p:nvSpPr>
        <p:spPr>
          <a:xfrm>
            <a:off x="6223864" y="542089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endParaRPr lang="en-US" sz="600" dirty="0"/>
          </a:p>
        </p:txBody>
      </p:sp>
      <p:sp>
        <p:nvSpPr>
          <p:cNvPr id="123" name="Text 120"/>
          <p:cNvSpPr txBox="1"/>
          <p:nvPr/>
        </p:nvSpPr>
        <p:spPr>
          <a:xfrm>
            <a:off x="7583234" y="542089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24" name="Text 121"/>
          <p:cNvSpPr txBox="1"/>
          <p:nvPr/>
        </p:nvSpPr>
        <p:spPr>
          <a:xfrm>
            <a:off x="8942603" y="542089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25" name="Text 122"/>
          <p:cNvSpPr txBox="1"/>
          <p:nvPr/>
        </p:nvSpPr>
        <p:spPr>
          <a:xfrm>
            <a:off x="10301973" y="5420898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26" name="Shape 123"/>
          <p:cNvSpPr/>
          <p:nvPr/>
        </p:nvSpPr>
        <p:spPr>
          <a:xfrm>
            <a:off x="658368" y="5631942"/>
            <a:ext cx="10874959" cy="278892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127" name="Shape 124"/>
          <p:cNvSpPr/>
          <p:nvPr/>
        </p:nvSpPr>
        <p:spPr>
          <a:xfrm>
            <a:off x="658368" y="5631942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128" name="Text 125"/>
          <p:cNvSpPr txBox="1"/>
          <p:nvPr/>
        </p:nvSpPr>
        <p:spPr>
          <a:xfrm>
            <a:off x="786384" y="569979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Çok kullanıcı / RBAC / SSO</a:t>
            </a:r>
            <a:endParaRPr lang="en-US" sz="600" dirty="0"/>
          </a:p>
        </p:txBody>
      </p:sp>
      <p:sp>
        <p:nvSpPr>
          <p:cNvPr id="129" name="Text 126"/>
          <p:cNvSpPr txBox="1"/>
          <p:nvPr/>
        </p:nvSpPr>
        <p:spPr>
          <a:xfrm>
            <a:off x="2145754" y="569979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tek sahip</a:t>
            </a:r>
            <a:endParaRPr lang="en-US" sz="600" dirty="0"/>
          </a:p>
        </p:txBody>
      </p:sp>
      <p:sp>
        <p:nvSpPr>
          <p:cNvPr id="130" name="Text 127"/>
          <p:cNvSpPr txBox="1"/>
          <p:nvPr/>
        </p:nvSpPr>
        <p:spPr>
          <a:xfrm>
            <a:off x="3505124" y="569979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131" name="Text 128"/>
          <p:cNvSpPr txBox="1"/>
          <p:nvPr/>
        </p:nvSpPr>
        <p:spPr>
          <a:xfrm>
            <a:off x="4864494" y="569979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132" name="Text 129"/>
          <p:cNvSpPr txBox="1"/>
          <p:nvPr/>
        </p:nvSpPr>
        <p:spPr>
          <a:xfrm>
            <a:off x="6223864" y="569979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133" name="Text 130"/>
          <p:cNvSpPr txBox="1"/>
          <p:nvPr/>
        </p:nvSpPr>
        <p:spPr>
          <a:xfrm>
            <a:off x="7583234" y="569979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alıcılar</a:t>
            </a:r>
            <a:endParaRPr lang="en-US" sz="600" dirty="0"/>
          </a:p>
        </p:txBody>
      </p:sp>
      <p:sp>
        <p:nvSpPr>
          <p:cNvPr id="134" name="Text 131"/>
          <p:cNvSpPr txBox="1"/>
          <p:nvPr/>
        </p:nvSpPr>
        <p:spPr>
          <a:xfrm>
            <a:off x="8942603" y="569979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anahtarlar</a:t>
            </a:r>
            <a:endParaRPr lang="en-US" sz="600" dirty="0"/>
          </a:p>
        </p:txBody>
      </p:sp>
      <p:sp>
        <p:nvSpPr>
          <p:cNvPr id="135" name="Text 132"/>
          <p:cNvSpPr txBox="1"/>
          <p:nvPr/>
        </p:nvSpPr>
        <p:spPr>
          <a:xfrm>
            <a:off x="10301973" y="5699790"/>
            <a:ext cx="110333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36" name="Shape 133"/>
          <p:cNvSpPr/>
          <p:nvPr/>
        </p:nvSpPr>
        <p:spPr>
          <a:xfrm>
            <a:off x="658368" y="5910834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137" name="Text 134"/>
          <p:cNvSpPr txBox="1"/>
          <p:nvPr/>
        </p:nvSpPr>
        <p:spPr>
          <a:xfrm>
            <a:off x="786384" y="5978682"/>
            <a:ext cx="110333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Mobil uygulama / otomatik doldurma</a:t>
            </a:r>
            <a:endParaRPr lang="en-US" sz="600" dirty="0"/>
          </a:p>
        </p:txBody>
      </p:sp>
      <p:sp>
        <p:nvSpPr>
          <p:cNvPr id="138" name="Text 135"/>
          <p:cNvSpPr txBox="1"/>
          <p:nvPr/>
        </p:nvSpPr>
        <p:spPr>
          <a:xfrm>
            <a:off x="2145754" y="5978682"/>
            <a:ext cx="110333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39" name="Text 136"/>
          <p:cNvSpPr txBox="1"/>
          <p:nvPr/>
        </p:nvSpPr>
        <p:spPr>
          <a:xfrm>
            <a:off x="3505124" y="5978682"/>
            <a:ext cx="110333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✓</a:t>
            </a:r>
            <a:endParaRPr lang="en-US" sz="600" dirty="0"/>
          </a:p>
        </p:txBody>
      </p:sp>
      <p:sp>
        <p:nvSpPr>
          <p:cNvPr id="140" name="Text 137"/>
          <p:cNvSpPr txBox="1"/>
          <p:nvPr/>
        </p:nvSpPr>
        <p:spPr>
          <a:xfrm>
            <a:off x="4864494" y="5978682"/>
            <a:ext cx="110333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41" name="Text 138"/>
          <p:cNvSpPr txBox="1"/>
          <p:nvPr/>
        </p:nvSpPr>
        <p:spPr>
          <a:xfrm>
            <a:off x="6223864" y="5978682"/>
            <a:ext cx="110333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42" name="Text 139"/>
          <p:cNvSpPr txBox="1"/>
          <p:nvPr/>
        </p:nvSpPr>
        <p:spPr>
          <a:xfrm>
            <a:off x="7583234" y="5978682"/>
            <a:ext cx="110333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43" name="Text 140"/>
          <p:cNvSpPr txBox="1"/>
          <p:nvPr/>
        </p:nvSpPr>
        <p:spPr>
          <a:xfrm>
            <a:off x="8942603" y="5978682"/>
            <a:ext cx="110333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~</a:t>
            </a:r>
            <a:endParaRPr lang="en-US" sz="600" dirty="0"/>
          </a:p>
        </p:txBody>
      </p:sp>
      <p:sp>
        <p:nvSpPr>
          <p:cNvPr id="144" name="Text 141"/>
          <p:cNvSpPr txBox="1"/>
          <p:nvPr/>
        </p:nvSpPr>
        <p:spPr>
          <a:xfrm>
            <a:off x="10301973" y="5978682"/>
            <a:ext cx="110333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✕</a:t>
            </a:r>
            <a:endParaRPr lang="en-US" sz="600" dirty="0"/>
          </a:p>
        </p:txBody>
      </p:sp>
      <p:sp>
        <p:nvSpPr>
          <p:cNvPr id="145" name="Shape 142"/>
          <p:cNvSpPr/>
          <p:nvPr/>
        </p:nvSpPr>
        <p:spPr>
          <a:xfrm>
            <a:off x="658368" y="2253234"/>
            <a:ext cx="10874959" cy="4032504"/>
          </a:xfrm>
          <a:prstGeom prst="rect">
            <a:avLst/>
          </a:prstGeom>
          <a:ln w="11430">
            <a:solidFill>
              <a:srgbClr val="26262C"/>
            </a:solidFill>
            <a:prstDash val="solid"/>
          </a:ln>
        </p:spPr>
      </p:sp>
      <p:sp>
        <p:nvSpPr>
          <p:cNvPr id="146" name="Text 143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Kaynak: docs/comparison.md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682962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6829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Pazar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31921"/>
            <a:ext cx="10808208" cy="118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spc="-74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concealer nerede kazanıyor — ve nerede başka bir şey kullanmalısın.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987057"/>
            <a:ext cx="518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Kazandığı yerler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58368" y="2385644"/>
            <a:ext cx="5181448" cy="0"/>
          </a:xfrm>
          <a:prstGeom prst="line">
            <a:avLst/>
          </a:prstGeom>
          <a:noFill/>
          <a:ln w="20320">
            <a:solidFill>
              <a:srgbClr val="2F9E6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90372" y="2596185"/>
            <a:ext cx="72009" cy="72009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96112" y="2520747"/>
            <a:ext cx="4943704" cy="35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Sıfır altyapı.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Sunucu, container, bulut tenant'ı ya da daemon yok. </a:t>
            </a:r>
            <a:pPr algn="l" indent="0" marL="0">
              <a:lnSpc>
                <a:spcPts val="1065"/>
              </a:lnSpc>
              <a:buNone/>
            </a:pPr>
            <a:r>
              <a:rPr lang="en-US" sz="67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init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ve kasa hazır.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90372" y="2914320"/>
            <a:ext cx="72009" cy="72009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96112" y="2838882"/>
            <a:ext cx="4943704" cy="35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Git-yerlisi.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Kodla aynı repo'da diff'lenip versiyonlanan şifreli bir YAML dosyası.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690372" y="3232455"/>
            <a:ext cx="72009" cy="72009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96112" y="3157017"/>
            <a:ext cx="4943704" cy="489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Ajan-öncelikli.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Matristeki tek araç ki MCP sunucusu AI ajanı tehdit modelleri üzerine kurulmuş: kayıt kapısı, ajan başına sızdırma kotası, temizlenmiş çıktı.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90372" y="3685845"/>
            <a:ext cx="72009" cy="72009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96112" y="3610407"/>
            <a:ext cx="4943704" cy="489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Tasarımı gereği kurcalama-belirtir.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HMAC zinciri artı kuyruk kırpmayı yakalayan bir baş çapası — bulut denetim hattı gerekmez.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690372" y="4139235"/>
            <a:ext cx="72009" cy="72009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96112" y="4063797"/>
            <a:ext cx="4943704" cy="489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Kilitlenme yok, telemetri yok, okunacak tek dosya.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Tescilli bir bulut kasasına güvenmekle karşılaştır — 2022 LastPass ihlaline bak.</a:t>
            </a:r>
            <a:endParaRPr lang="en-US" sz="750" dirty="0"/>
          </a:p>
        </p:txBody>
      </p:sp>
      <p:sp>
        <p:nvSpPr>
          <p:cNvPr id="24" name="Text 21"/>
          <p:cNvSpPr txBox="1"/>
          <p:nvPr/>
        </p:nvSpPr>
        <p:spPr>
          <a:xfrm>
            <a:off x="6351880" y="1987057"/>
            <a:ext cx="518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8963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Kazanmadığı yerler — başkasını kullan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351880" y="2385644"/>
            <a:ext cx="5181448" cy="0"/>
          </a:xfrm>
          <a:prstGeom prst="line">
            <a:avLst/>
          </a:prstGeom>
          <a:noFill/>
          <a:ln w="20320">
            <a:solidFill>
              <a:srgbClr val="D8963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383884" y="2596185"/>
            <a:ext cx="72009" cy="72009"/>
          </a:xfrm>
          <a:prstGeom prst="ellipse">
            <a:avLst/>
          </a:prstGeom>
          <a:solidFill>
            <a:srgbClr val="D8963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589624" y="2520747"/>
            <a:ext cx="4943704" cy="35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Ekipler.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SSO yok, RBAC yok, kullanıcı bazlı paylaşım yok. Tek sahipli bir kasa. → 1Password / Bitwarden / Vault.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6383884" y="2914320"/>
            <a:ext cx="72009" cy="72009"/>
          </a:xfrm>
          <a:prstGeom prst="ellipse">
            <a:avLst/>
          </a:prstGeom>
          <a:solidFill>
            <a:srgbClr val="D8963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589624" y="2838882"/>
            <a:ext cx="4943704" cy="35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Dinamik secret ve kiralama.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Talep üzerine üretilen kısa ömürlü DB credential'ı yok. → HashiCorp Vault.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6383884" y="3232455"/>
            <a:ext cx="72009" cy="72009"/>
          </a:xfrm>
          <a:prstGeom prst="ellipse">
            <a:avLst/>
          </a:prstGeom>
          <a:solidFill>
            <a:srgbClr val="D8963C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589624" y="3157017"/>
            <a:ext cx="4943704" cy="35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Otomatik rotasyon ve CI/CD senkron dokusu.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Rotasyon manuel. → Doppler / Infisical.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6383884" y="3550590"/>
            <a:ext cx="72009" cy="72009"/>
          </a:xfrm>
          <a:prstGeom prst="ellipse">
            <a:avLst/>
          </a:prstGeom>
          <a:solidFill>
            <a:srgbClr val="D8963C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589624" y="3475152"/>
            <a:ext cx="4943704" cy="489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Tüketici deneyimi.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Mobil uygulama yok, tarayıcı otomatik doldurma yok, passkey yok. → 1Password / Bitwarden / Keeper.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6383884" y="4003980"/>
            <a:ext cx="72009" cy="72009"/>
          </a:xfrm>
          <a:prstGeom prst="ellipse">
            <a:avLst/>
          </a:prstGeom>
          <a:solidFill>
            <a:srgbClr val="D8963C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589624" y="3928542"/>
            <a:ext cx="4943704" cy="489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Anahtar teslim uyumluluk belgeleri.</a:t>
            </a:r>
            <a:pPr algn="l" indent="0" marL="0">
              <a:lnSpc>
                <a:spcPts val="1065"/>
              </a:lnSpc>
              <a:buNone/>
            </a:pPr>
            <a:r>
              <a:rPr lang="en-US" sz="7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 FedRAMP veya SOC 2 yok — bunlar aracı işleten kurumun kazandığı belgelerdir, aracın içinde gelmez. → Keeper / Vault / bulut KMS.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658368" y="4711268"/>
            <a:ext cx="10874959" cy="310896"/>
          </a:xfrm>
          <a:prstGeom prst="roundRect">
            <a:avLst>
              <a:gd name="adj" fmla="val 14706"/>
            </a:avLst>
          </a:prstGeom>
          <a:solidFill>
            <a:srgbClr val="1B1B20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786384" y="4816988"/>
            <a:ext cx="723164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İhtiyacın…</a:t>
            </a:r>
            <a:endParaRPr lang="en-US" sz="600" dirty="0"/>
          </a:p>
        </p:txBody>
      </p:sp>
      <p:sp>
        <p:nvSpPr>
          <p:cNvPr id="38" name="Text 35"/>
          <p:cNvSpPr txBox="1"/>
          <p:nvPr/>
        </p:nvSpPr>
        <p:spPr>
          <a:xfrm>
            <a:off x="8274061" y="4816988"/>
            <a:ext cx="313125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Kullan</a:t>
            </a:r>
            <a:endParaRPr lang="en-US" sz="600" dirty="0"/>
          </a:p>
        </p:txBody>
      </p:sp>
      <p:sp>
        <p:nvSpPr>
          <p:cNvPr id="39" name="Shape 36"/>
          <p:cNvSpPr/>
          <p:nvPr/>
        </p:nvSpPr>
        <p:spPr>
          <a:xfrm>
            <a:off x="658368" y="5022164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86384" y="5062581"/>
            <a:ext cx="7231645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Sunucusuz, git'te versiyonlanan kişisel veya tek geliştiricili kasa</a:t>
            </a:r>
            <a:endParaRPr lang="en-US" sz="600" dirty="0"/>
          </a:p>
        </p:txBody>
      </p:sp>
      <p:sp>
        <p:nvSpPr>
          <p:cNvPr id="41" name="Text 38"/>
          <p:cNvSpPr txBox="1"/>
          <p:nvPr/>
        </p:nvSpPr>
        <p:spPr>
          <a:xfrm>
            <a:off x="8274061" y="5062581"/>
            <a:ext cx="313125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concealer</a:t>
            </a:r>
            <a:endParaRPr lang="en-US" sz="600" dirty="0"/>
          </a:p>
        </p:txBody>
      </p:sp>
      <p:sp>
        <p:nvSpPr>
          <p:cNvPr id="42" name="Shape 39"/>
          <p:cNvSpPr/>
          <p:nvPr/>
        </p:nvSpPr>
        <p:spPr>
          <a:xfrm>
            <a:off x="658368" y="5246192"/>
            <a:ext cx="10874959" cy="224028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43" name="Shape 40"/>
          <p:cNvSpPr/>
          <p:nvPr/>
        </p:nvSpPr>
        <p:spPr>
          <a:xfrm>
            <a:off x="658368" y="5246192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86384" y="5286609"/>
            <a:ext cx="7231645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Yerel AI ajanları ve MCP istemcileri için güvenli secret erişimi</a:t>
            </a:r>
            <a:endParaRPr lang="en-US" sz="600" dirty="0"/>
          </a:p>
        </p:txBody>
      </p:sp>
      <p:sp>
        <p:nvSpPr>
          <p:cNvPr id="45" name="Text 42"/>
          <p:cNvSpPr txBox="1"/>
          <p:nvPr/>
        </p:nvSpPr>
        <p:spPr>
          <a:xfrm>
            <a:off x="8274061" y="5286609"/>
            <a:ext cx="313125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concealer</a:t>
            </a:r>
            <a:endParaRPr lang="en-US" sz="600" dirty="0"/>
          </a:p>
        </p:txBody>
      </p:sp>
      <p:sp>
        <p:nvSpPr>
          <p:cNvPr id="46" name="Shape 43"/>
          <p:cNvSpPr/>
          <p:nvPr/>
        </p:nvSpPr>
        <p:spPr>
          <a:xfrm>
            <a:off x="658368" y="5470220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86384" y="5510637"/>
            <a:ext cx="7231645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Sadece bir repo içindeki config dosyasını şifrelemek</a:t>
            </a:r>
            <a:endParaRPr lang="en-US" sz="600" dirty="0"/>
          </a:p>
        </p:txBody>
      </p:sp>
      <p:sp>
        <p:nvSpPr>
          <p:cNvPr id="48" name="Text 45"/>
          <p:cNvSpPr txBox="1"/>
          <p:nvPr/>
        </p:nvSpPr>
        <p:spPr>
          <a:xfrm>
            <a:off x="8274061" y="5510637"/>
            <a:ext cx="313125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concealer</a:t>
            </a:r>
            <a:endParaRPr lang="en-US" sz="600" dirty="0"/>
          </a:p>
        </p:txBody>
      </p:sp>
      <p:sp>
        <p:nvSpPr>
          <p:cNvPr id="49" name="Shape 46"/>
          <p:cNvSpPr/>
          <p:nvPr/>
        </p:nvSpPr>
        <p:spPr>
          <a:xfrm>
            <a:off x="658368" y="5694248"/>
            <a:ext cx="10874959" cy="224028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50" name="Shape 47"/>
          <p:cNvSpPr/>
          <p:nvPr/>
        </p:nvSpPr>
        <p:spPr>
          <a:xfrm>
            <a:off x="658368" y="5694248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786384" y="5734665"/>
            <a:ext cx="7231645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Ekip paylaşımı, SSO, mobil otomatik doldurma</a:t>
            </a:r>
            <a:endParaRPr lang="en-US" sz="600" dirty="0"/>
          </a:p>
        </p:txBody>
      </p:sp>
      <p:sp>
        <p:nvSpPr>
          <p:cNvPr id="52" name="Text 49"/>
          <p:cNvSpPr txBox="1"/>
          <p:nvPr/>
        </p:nvSpPr>
        <p:spPr>
          <a:xfrm>
            <a:off x="8274061" y="5734665"/>
            <a:ext cx="313125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1Password / Bitwarden</a:t>
            </a:r>
            <a:endParaRPr lang="en-US" sz="600" dirty="0"/>
          </a:p>
        </p:txBody>
      </p:sp>
      <p:sp>
        <p:nvSpPr>
          <p:cNvPr id="53" name="Shape 50"/>
          <p:cNvSpPr/>
          <p:nvPr/>
        </p:nvSpPr>
        <p:spPr>
          <a:xfrm>
            <a:off x="658368" y="5918276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786384" y="5958693"/>
            <a:ext cx="7231645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Dinamik DB credential'ı, kiralama, servis olarak şifreleme</a:t>
            </a:r>
            <a:endParaRPr lang="en-US" sz="600" dirty="0"/>
          </a:p>
        </p:txBody>
      </p:sp>
      <p:sp>
        <p:nvSpPr>
          <p:cNvPr id="55" name="Text 52"/>
          <p:cNvSpPr txBox="1"/>
          <p:nvPr/>
        </p:nvSpPr>
        <p:spPr>
          <a:xfrm>
            <a:off x="8274061" y="5958693"/>
            <a:ext cx="313125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HashiCorp Vault</a:t>
            </a:r>
            <a:endParaRPr lang="en-US" sz="600" dirty="0"/>
          </a:p>
        </p:txBody>
      </p:sp>
      <p:sp>
        <p:nvSpPr>
          <p:cNvPr id="56" name="Shape 53"/>
          <p:cNvSpPr/>
          <p:nvPr/>
        </p:nvSpPr>
        <p:spPr>
          <a:xfrm>
            <a:off x="658368" y="6142304"/>
            <a:ext cx="10874959" cy="224028"/>
          </a:xfrm>
          <a:prstGeom prst="rect">
            <a:avLst/>
          </a:prstGeom>
          <a:solidFill>
            <a:srgbClr val="111116"/>
          </a:solidFill>
          <a:ln/>
        </p:spPr>
      </p:sp>
      <p:sp>
        <p:nvSpPr>
          <p:cNvPr id="57" name="Shape 54"/>
          <p:cNvSpPr/>
          <p:nvPr/>
        </p:nvSpPr>
        <p:spPr>
          <a:xfrm>
            <a:off x="658368" y="6142304"/>
            <a:ext cx="10874959" cy="0"/>
          </a:xfrm>
          <a:prstGeom prst="line">
            <a:avLst/>
          </a:prstGeom>
          <a:noFill/>
          <a:ln w="7620">
            <a:solidFill>
              <a:srgbClr val="26262C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786384" y="6182721"/>
            <a:ext cx="7231645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ECECEF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CI/CD'ye senkronlanan yönetilen çok ortamlı secret'lar</a:t>
            </a:r>
            <a:endParaRPr lang="en-US" sz="600" dirty="0"/>
          </a:p>
        </p:txBody>
      </p:sp>
      <p:sp>
        <p:nvSpPr>
          <p:cNvPr id="59" name="Text 56"/>
          <p:cNvSpPr txBox="1"/>
          <p:nvPr/>
        </p:nvSpPr>
        <p:spPr>
          <a:xfrm>
            <a:off x="8274061" y="6182721"/>
            <a:ext cx="313125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6"/>
              </a:lnSpc>
              <a:buNone/>
            </a:pPr>
            <a:r>
              <a:rPr lang="en-US" sz="60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Doppler / Infisical</a:t>
            </a:r>
            <a:endParaRPr lang="en-US" sz="600" dirty="0"/>
          </a:p>
        </p:txBody>
      </p:sp>
      <p:sp>
        <p:nvSpPr>
          <p:cNvPr id="60" name="Shape 57"/>
          <p:cNvSpPr/>
          <p:nvPr/>
        </p:nvSpPr>
        <p:spPr>
          <a:xfrm>
            <a:off x="658368" y="4711268"/>
            <a:ext cx="10874959" cy="1655064"/>
          </a:xfrm>
          <a:prstGeom prst="rect">
            <a:avLst/>
          </a:prstGeom>
          <a:ln w="11430">
            <a:solidFill>
              <a:srgbClr val="26262C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Kaynak: docs/comparison.md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pic>
        <p:nvPicPr>
          <p:cNvPr id="4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148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2776" y="117592"/>
            <a:ext cx="8229600" cy="605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48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2113780" y="133137"/>
            <a:ext cx="455074" cy="247594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25703" y="117592"/>
            <a:ext cx="596989" cy="24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spc="-34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952902" y="146304"/>
            <a:ext cx="677361" cy="274320"/>
          </a:xfrm>
          <a:prstGeom prst="roundRect">
            <a:avLst>
              <a:gd name="adj" fmla="val 20000"/>
            </a:avLst>
          </a:prstGeom>
          <a:solidFill>
            <a:srgbClr val="F04A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52902" y="182743"/>
            <a:ext cx="6773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Başla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692847" y="207615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127.0.0.1:8787  ·  LOCAL ONLY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824240"/>
            <a:ext cx="10808208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spc="-79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Yaklaşık bir dakikada çalışır durumda.</a:t>
            </a:r>
            <a:endParaRPr lang="en-US" sz="33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1504158"/>
            <a:ext cx="8778240" cy="624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Paket yöneticini seç — her biri concealer'ın sarmaladığı sops ve age ikililerini de kurar. Sonra bir kez init: 8 kurtarma kodu ve bir başlangıç token'ı basar, ardından düz metin age anahtarını diskten siler.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2234778"/>
            <a:ext cx="34542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4A4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macOS · Homebrew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58368" y="2611145"/>
            <a:ext cx="3454298" cy="1168146"/>
          </a:xfrm>
          <a:prstGeom prst="roundRect">
            <a:avLst>
              <a:gd name="adj" fmla="val 5479"/>
            </a:avLst>
          </a:prstGeom>
          <a:solidFill>
            <a:srgbClr val="08080A"/>
          </a:solidFill>
          <a:ln w="9525">
            <a:solidFill>
              <a:srgbClr val="26262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9536" y="2744373"/>
            <a:ext cx="3051962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# sops, age, expect ile birlikte gelir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859536" y="2915823"/>
            <a:ext cx="3051962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brew</a:t>
            </a:r>
            <a:pPr indent="0" marL="0">
              <a:buNone/>
            </a:pPr>
            <a:r>
              <a:rPr lang="en-US" sz="90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install fxerkan/tap/concealer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859536" y="3258723"/>
            <a:ext cx="3051962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concealer</a:t>
            </a:r>
            <a:pPr indent="0" marL="0">
              <a:buNone/>
            </a:pPr>
            <a:r>
              <a:rPr lang="en-US" sz="90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init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859536" y="3430173"/>
            <a:ext cx="3051962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070D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eval</a:t>
            </a:r>
            <a:pPr indent="0" marL="0">
              <a:buNone/>
            </a:pPr>
            <a:r>
              <a:rPr lang="en-US" sz="90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2F9E6B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"$(cer unlock)"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4368698" y="2234778"/>
            <a:ext cx="34542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070D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Linux · pipx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368698" y="2611145"/>
            <a:ext cx="3454298" cy="1215771"/>
          </a:xfrm>
          <a:prstGeom prst="roundRect">
            <a:avLst>
              <a:gd name="adj" fmla="val 5265"/>
            </a:avLst>
          </a:prstGeom>
          <a:solidFill>
            <a:srgbClr val="08080A"/>
          </a:solidFill>
          <a:ln w="9525">
            <a:solidFill>
              <a:srgbClr val="26262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69866" y="2743139"/>
            <a:ext cx="3051962" cy="302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pipx</a:t>
            </a:r>
            <a:pPr indent="0" marL="0">
              <a:buNone/>
            </a:pPr>
            <a:r>
              <a:rPr lang="en-US" sz="95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install concealer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69866" y="2924114"/>
            <a:ext cx="3051962" cy="302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sudo</a:t>
            </a:r>
            <a:pPr indent="0" marL="0">
              <a:buNone/>
            </a:pPr>
            <a:r>
              <a:rPr lang="en-US" sz="95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apt install sops age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4569866" y="3286064"/>
            <a:ext cx="3051962" cy="302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concealer</a:t>
            </a:r>
            <a:pPr indent="0" marL="0">
              <a:buNone/>
            </a:pPr>
            <a:r>
              <a:rPr lang="en-US" sz="95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init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4569866" y="3467039"/>
            <a:ext cx="3051962" cy="302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070D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eval</a:t>
            </a:r>
            <a:pPr indent="0" marL="0">
              <a:buNone/>
            </a:pPr>
            <a:r>
              <a:rPr lang="en-US" sz="95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2F9E6B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"$(cer unlock)"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8079029" y="2234778"/>
            <a:ext cx="34542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9E6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Windows · Scoop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079029" y="2611145"/>
            <a:ext cx="3454298" cy="1253871"/>
          </a:xfrm>
          <a:prstGeom prst="roundRect">
            <a:avLst>
              <a:gd name="adj" fmla="val 5105"/>
            </a:avLst>
          </a:prstGeom>
          <a:solidFill>
            <a:srgbClr val="08080A"/>
          </a:solidFill>
          <a:ln w="9525">
            <a:solidFill>
              <a:srgbClr val="26262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80197" y="2746225"/>
            <a:ext cx="3051962" cy="277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825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scoop</a:t>
            </a:r>
            <a:pPr indent="0" marL="0">
              <a:buNone/>
            </a:pPr>
            <a:r>
              <a:rPr lang="en-US" sz="8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bucket add fxerkan </a:t>
            </a:r>
            <a:pPr indent="0" marL="0">
              <a:buNone/>
            </a:pPr>
            <a:r>
              <a:rPr lang="en-US" sz="825" dirty="0">
                <a:solidFill>
                  <a:srgbClr val="4070D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\</a:t>
            </a:r>
            <a:endParaRPr lang="en-US" sz="825" dirty="0"/>
          </a:p>
        </p:txBody>
      </p:sp>
      <p:sp>
        <p:nvSpPr>
          <p:cNvPr id="28" name="Text 25"/>
          <p:cNvSpPr txBox="1"/>
          <p:nvPr/>
        </p:nvSpPr>
        <p:spPr>
          <a:xfrm>
            <a:off x="8280197" y="2903388"/>
            <a:ext cx="3051962" cy="277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8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 https://github.com/fxerkan/scoop-bucket</a:t>
            </a:r>
            <a:endParaRPr lang="en-US" sz="825" dirty="0"/>
          </a:p>
        </p:txBody>
      </p:sp>
      <p:sp>
        <p:nvSpPr>
          <p:cNvPr id="29" name="Text 26"/>
          <p:cNvSpPr txBox="1"/>
          <p:nvPr/>
        </p:nvSpPr>
        <p:spPr>
          <a:xfrm>
            <a:off x="8280197" y="3060550"/>
            <a:ext cx="3051962" cy="277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825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scoop</a:t>
            </a:r>
            <a:pPr indent="0" marL="0">
              <a:buNone/>
            </a:pPr>
            <a:r>
              <a:rPr lang="en-US" sz="8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install concealer</a:t>
            </a:r>
            <a:endParaRPr lang="en-US" sz="825" dirty="0"/>
          </a:p>
        </p:txBody>
      </p:sp>
      <p:sp>
        <p:nvSpPr>
          <p:cNvPr id="30" name="Text 27"/>
          <p:cNvSpPr txBox="1"/>
          <p:nvPr/>
        </p:nvSpPr>
        <p:spPr>
          <a:xfrm>
            <a:off x="8280197" y="3374875"/>
            <a:ext cx="3051962" cy="277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825" dirty="0">
                <a:solidFill>
                  <a:srgbClr val="F04A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concealer</a:t>
            </a:r>
            <a:pPr indent="0" marL="0">
              <a:buNone/>
            </a:pPr>
            <a:r>
              <a:rPr lang="en-US" sz="8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init</a:t>
            </a:r>
            <a:endParaRPr lang="en-US" sz="825" dirty="0"/>
          </a:p>
        </p:txBody>
      </p:sp>
      <p:sp>
        <p:nvSpPr>
          <p:cNvPr id="31" name="Text 28"/>
          <p:cNvSpPr txBox="1"/>
          <p:nvPr/>
        </p:nvSpPr>
        <p:spPr>
          <a:xfrm>
            <a:off x="8280197" y="3532038"/>
            <a:ext cx="3051962" cy="277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825" dirty="0">
                <a:solidFill>
                  <a:srgbClr val="4070D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$env:</a:t>
            </a:r>
            <a:pPr indent="0" marL="0">
              <a:buNone/>
            </a:pPr>
            <a:r>
              <a:rPr lang="en-US" sz="825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CONCEALER_TOKEN = </a:t>
            </a:r>
            <a:pPr indent="0" marL="0">
              <a:buNone/>
            </a:pPr>
            <a:r>
              <a:rPr lang="en-US" sz="825" dirty="0">
                <a:solidFill>
                  <a:srgbClr val="2F9E6B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"…"</a:t>
            </a:r>
            <a:endParaRPr lang="en-US" sz="825" dirty="0"/>
          </a:p>
        </p:txBody>
      </p:sp>
      <p:sp>
        <p:nvSpPr>
          <p:cNvPr id="32" name="Text 29"/>
          <p:cNvSpPr txBox="1"/>
          <p:nvPr/>
        </p:nvSpPr>
        <p:spPr>
          <a:xfrm>
            <a:off x="658368" y="6526119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Kaynak: docs/installation.md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4A4A"/>
          </a:solidFill>
          <a:ln/>
        </p:spPr>
      </p:sp>
      <p:pic>
        <p:nvPicPr>
          <p:cNvPr id="3" name="Image 0" descr="/home/claude/decks/kit2/worlds/../logos/conceal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877037"/>
            <a:ext cx="804672" cy="8046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2399" y="902330"/>
            <a:ext cx="8229600" cy="857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600" spc="-129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conceal</a:t>
            </a:r>
            <a:endParaRPr lang="en-US" sz="4600" dirty="0"/>
          </a:p>
        </p:txBody>
      </p:sp>
      <p:sp>
        <p:nvSpPr>
          <p:cNvPr id="5" name="Shape 2"/>
          <p:cNvSpPr/>
          <p:nvPr/>
        </p:nvSpPr>
        <p:spPr>
          <a:xfrm>
            <a:off x="4341586" y="944392"/>
            <a:ext cx="1231377" cy="669961"/>
          </a:xfrm>
          <a:prstGeom prst="roundRect">
            <a:avLst>
              <a:gd name="adj" fmla="val 22000"/>
            </a:avLst>
          </a:prstGeom>
          <a:solidFill>
            <a:srgbClr val="F04A4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644436" y="902330"/>
            <a:ext cx="991438" cy="669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600" spc="-92" kern="0" dirty="0">
                <a:solidFill>
                  <a:srgbClr val="0B0B0D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er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835272"/>
            <a:ext cx="652881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88"/>
              </a:lnSpc>
              <a:buNone/>
            </a:pPr>
            <a:r>
              <a:rPr lang="en-US" sz="3600" spc="-94" kern="0" dirty="0">
                <a:solidFill>
                  <a:srgbClr val="ECECE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Sohbet pencerelerine anahtar yapıştırmayı bırak.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079267"/>
            <a:ext cx="6309360" cy="431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9A9AA4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Yalnızca yerel. Taşınabilir. Açık kaynak. Artık kod yazdığımız şekle göre tasarlandı.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58368" y="3621367"/>
            <a:ext cx="3159252" cy="310896"/>
          </a:xfrm>
          <a:prstGeom prst="roundRect">
            <a:avLst>
              <a:gd name="adj" fmla="val 50000"/>
            </a:avLst>
          </a:prstGeom>
          <a:solidFill>
            <a:srgbClr val="1B1B20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" y="3708875"/>
            <a:ext cx="3159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brew install fxerkan/tap/concealer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909060" y="3621367"/>
            <a:ext cx="2199132" cy="310896"/>
          </a:xfrm>
          <a:prstGeom prst="roundRect">
            <a:avLst>
              <a:gd name="adj" fmla="val 50000"/>
            </a:avLst>
          </a:prstGeom>
          <a:solidFill>
            <a:srgbClr val="1B1B20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09060" y="3708875"/>
            <a:ext cx="21991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pipx install concealer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58368" y="4023703"/>
            <a:ext cx="2279142" cy="310896"/>
          </a:xfrm>
          <a:prstGeom prst="roundRect">
            <a:avLst>
              <a:gd name="adj" fmla="val 50000"/>
            </a:avLst>
          </a:prstGeom>
          <a:solidFill>
            <a:srgbClr val="1B1B20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8368" y="4111211"/>
            <a:ext cx="22791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scoop install concealer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028950" y="4023703"/>
            <a:ext cx="678942" cy="310896"/>
          </a:xfrm>
          <a:prstGeom prst="roundRect">
            <a:avLst>
              <a:gd name="adj" fmla="val 50000"/>
            </a:avLst>
          </a:prstGeom>
          <a:solidFill>
            <a:srgbClr val="1B1B20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028950" y="4111211"/>
            <a:ext cx="6789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MIT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799332" y="4023703"/>
            <a:ext cx="2279142" cy="310896"/>
          </a:xfrm>
          <a:prstGeom prst="roundRect">
            <a:avLst>
              <a:gd name="adj" fmla="val 50000"/>
            </a:avLst>
          </a:prstGeom>
          <a:solidFill>
            <a:srgbClr val="1B1B20"/>
          </a:solidFill>
          <a:ln w="12700">
            <a:solidFill>
              <a:srgbClr val="26262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799332" y="4111211"/>
            <a:ext cx="22791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CECEF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macOS · Linux · Windows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85800" y="4735742"/>
            <a:ext cx="91440" cy="91440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14400" y="4668661"/>
            <a:ext cx="585216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6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concealer.fxerkan.com</a:t>
            </a:r>
            <a:endParaRPr lang="en-US" sz="806" dirty="0"/>
          </a:p>
        </p:txBody>
      </p:sp>
      <p:sp>
        <p:nvSpPr>
          <p:cNvPr id="21" name="Shape 18"/>
          <p:cNvSpPr/>
          <p:nvPr/>
        </p:nvSpPr>
        <p:spPr>
          <a:xfrm>
            <a:off x="685800" y="4966102"/>
            <a:ext cx="91440" cy="91440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14400" y="4899022"/>
            <a:ext cx="585216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6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GitHub</a:t>
            </a:r>
            <a:endParaRPr lang="en-US" sz="806" dirty="0"/>
          </a:p>
        </p:txBody>
      </p:sp>
      <p:sp>
        <p:nvSpPr>
          <p:cNvPr id="23" name="Shape 20"/>
          <p:cNvSpPr/>
          <p:nvPr/>
        </p:nvSpPr>
        <p:spPr>
          <a:xfrm>
            <a:off x="685800" y="5196463"/>
            <a:ext cx="91440" cy="91440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14400" y="5129382"/>
            <a:ext cx="585216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6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Tam karşılaştırma</a:t>
            </a:r>
            <a:endParaRPr lang="en-US" sz="806" dirty="0"/>
          </a:p>
        </p:txBody>
      </p:sp>
      <p:sp>
        <p:nvSpPr>
          <p:cNvPr id="25" name="Shape 22"/>
          <p:cNvSpPr/>
          <p:nvPr/>
        </p:nvSpPr>
        <p:spPr>
          <a:xfrm>
            <a:off x="685800" y="5426823"/>
            <a:ext cx="91440" cy="91440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14400" y="5359742"/>
            <a:ext cx="585216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6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Chrome Web Store</a:t>
            </a:r>
            <a:endParaRPr lang="en-US" sz="806" dirty="0"/>
          </a:p>
        </p:txBody>
      </p:sp>
      <p:sp>
        <p:nvSpPr>
          <p:cNvPr id="27" name="Shape 24"/>
          <p:cNvSpPr/>
          <p:nvPr/>
        </p:nvSpPr>
        <p:spPr>
          <a:xfrm>
            <a:off x="685800" y="5657183"/>
            <a:ext cx="91440" cy="91440"/>
          </a:xfrm>
          <a:prstGeom prst="ellipse">
            <a:avLst/>
          </a:prstGeom>
          <a:solidFill>
            <a:srgbClr val="F04A4A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14400" y="5590102"/>
            <a:ext cx="585216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6" dirty="0">
                <a:solidFill>
                  <a:srgbClr val="ECECEF"/>
                </a:solidFill>
                <a:latin typeface="Archivo SemiBold" pitchFamily="34" charset="0"/>
                <a:ea typeface="Archivo SemiBold" pitchFamily="34" charset="-122"/>
                <a:cs typeface="Archivo SemiBold" pitchFamily="34" charset="-120"/>
              </a:rPr>
              <a:t>Destek</a:t>
            </a:r>
            <a:endParaRPr lang="en-US" sz="806" dirty="0"/>
          </a:p>
        </p:txBody>
      </p:sp>
      <p:sp>
        <p:nvSpPr>
          <p:cNvPr id="29" name="Shape 26"/>
          <p:cNvSpPr/>
          <p:nvPr/>
        </p:nvSpPr>
        <p:spPr>
          <a:xfrm>
            <a:off x="7356348" y="1760070"/>
            <a:ext cx="4224528" cy="2725211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pic>
        <p:nvPicPr>
          <p:cNvPr id="30" name="Image 1" descr="/home/claude/deck/imgc/app-secret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09778"/>
            <a:ext cx="4224528" cy="2725211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7315200" y="1709778"/>
            <a:ext cx="4224528" cy="2725211"/>
          </a:xfrm>
          <a:prstGeom prst="rect">
            <a:avLst/>
          </a:prstGeom>
          <a:ln w="12700">
            <a:solidFill>
              <a:srgbClr val="26262C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58368" y="6126480"/>
            <a:ext cx="10874959" cy="0"/>
          </a:xfrm>
          <a:prstGeom prst="line">
            <a:avLst/>
          </a:prstGeom>
          <a:noFill/>
          <a:ln w="11430">
            <a:solidFill>
              <a:srgbClr val="26262C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58368" y="6323716"/>
            <a:ext cx="6524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A6A7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concealer v0.9.24  ·  MIT  ·  FXerkan tarafından geliştirildi — Code more, worry less.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fxerkan.com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concealer — Pitch Deck (TR)</dc:title>
  <dc:subject>PptxGenJS Presentation</dc:subject>
  <dc:creator>FXerkan</dc:creator>
  <cp:lastModifiedBy>FXerkan</cp:lastModifiedBy>
  <cp:revision>1</cp:revision>
  <dcterms:created xsi:type="dcterms:W3CDTF">2026-09-13T17:40:09Z</dcterms:created>
  <dcterms:modified xsi:type="dcterms:W3CDTF">2026-09-13T17:40:09Z</dcterms:modified>
</cp:coreProperties>
</file>