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concealer — the AI Secret Manager. Local-only, SOPS + age, and an MCP server that lets agents use secrets without seeing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TANITIM SUNUMU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concealer.fxerkan.com  ·  github.com/fxerkan/concealer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914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34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66928" y="1764792"/>
            <a:ext cx="274320" cy="100584"/>
          </a:xfrm>
          <a:prstGeom prst="roundRect">
            <a:avLst>
              <a:gd name="adj" fmla="val 36364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16824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4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SECRET MANAGER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031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Ajanların secret'larını kullanır. Ama onları asla </a:t>
            </a:r>
            <a:pPr indent="0" marL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görmez.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66928" y="3703320"/>
            <a:ext cx="1371600" cy="45720"/>
          </a:xfrm>
          <a:prstGeom prst="rect">
            <a:avLst/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3968496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concealer, AI-kodlama çağı için tasarlanmış yerel secret yöneticisi. SOPS + age ile şifreli. Bulut yok, telemetri yok, hesap yok — ve bir MCP sunucusu sayesinde her kodlama ajanı bir credential'ı kullanabilir, değeri hiçbir zaman bağlamına girmeden.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5138928"/>
            <a:ext cx="1108253" cy="310896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5138928"/>
            <a:ext cx="11082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Yalnızca yerel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784909" y="5138928"/>
            <a:ext cx="1909267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784909" y="5138928"/>
            <a:ext cx="19092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Tasarımı gereği AI-güvenli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03904" y="5138928"/>
            <a:ext cx="1308506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03904" y="5138928"/>
            <a:ext cx="13085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 · Açık kaynak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22138" y="513892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22138" y="5138928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 + age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73114" y="5138928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73114" y="5138928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· Web · TUI · MCP · Chrome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59114" y="51389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459114" y="51389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Linux · Windows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README.md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ARTIK BÖYLE KOD YAZIYORUZ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Kodlama asistanın repo'daki her dosyayı okuyor.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Codex, Gemini CLI, opencode, Cursor — hepsi harika ve hepsi proje dosyalarını okuyor. Bir anahtar .env'e, credentials.json'a ya da bir sohbet penceresine düştüğü anda dışarı çıkmanın dört yolu var.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185416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231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24028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tarafından okunur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bir model sağlayıcısına gönderilir.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898648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95351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Kullandığın aracın 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log'larına veya telemetrisine kaydedilir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611880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366674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Kazara 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git'e commit edilir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 geçmişte kalır.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25112"/>
            <a:ext cx="5486400" cy="603504"/>
          </a:xfrm>
          <a:prstGeom prst="roundRect">
            <a:avLst>
              <a:gd name="adj" fmla="val 9091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43708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437997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isimle </a:t>
            </a:r>
            <a:pPr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iki repo'ya kopyalanır</a:t>
            </a:r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hangisinin hangisi olduğu ayırt edilemez.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2130552"/>
            <a:ext cx="5114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BUNUN BEDELI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10528" y="2386584"/>
            <a:ext cx="511423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0528" y="2569464"/>
            <a:ext cx="5114239" cy="786384"/>
          </a:xfrm>
          <a:prstGeom prst="roundRect">
            <a:avLst>
              <a:gd name="adj" fmla="val 697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5683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665683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ANAHTARIN KAÇIŞ YOLU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789088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3539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793539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PIŞMAN OLACAĞIN YAPIŞTIRMA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067648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13952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32" name="Text 30"/>
          <p:cNvSpPr txBox="1"/>
          <p:nvPr/>
        </p:nvSpPr>
        <p:spPr>
          <a:xfrm>
            <a:off x="9213952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BUNU TRANSKRIPTTE DURDURAN ARAÇ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346207" y="2624328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92511" y="2660904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2100" dirty="0"/>
          </a:p>
        </p:txBody>
      </p:sp>
      <p:sp>
        <p:nvSpPr>
          <p:cNvPr id="35" name="Text 33"/>
          <p:cNvSpPr txBox="1"/>
          <p:nvPr/>
        </p:nvSpPr>
        <p:spPr>
          <a:xfrm>
            <a:off x="10492511" y="2990088"/>
            <a:ext cx="100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DIŞARI ÇIKTIKTAN SONRAKI ERIŞIM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6510528" y="3557016"/>
            <a:ext cx="5114239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listedeki hiçbir şey ajanın hatası değil — dosyalarını okumak </a:t>
            </a:r>
            <a:pPr indent="0" marL="0">
              <a:lnSpc>
                <a:spcPts val="1518"/>
              </a:lnSpc>
              <a:buNone/>
            </a:pPr>
            <a:r>
              <a:rPr lang="en-US" sz="115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olarak bu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demek.</a:t>
            </a:r>
            <a:endParaRPr lang="en-US" sz="1150" dirty="0"/>
          </a:p>
          <a:p>
            <a:pPr indent="0" marL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Dolayısıyla çözüm "dikkatli ol" olamaz. Çözüm, değerin dosyada, transkriptte ve geçmişte hiç bulunmaması olmak zorunda.</a:t>
            </a:r>
            <a:endParaRPr lang="en-US" sz="1150" dirty="0"/>
          </a:p>
          <a:p>
            <a:pPr indent="0" marL="0">
              <a:lnSpc>
                <a:spcPts val="1518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18"/>
              </a:lnSpc>
              <a:buNone/>
            </a:pPr>
            <a:r>
              <a:rPr lang="en-US" sz="11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sohbet penceresine secret yapıştırıp bir saniye sonra pişman olduysan — concealer tam bu kaşıntıyı kaşıyor.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README.md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NEDEN BULUT KASASI DEĞIL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Doppler, Infisical, Vault ve 1Password başka bir problemi çözüyor.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71275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Onlar filolar, ekipler ve senkronizasyon için kurulmuş. Tek laptop'ta AI ajanıyla çalışan tek bir geliştiricinin ise hiçbirinin başa yazmadığı beş şeye ihtiyacı var: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ÇEVRIMDIŞI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yerel, kanıtlanabilir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Secret'lar makineden hiç çıkmaz. Hesap yok, senkron sunucusu yok, telemetri yok — önüne bir firewall koyup hiçbir şeyin dışarı konuşmadığını izleyebilirsin.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38218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93666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TAŞINABILIR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3666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Parolaya bağlı, donanıma değil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493666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Kasa, yalnızca ana parolayla herhangi bir makinede açılır. Bu laptop'ın Keychain'ine ya da TPM'ine bağlı değil. Dosyaları kopyala, parolayı yaz, bitti.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09509" y="2465635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4957" y="2584507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GIT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264957" y="2794819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İncelenebilir, versiyonlanabilir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64957" y="3215443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Şifreli kasa, commit edebileceğin düz bir SOPS dosyası — anahtarlar görünür, değerler şifreli. Aracın kendisi kara kutu değil, okunabilir tek bir Python script'i.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AI-GÜVENLI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22376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kullanır, görmez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sunucusu ajanın isimleri listelemesine ve değerleri bir komutun ortamına enjekte etmesine izin verir. Açık metin, ajanın geri okuduğu her şeyden temizlenir.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38218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93666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KAPSAMLI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493666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yer, birçok proje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493666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Birçok repo'da kullanılan aynı değer, tek belirsiz bir isim yerine tenant / project / environment / repo boyutlarıyla ayrıştırılır.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09509" y="4446934"/>
            <a:ext cx="3515258" cy="1725266"/>
          </a:xfrm>
          <a:prstGeom prst="roundRect">
            <a:avLst>
              <a:gd name="adj" fmla="val 371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64957" y="4565806"/>
            <a:ext cx="32043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DÜRÜST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264957" y="4776118"/>
            <a:ext cx="320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Belgelenmiş tavanlar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264957" y="5196742"/>
            <a:ext cx="3204362" cy="7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sınır saklanmak yerine yazılmış: yerel denetim anahtarı, CPython'un sıfırlanmayan belleği, tek kullanıcılı web sunucusu. Bir güvenlik değerlendirmesi bunları okuyabilir.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ÜRÜN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README.md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NEDIR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1106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Savaşta sınanmış iki aracın üzerinde ince ve denetlenebilir bir sarmalayıcı.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39985"/>
            <a:ext cx="5479999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concealer kendi kriptografisini yazmaz. Kasayı SOPS şifreler, arka uç age'dir. concealer yalnızca eksik olan kısmı ekler: tipli secret'lar, dört boyutlu kapsam, etiketler, profesyonel bir yerel web konsolu, kurcalama-belirtir bir denetim zinciri ve bir MCP sunucusu.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264113"/>
            <a:ext cx="5479999" cy="2862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şifreli dosya.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age X25519 üzerinde değer başına AES-256-GCM, git dostu.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okunabilir script.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Python 3, yalnızca standart kütüphane. MIT lisanslı. Aracın kendisi için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gerekmez.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Beş arayüz, tek çekirdek.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 · Web Arayüzü · TUI · MCP · Chrome eklentisi aynı kod yoluna — ve aynı denetim kaydına — akar.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platform.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macOS, Linux ve Windows; her biri CI'da doğrulanıyor.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Anahtar diskte açık değil.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 özel anahtarı hiçbir zaman düz metin olarak diske yazılmaz — yalnızca sarmalanmış kopyaları vardır.</a:t>
            </a:r>
            <a:endParaRPr lang="en-US" sz="1180" dirty="0"/>
          </a:p>
        </p:txBody>
      </p:sp>
      <p:pic>
        <p:nvPicPr>
          <p:cNvPr id="11" name="Image 0" descr="img/hero-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127" y="1856232"/>
            <a:ext cx="5120640" cy="2688336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65429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AI-kodlama çağı için yerel secret yöneticisi — concealer.fxerkan.com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ÜRÜN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docs/mcp.md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699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TEMEL FIKIR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02863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 secret'ları kullanır. Asla okumaz.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602863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ajanı kaydet, ona iptal edilebilir bir token ver; artık canlı bir credential ile psql veya curl çalıştırabilir — değer ise bağlamına hiç girmez.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602863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list_secrets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search_secrets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isim, tip, kapsam ve etiket.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Asla değer değil.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run_with_secrets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eşleşen secret'lar alt ortama enjekte edilerek komutu çalıştırır; değerler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dönen çıktıdan temizlenir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set_secret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değer yazabilir, ama az önce yazdığı değeri geri okuyamaz.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Kayıt zorunlu.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İnsan token'ı ya da token'sızlık </a:t>
            </a:r>
            <a:pPr indent="0" marL="0">
              <a:lnSpc>
                <a:spcPts val="1452"/>
              </a:lnSpc>
              <a:buNone/>
            </a:pPr>
            <a:r>
              <a:rPr lang="en-US" sz="1100" i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erişim reddedildi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alır. Sertleştirilmiş kasada sunucu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kapalı konumda arızalanır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(fail-closed).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 sızdırmaya karşı.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Ajan başına kota: çağrı başına 10 satır, kayan saat içinde 25 farklı isim. Kotayı 0 yaparak ajanı tamamen engelle.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çağrı denetlenir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source=mcp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aktör olarak ajanın etiketi yazılır.</a:t>
            </a:r>
            <a:endParaRPr lang="en-US" sz="1100" dirty="0"/>
          </a:p>
          <a:p>
            <a:pPr indent="0" marL="0">
              <a:lnSpc>
                <a:spcPts val="1452"/>
              </a:lnSpc>
              <a:spcAft>
                <a:spcPts val="700"/>
              </a:spcAft>
              <a:buNone/>
            </a:pPr>
            <a:r>
              <a:rPr lang="en-US" sz="100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52"/>
              </a:lnSpc>
              <a:buNone/>
            </a:pPr>
            <a:r>
              <a:rPr lang="en-US" sz="11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Codex CLI, Gemini CLI, opencode, Cursor, Cline ve Continue ile çalışır — aynı stdio sunucusu, tek satır yapılandırma.</a:t>
            </a:r>
            <a:endParaRPr lang="en-US" sz="1100" dirty="0"/>
          </a:p>
        </p:txBody>
      </p:sp>
      <p:pic>
        <p:nvPicPr>
          <p:cNvPr id="11" name="Image 0" descr="img/concealer-mcp-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767" y="1874520"/>
            <a:ext cx="4572000" cy="2651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052767" y="46360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akışı: ajan secret'ın adını verir, değer alt process'e gider, çıktı temizlenmiş halde döner.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ÜRÜN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docs/concepts.md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0196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31152" y="685800"/>
            <a:ext cx="4693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KAPAĞIN ALTINDA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01968" y="1024128"/>
            <a:ext cx="50227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script, devredilmiş kripto, beş giriş yolu.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601968" y="2018759"/>
            <a:ext cx="5022799" cy="41077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işlem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yükle → dict'e çöz → değiştir → kaydet → yeniden şifrele; iki yönde de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çağrılır.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anahtarı sops'a bellekte ulaşır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SOPS_AGE_KEY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üzerinden, asla geçici dosyayla değil.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şekilde sarmalanır: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 parolayla (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age-key.txt.age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her kurtarma koduyla ve her kilit-açma token'ıyla.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Parola sorma yerine token.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İnsanlar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unlock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~8 saatlik TTL token alır; her ajan kendi uzun ömürlü, iptal edilebilir token'ını alır.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Dış bağımlılıklar: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sops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Homebrew bunları senin için kurar; Windows'ta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pywinpty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Hiçbiri commit edilmez: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.sops.yaml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git-ignore'da. Repo aracı gönderir, kasayı asla.</a:t>
            </a:r>
            <a:endParaRPr lang="en-US" sz="1180" dirty="0"/>
          </a:p>
        </p:txBody>
      </p:sp>
      <p:pic>
        <p:nvPicPr>
          <p:cNvPr id="10" name="Image 0" descr="img/concealer-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6114"/>
            <a:ext cx="5577840" cy="36885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GÜVENLIK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docs/security.md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GÜVENLIK MODELI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katman ve yazıya geçirilmiş her tavan.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66928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2376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KRIPTO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22376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Devredilmiş, icat edilmemiş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X25519 üzerinde SOPS ile AES-256-GCM. concealer'ın kendi yazdığı tek kripto, stdlib scrypt parola doğrulayıcı ve HMAC denetim zinciri.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6252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41700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ANAHTAR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541700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Diskte düz metin anahtar yok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41700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ana parola, kurtarma kodu ve token ile sarmalanmış kopyalar vardır. Çalınan bir klasör, parola veya kod olmadan işe yaramaz.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05576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361024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İptal edilebilir, istemcide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361024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değeri yalnızca CONCEALER_TOKEN'da yaşar. Kasa bir scrypt hash'i ve token ile sarmalanmış anahtarı tutar. İptal et, o kopya ölür.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24899" y="1591056"/>
            <a:ext cx="2599868" cy="1600200"/>
          </a:xfrm>
          <a:prstGeom prst="roundRect">
            <a:avLst>
              <a:gd name="adj" fmla="val 4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80347" y="1709928"/>
            <a:ext cx="22889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KURTARMA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9180347" y="1920240"/>
            <a:ext cx="22889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Gerçek bir ikinci faktör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80347" y="2340864"/>
            <a:ext cx="22889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tek kullanımlık kod. Herhangi biri kasayı kurtarır — ve passwd birini tüketir, böylece çalınmış ana parola tek başına kasayı ele geçiremez.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502152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TEHDIT MODELI — BELGELENDIĞI ŞEKLIYLE AZALTMA VE ARTIK RISK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758184"/>
            <a:ext cx="1105783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886200"/>
          <a:ext cx="11057839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Tehdit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Azaltma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Artık risk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sohbetine secret yapıştırılması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göstermeden enjekte eder; çıktı temizlenir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 kayıtlı ve kota sınırlı olmalı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Laptop çalınır, disk kopyalanır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Anahtar diskte açık değil — yalnızca sarmalanmış kopya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parolanın gücü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parola sızar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passwd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2. faktör olarak kurtarma kodu ister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Kodlar ayrı yerde saklanmalı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Kasa kazara commit edilir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.gitignore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kasa dosyalarını kapsar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disiplini kullanıcıda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Denetim kaydı kurcalanır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HMAC zinciri +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+ kuyruk çapası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 anahtara erişen FS-root saldırgan zinciri yeniden üretebilir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 kasayı boşaltmaya çalışır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Kayıt kapısı + ajan başına kota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Sınırlar ajan başına ayarlanabilir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GÜVENLIK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docs/concepts.md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KURCALAMA-BELIRTIR DENETIM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1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okuma, yazma, kopyalama ve enjeksiyon — zincirlenmiş.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1211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Beş arayüzün tamamı için tek, yalnızca-ekleme kaydı. İsimleri ve eylemleri tutar, değerleri asla.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55571"/>
            <a:ext cx="5479999" cy="307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HMAC-SHA256 zincirli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her kaydın hash'i öncekine bağlıdır.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İmzalı yükün içinde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 seq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böylece sıralama değişikliği fark edilir.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Kuyruk çapası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audit.head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kırpmayı yakalar — son satırları silmek doğrulamayı bozar.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Arayüzünde: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eyleme / kaynağa / anahtara / tarihe göre filtrele, sayfala, satır detayını aç, zinciri doğrula, CSV veya JSON dışa aktar.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CLI'dan: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audit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audit verify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Açıkça belirtilen tavan: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keys/audit.key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yereldir; dolayısıyla FS-root bir saldırgan zinciri yeniden üretebilir. Makine dışı çapa gönderimi tam yeniden üretimi yakalar; gerçek değiştirilemezlik makine dışı anahtar gerektirir.</a:t>
            </a:r>
            <a:endParaRPr lang="en-US" sz="1180" dirty="0"/>
          </a:p>
        </p:txBody>
      </p:sp>
      <p:pic>
        <p:nvPicPr>
          <p:cNvPr id="11" name="Image 0" descr="img/app-audit-log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127" y="1551554"/>
            <a:ext cx="5120640" cy="329769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95897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Denetim Kayıtları — zincir doğrulama ve CSV/JSON dışa aktarım, yerel konsolun içinde.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 · concealer.fxerkan.com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şifreli kasa, sana uyan her yoldan.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arayüz aynı çekirdeğe gider ve aynı denetim kaydını yazar. Hiçbiri bir atlatma yolu değil.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2376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22376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Terminalden set, get, run-with ve deploy. Script'lenebilir, CI dostu.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22376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set · get · run · list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822387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77835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2977835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Arayüzü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77835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konsol: tip-duyarlı formlar, filtreler, deploy renderer'ları, denetim görüntüleyici.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2977835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web → 127.0.0.1:8787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7846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3294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5233294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33294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panel, yalnızca klavye. Terminalde gez, ara, göster ve düzenle.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233294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tui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333305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C1418"/>
          </a:solidFill>
          <a:ln w="12700">
            <a:solidFill>
              <a:srgbClr val="FF4D4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88753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7488753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88753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 isim listeler, değer enjekte eder. Yalnızca kayıtlı token, kotalı.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488753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agent register claude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588764" y="2011680"/>
            <a:ext cx="2036003" cy="1901952"/>
          </a:xfrm>
          <a:prstGeom prst="roundRect">
            <a:avLst>
              <a:gd name="adj" fmla="val 3365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44212" y="2130552"/>
            <a:ext cx="17251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744212" y="2340864"/>
            <a:ext cx="17251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744212" y="2761488"/>
            <a:ext cx="1725107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çubuğundan secret kopyala. Alan bazlı kopya, üretici, üç tema.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744212" y="3566160"/>
            <a:ext cx="17251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224528"/>
          <a:ext cx="11057839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İhtiyacın…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Kullan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Script, CI, 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veya 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deploy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'a pipe etmek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Zengin formlar, filtreler, risk görünümleri, denetim görüntüleyici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Arayüzü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Terminalden çıkmadan hızlı klavye gezinmesi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Secret'ları görmeden kullanan bir ajan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Tarayıcıdayken bir şifre veya Wi-Fi anahtarı kopyalamak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Chrome eklentisi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docs/cli-reference.md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843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01 · CLI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172200" cy="1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komut, herhangi bir secret, ekrana hiçbir şey basmadan.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1211"/>
            <a:ext cx="6172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cer, concealer'ın kısa takma adı — ikisi de birebir aynı çalışır. Her komut bir kapsam alır; belirtilmeyen boyut joker karakterdir.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55571"/>
            <a:ext cx="6172200" cy="1773936"/>
          </a:xfrm>
          <a:prstGeom prst="roundRect">
            <a:avLst>
              <a:gd name="adj" fmla="val 309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156155"/>
            <a:ext cx="587959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--name OPENAI_API_KEY --project web --env prod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'sk-…'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--tags ai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 --type database --tenant acme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get --name OPENAI_API_KEY --project web --env prod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rotate --name OPENAI_API_KEY --project web  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 rastgele bayt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--project web --env prod npm run deploy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deploy --target k8s --project web --env prod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scan ./myrepo --history --envvars --import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audit verify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030675"/>
            <a:ext cx="6172200" cy="1022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14"/>
              </a:lnSpc>
              <a:buNone/>
            </a:pP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 otomatik algılama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belirtmediğinde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mevcut git repo'sundan gelir.</a:t>
            </a:r>
            <a:endParaRPr lang="en-US" sz="920" dirty="0"/>
          </a:p>
          <a:p>
            <a:pPr indent="0" marL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14"/>
              </a:lnSpc>
              <a:buNone/>
            </a:pP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Tipli enjeksiyon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bir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secret'ı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PG_HOST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PG_PORT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PG_PASSWORD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 olur;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tek değişken olur.</a:t>
            </a:r>
            <a:endParaRPr lang="en-US" sz="920" dirty="0"/>
          </a:p>
          <a:p>
            <a:pPr indent="0" marL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14"/>
              </a:lnSpc>
              <a:buNone/>
            </a:pP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deploy hedefi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 · export · docker · json · k8s · aws-secrets · aws-ssm · github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stdout'a render edilir; senin yerine hiçbir yere push edilmez.</a:t>
            </a:r>
            <a:endParaRPr lang="en-US" sz="920" dirty="0"/>
          </a:p>
          <a:p>
            <a:pPr indent="0" marL="0">
              <a:lnSpc>
                <a:spcPts val="1214"/>
              </a:lnSpc>
              <a:spcAft>
                <a:spcPts val="400"/>
              </a:spcAft>
              <a:buNone/>
            </a:pPr>
            <a:r>
              <a:rPr lang="en-US" sz="82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14"/>
              </a:lnSpc>
              <a:buNone/>
            </a:pPr>
            <a:r>
              <a:rPr lang="en-US" sz="92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Emniyet kilidi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</a:t>
            </a:r>
            <a:pPr indent="0" marL="0">
              <a:lnSpc>
                <a:spcPts val="1214"/>
              </a:lnSpc>
              <a:buNone/>
            </a:pPr>
            <a:r>
              <a:rPr lang="en-US" sz="92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belirsiz kapsamı tahmin etmek yerine reddeder.</a:t>
            </a:r>
            <a:endParaRPr lang="en-US" sz="920" dirty="0"/>
          </a:p>
        </p:txBody>
      </p:sp>
      <p:pic>
        <p:nvPicPr>
          <p:cNvPr id="13" name="Image 0" descr="img/cli-termi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3055571"/>
            <a:ext cx="4428439" cy="26570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docs/web-ui.md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02 · WEB ARAYÜZÜ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localhost'tan hiç çıkmayan profesyonel bir konsol.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web, tek sayfalık uygulamayı ve JSON API'yi yalnızca 127.0.0.1 üzerinde sunar. Tek kullanıcılı, ana parolayla açılır.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547999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Baştan sona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çift dilli TR / EN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Dark · Light · Matrix temaları ve telefon/tablet uyumlu düzen.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Tip-duyarlı CRUD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15 tipin her biri tam olarak ihtiyaç duyduğu alanları gösterir; secret alanlar maskeli saklanır.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Tip, tenant, proje, ortam, repo ve etiket için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aranabilir çok seçimli filtreler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sıralanabilir ve yeri değiştirilebilir kolonlar — her özel alan kendi kolonu olabilir.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başına Deploy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sekiz hedef için tam komutu veya manifest'i doğrudan satırdan render et.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temizlenen pano kopyası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 sn), göster/gizle anahtarı ve sert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boşta kilitlenme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(varsayılan 300 sn).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 · Politika · Klasör tarama · Denetim · Ayarlar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birinci sınıf sekmeler olarak.</a:t>
            </a:r>
            <a:endParaRPr lang="en-US" sz="1180" dirty="0"/>
          </a:p>
        </p:txBody>
      </p:sp>
      <p:pic>
        <p:nvPicPr>
          <p:cNvPr id="11" name="Image 0" descr="img/app-secr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127" y="1493520"/>
            <a:ext cx="5120640" cy="34137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501700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 credential için tek, aranabilir, kapsamlı bir ev — tipli, etiketli, maskeli ve tenant / project / environment / repo ile ayrıştırılmış.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docs/risks.md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02A · RISKLER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1327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Zayıf, bayat, tekrar kullanılan ve çoktan sızmış olanı bul.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61211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Dört alt görünüm — ve hiçbiri bir secret değerini hiçbir yere göndermiyor.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055571"/>
            <a:ext cx="5479999" cy="3070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Sağlık panosu: süresi geçmiş, yaklaşan, rotasyonu gecikmiş, yüksek riskli tekrar kullanım, en çok kullanılan — her biri ne kadar geciktiğiyle birlikte.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Tekrar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Aynı değeri birden fazla kayıtta bulur ve patlama yarıçapını puanlar. Sızarsa, o değeri paylaşan her şey aynı anda açığa çıkar.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Geçmiş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zsh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geçmişini açık yazılmış credential'lar için tarar. İçe aktar, sonra satırları temizle.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Maruziyet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k-anonimlik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HIBP Pwned Passwords — SHA-1'in yalnızca ilk 5 hex karakteri makineden çıkar. Ayrıca e-posta ihlal sorgusu ve git geçmişi / takip edilen dosyalar / log taraması; üretilen bir temizlik kılavuzuyla.</a:t>
            </a:r>
            <a:endParaRPr lang="en-US" sz="1180" dirty="0"/>
          </a:p>
        </p:txBody>
      </p:sp>
      <p:pic>
        <p:nvPicPr>
          <p:cNvPr id="11" name="Image 0" descr="img/app-ris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127" y="868680"/>
            <a:ext cx="4792337" cy="2651760"/>
          </a:xfrm>
          <a:prstGeom prst="rect">
            <a:avLst/>
          </a:prstGeom>
        </p:spPr>
      </p:pic>
      <p:pic>
        <p:nvPicPr>
          <p:cNvPr id="12" name="Image 1" descr="img/app-risks-reus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27" y="3739896"/>
            <a:ext cx="5120640" cy="132453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504127" y="5174163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Tekrar kullanılan değerler, patlama yarıçapına göre puanlanmış. concealer geçmişi yeniden yazan komutları asla çalıştırmaz — adımları senin için yazar.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docs/policy.md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02B · POLITIKA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669280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Senin kuralların, uygulanıyor — ve ajan kapısı.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66928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Hatırlatma kuralları tanımla, hangi secret'ların ihlal ettiğini tam olarak gör ve ihlal edenleri toplu düzelt. Her kural bir hedef kitle taşır: user · agent · cli · web · tui · mcp · all.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828003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Kural türü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Şu durumda işaretler…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Rotasyon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rotasyon politikası yoksa, gecikmişse veya aralığı belirlediğin üst sınırı aşıyorsa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Süre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süresi geçmişse, N gün içinde doluyorsa veya süre alanı eksikse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Tekrar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değeri başka bir kayıtla paylaşılıyorsa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İsimlendirme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adı verdiğin düzenli ifadeye uymuyorsa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Etiketleme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zorunlu tuttuğun etiketler eksikse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159723"/>
            <a:ext cx="5669280" cy="786384"/>
          </a:xfrm>
          <a:prstGeom prst="roundRect">
            <a:avLst>
              <a:gd name="adj" fmla="val 697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5260307"/>
            <a:ext cx="5376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1"/>
              </a:lnSpc>
              <a:buNone/>
            </a:pPr>
            <a:r>
              <a:rPr lang="en-US" sz="9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501"/>
              </a:lnSpc>
              <a:buNone/>
            </a:pPr>
            <a:r>
              <a:rPr lang="en-US" sz="9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policy list</a:t>
            </a:r>
            <a:endParaRPr lang="en-US" sz="950" dirty="0"/>
          </a:p>
          <a:p>
            <a:pPr indent="0" marL="0">
              <a:lnSpc>
                <a:spcPts val="1501"/>
              </a:lnSpc>
              <a:buNone/>
            </a:pPr>
            <a:r>
              <a:rPr lang="en-US" sz="95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501"/>
              </a:lnSpc>
              <a:buNone/>
            </a:pPr>
            <a:r>
              <a:rPr lang="en-US" sz="95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policy check   </a:t>
            </a:r>
            <a:pPr indent="0" marL="0">
              <a:lnSpc>
                <a:spcPts val="1501"/>
              </a:lnSpc>
              <a:buNone/>
            </a:pPr>
            <a:r>
              <a:rPr lang="en-US" sz="9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ihlalde sıfırdan farklı çıkış — cron ve CI dostu</a:t>
            </a:r>
            <a:endParaRPr lang="en-US" sz="950" dirty="0"/>
          </a:p>
        </p:txBody>
      </p:sp>
      <p:pic>
        <p:nvPicPr>
          <p:cNvPr id="13" name="Image 0" descr="img/app-polic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08" y="2828003"/>
            <a:ext cx="4931359" cy="289635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3408" y="5834083"/>
            <a:ext cx="4931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Politika — kurallar, ihlal listeleri, toplu düzeltme, bildirimler ve ajan başına MCP erişim limitleri.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docs/tui.md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51508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03 · TUI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5479999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kasa, yalnızca klavyeyle.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547999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panel — Filtreler, Secret'lar, Detaylar. Shell'den çıkmadan gez, ara, göster, kopyala ve düzenle.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3119"/>
            <a:ext cx="5479999" cy="351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Vim tarzı gezinme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paneller arası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atlama.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veya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arama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tüm filtreleri temizler.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bazlı gösterme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kayıtta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ya da Detaylar'da tek bir alan seç.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değer, kullanıcı adı veya url kopyala.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 45 saniye sonra otomatik temizlenir.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Yapıştırma yok — değer girmek için ekle/düzenle kullan.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Çift dilli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TR/EN değiştirir, 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kısayol tablosunu uygulama içinde gösterir.</a:t>
            </a:r>
            <a:endParaRPr lang="en-US" sz="1180" dirty="0"/>
          </a:p>
          <a:p>
            <a:pPr indent="0" marL="0">
              <a:lnSpc>
                <a:spcPts val="1558"/>
              </a:lnSpc>
              <a:spcAft>
                <a:spcPts val="700"/>
              </a:spcAft>
              <a:buNone/>
            </a:pPr>
            <a:r>
              <a:rPr lang="en-US" sz="10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558"/>
              </a:lnSpc>
              <a:buNone/>
            </a:pPr>
            <a:r>
              <a:rPr lang="en-US" sz="11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Atlatma yolu değil</a:t>
            </a:r>
            <a:pPr indent="0" marL="0">
              <a:lnSpc>
                <a:spcPts val="1558"/>
              </a:lnSpc>
              <a:buNone/>
            </a:pPr>
            <a:r>
              <a:rPr lang="en-US" sz="11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her gösterme, oluşturma, güncelleme ve silme kaynağıyla birlikte denetlenir.</a:t>
            </a:r>
            <a:endParaRPr lang="en-US" sz="1180" dirty="0"/>
          </a:p>
        </p:txBody>
      </p:sp>
      <p:pic>
        <p:nvPicPr>
          <p:cNvPr id="11" name="Image 0" descr="img/tui-secre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4127" y="1541313"/>
            <a:ext cx="5120640" cy="331817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504127" y="4969215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TUI — filtreler, secret listesi ve detaylar; maskeleme her yerdeki aynı kuralları izler.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BEŞ GIRIŞ YOLU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docs/chrome-extension.md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ARAYÜZ 05 · CHROME EKLENTISI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Araç çubuğundan secret kopyala.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67665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kasanın üzerinde ince bir açılır pencere. Yalnızca 127.0.0.1 ile konuşur — bulut yok, hesap yok, telemetri yok. Chrome Web Store'da yayında.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85416"/>
            <a:ext cx="6766560" cy="394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bazlı kopyalama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çok alanlı secret'lar alt satırlara açılır; tam istediğin alanı kopyala veya göster.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İhtiyaç anında sunucu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açılır pencere 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web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başlatır ve 15 dakika boştalıktan sonra kendini kapatır. Arkada bir şey kalmaz.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Başlıkta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kilitlenme geri sayımı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süre azalırken yanıp söner; pano otomatik temizlenir; değerler asla loglanmaz.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Üretici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güçlü şifre, hex, base64url, UUID. Kilidi açmadan önce de çalışır.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tema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Dark · White · Matrix; web konsoluyla uyumlu.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Yerel yardımcı concealer'ın içinde geliyor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native-host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onu yalnızca kaydeder, makine başına bir kez.</a:t>
            </a:r>
            <a:endParaRPr lang="en-US" sz="1130" dirty="0"/>
          </a:p>
        </p:txBody>
      </p:sp>
      <p:pic>
        <p:nvPicPr>
          <p:cNvPr id="11" name="Image 0" descr="img/ext-fiel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185416"/>
            <a:ext cx="1798168" cy="112385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90688" y="3400711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Çok alanlı secret'lar için alan bazlı kopyalama.</a:t>
            </a:r>
            <a:endParaRPr lang="en-US" sz="800" dirty="0"/>
          </a:p>
        </p:txBody>
      </p:sp>
      <p:pic>
        <p:nvPicPr>
          <p:cNvPr id="13" name="Image 1" descr="img/ext-matri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00" y="2185416"/>
            <a:ext cx="1798168" cy="112385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9826600" y="3400711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teması.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ÜRÜN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docs/secret-types.md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6437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 MODELI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6766560" cy="884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Tipli secret'lar, dört boyutlu kapsam.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018759"/>
            <a:ext cx="676656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credential bir string değildir. Her tip tam olarak ihtiyaç duyduğu girdileri gösterir; secret alanlar maskeli saklanır ve yalnızca talep üzerine — denetlenerek — gösterilir.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28003"/>
            <a:ext cx="6766560" cy="786384"/>
          </a:xfrm>
          <a:prstGeom prst="roundRect">
            <a:avLst>
              <a:gd name="adj" fmla="val 697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29194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4862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 TIPI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58568" y="2882867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04872" y="29194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2404872" y="324862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KAPSAM BOYUTU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950208" y="2882867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096512" y="29194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324862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HEDEFI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41848" y="2882867"/>
            <a:ext cx="7315" cy="676656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88152" y="2919443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5788152" y="3248627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50"/>
              </a:lnSpc>
              <a:buNone/>
            </a:pPr>
            <a:r>
              <a:rPr lang="en-US" sz="7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 TIPI, TASARIMI GEREĞI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852131"/>
            <a:ext cx="6766560" cy="227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tip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· access_token · oauth · jwt · ssh_key · certificate · database · server · website · login · pin · wifi · membership · secure_note · custom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Maskeleme kayıt-duyarlıdır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şu sırayla çözülür: alan bazlı geçersiz kılma → tip şablonu → alan adı sezgisi → değer sezgisi (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scheme://user:pass@host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biçimli bir DSN, düz bir alanda bile maskelenir).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Kapsam: tenant / project / environment / repo.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Boş boyut joker karakterdir; enjeksiyonda en özgül eşleşme kazanır.</a:t>
            </a:r>
            <a:endParaRPr lang="en-US" sz="1130" dirty="0"/>
          </a:p>
          <a:p>
            <a:pPr indent="0" marL="0">
              <a:lnSpc>
                <a:spcPts val="1492"/>
              </a:lnSpc>
              <a:spcAft>
                <a:spcPts val="700"/>
              </a:spcAft>
              <a:buNone/>
            </a:pPr>
            <a:r>
              <a:rPr lang="en-US" sz="103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92"/>
              </a:lnSpc>
              <a:buNone/>
            </a:pPr>
            <a:r>
              <a:rPr lang="en-US" sz="113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Tasarımı gereği PII yok</a:t>
            </a:r>
            <a:pPr indent="0" marL="0">
              <a:lnSpc>
                <a:spcPts val="1492"/>
              </a:lnSpc>
              <a:buNone/>
            </a:pPr>
            <a:r>
              <a:rPr lang="en-US" sz="113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kredi kartı, pasaport veya kimlik numarası tipleri bilinçli olarak bulunmuyor. Bu bir makine ve hesap credential kasası.</a:t>
            </a:r>
            <a:endParaRPr lang="en-US" sz="1130" dirty="0"/>
          </a:p>
        </p:txBody>
      </p:sp>
      <p:pic>
        <p:nvPicPr>
          <p:cNvPr id="23" name="Image 0" descr="img/secret-typ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0688" y="2828003"/>
            <a:ext cx="1798168" cy="2101473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7790688" y="5020916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seçici.</a:t>
            </a:r>
            <a:endParaRPr lang="en-US" sz="800" dirty="0"/>
          </a:p>
        </p:txBody>
      </p:sp>
      <p:pic>
        <p:nvPicPr>
          <p:cNvPr id="25" name="Image 1" descr="img/secrets-d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6600" y="2828003"/>
            <a:ext cx="1798168" cy="1995403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826600" y="4914846"/>
            <a:ext cx="1798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 database secret'ının formu.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KIMIN IÇIN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docs/cli-reference.md · docs/risks.md · docs/policy.md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/ Platform Engineer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Pipeline'ların ve patlama yarıçapının sahibi. Secret'ların .env dosyalarından, shell geçmişinden ve CI log'larından çıkmasını — ve geri sızdıklarında build'i kıran bir kapı — istiyor.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BUGÜNKÜ ACI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iki repo, her birinde kendi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.env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'i, hepsinde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OPENAI_API_KEY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adında bir anahtar ve hangisinin hangisi olduğunu ayırt etmenin yolu yok.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AWS_SECRET_ACCESS_KEY=…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satırı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~/.zsh_history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'de açık metin olarak duruyor.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Altı ay önce commit edilmiş bir anahtar var; hangi repo'ların hâlâ taşıdığını kimse bilmiyor.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Hangi credential'ı kimin, ne zaman okuduğuna dair hiçbir kayıt yok.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Yeni laptop = Slack thread'lerinde credential avı.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KULLANIR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run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kapsama uyan secret'ları alt process'in ortamına enjekte eder, çıktısından da temizler (redact). Shell'e hiçbir şey düşmez.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deploy --target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dotenv · export · docker · k8s · json · aws-secrets · aws-ssm · github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formatlarına render eder. Hiçbir yere push etmez; sen pipe'larsın.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scan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bir klasörü, shell geçmişini ve canlı ortam değişkenlerini tarar; bulduklarını kaynağına göre etiketleyip içe aktarır.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policy check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herhangi bir ihlalde sıfırdan farklı çıkış kodu döner. Cron'a, pre-commit hook'a veya CI'a koy.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gitscan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git geçmişini ve takip edilen dosyaları kasa değerleriyle tarar, ardından bir temizlik kılavuzu yazar (geçmişi asla kendisi yeniden yazmaz).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audit verify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HMAC zincirini ve kuyruk çapasını yeniden hesaplar.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KAZANIR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301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Değerler terminale, transkripte ya da log'a hiç ulaşmaz.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Kapsam git repo'sundan otomatik algılanır —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--repo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--project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kendini doldurur.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Enjeksiyonda en özgül kapsam kazanır: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acme/proj-a/prod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proj-a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&gt; global.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Çalıştırılacak, yamalanacak ya da parası ödenecek sıfır altyapı.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Kasa şifreli bir SOPS dosyası — kodun yanında diff'lenir ve versiyonlanır.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545836"/>
            <a:ext cx="11057839" cy="690372"/>
          </a:xfrm>
          <a:prstGeom prst="roundRect">
            <a:avLst>
              <a:gd name="adj" fmla="val 794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646420"/>
            <a:ext cx="10765231" cy="489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tek komut, kapsamlı, hiçbir şey ekrana basılmaz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run --project web --env prod npm run deploy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KIMIN IÇIN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docs/security.md · docs/portability.md · docs/comparison.md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 / Solution Architect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Birçok müşteri ve üç bulut üzerinde demo, PoC ve pilot yürütüyor. Tasarımı bir güvenlik değerlendirmesinde savunmak — ve sunucu ayağa kaldırmadan her şeyi devretmek — zorunda.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BUGÜNKÜ ACI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için alınan müşteri credential'ları, kişisel ve kurum içi anahtarlarla iç içe.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bulut, on iki tenant, dört ortam — tek düzlemsel bir isim alanı bunu ifade edemez.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Güvenlik değerlendirmesi "bu credential nereye gidiyor?" diye soruyor ve dürüst cevap omuz silkmek.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haftalık bir PoC için Vault kurmak saçma; SaaS kasa ise satın alma süreci ve DPA demek.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Kasa tek bir laptop'ın Keychain'ine bağlı, dolayısıyla devir teslim aslında yeniden kurulum.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KULLANIR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Taksonomi olarak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/ project / environment / repo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aynı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 müşteri ve aşama için bir kez, isim çarpıtmadan var olur.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 olarak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Arayüzü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tip-duyarlı formlar, çok seçimli filtreler, sıralanabilir kolonlar, secret başına deploy renderer'ları.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Değerlendirme çıktısı olarak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tehdit modeli tablosu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belgelenmiş tavanlar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aracın neyi korumadığı dahil.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 export / import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müşteriye verilecek tek, parola korumalı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.cerbak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paketi.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Taşınabilirlik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secrets.enc.yaml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keys/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kopyala, yeni makinede ana parolayı yaz. TPM yok, Keychain yok, yeniden anahtarlama yok.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Build-vs-buy konuşması için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karşılaştırma matrisi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KAZANIR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Sunucu yok, container yok, bulut tenant'ı yok, satın alma yok —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kasa hazır.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Kriptografi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SOPS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(CNCF) ve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 devredilmiş: age X25519 üzerinde AES-256-GCM. Ev yapımı hiçbir şey yok.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Müşterinin güvenlik ekibinin gerçekten okuyabileceği, MIT lisanslı tek bir okunabilir Python script'i.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Kopyalanmış bir klasör, ana parola veya kurtarma kodu olmadan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işe yaramaz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Tasarımı gereği PII tipi yok — bu bir makine credential kasası, kimlik deposu değil.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184648"/>
            <a:ext cx="11057839" cy="1051560"/>
          </a:xfrm>
          <a:prstGeom prst="roundRect">
            <a:avLst>
              <a:gd name="adj" fmla="val 5217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285232"/>
            <a:ext cx="10765231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dört boyut, tek isim, çakışma yok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--name MAIN_DB --type database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--tenant acme --project billing --env prod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host=db.acme.io port=5432 database=billing username=svc password=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'…'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KIMIN IÇIN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docs/chrome-extension.md · docs/web-ui.md · docs/risks.md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13232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User (Son Kullanıcı)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280160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 mühendisi değil. Wi-Fi şifreleri, kapı PIN'leri, site girişleri ve birkaç API anahtarı var — ve bunların hiçbirinin not uygulamasında, tarayıcı profilinde ya da başkasının bulutunda olmasını istemiyor.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BUGÜNKÜ ACI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Şifreler bir not dosyasında, bir Excel'de ya da tarayıcının şifre yöneticisinde.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şifre yarım düzine sitede tekrar kullanılıyor; hangilerinin sızdığı ise meçhul.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Ayda 3–12 dolarlık bir abonelik daha ve başkasının sunucusunda bir hesap daha.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parolayı unutmak her şeyi kaybetmek anlamına geliyor.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4374794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KULLANIR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74794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74794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eklentisi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araç çubuğu simgesine tıkla, kilidi aç, kopyala. Çok alanlı secret'lar açılır, tam istediğin alanı kopyalarsın.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127.0.0.1:8787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adresindeki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Arayüzü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tamamen çift dilli TR/EN;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 · pin · login · website · membership · secure_note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formları hazır.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🎲 Üret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güçlü şifre, hex, base64url veya UUID; tek tıkla kopyala.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Riskler → Maruziyet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bir değeri HIBP Pwned Passwords'a, bir adresi HIBP ihlal kayıtlarına karşı kontrol et.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Kurulumda basılan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kurtarma kodu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herhangi biri seni geri içeri alır.</a:t>
            </a:r>
            <a:endParaRPr lang="en-US" sz="980" dirty="0"/>
          </a:p>
        </p:txBody>
      </p:sp>
      <p:sp>
        <p:nvSpPr>
          <p:cNvPr id="14" name="Text 12"/>
          <p:cNvSpPr txBox="1"/>
          <p:nvPr/>
        </p:nvSpPr>
        <p:spPr>
          <a:xfrm>
            <a:off x="8182661" y="1819656"/>
            <a:ext cx="34421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 KAZANIR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182661" y="2075688"/>
            <a:ext cx="344210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2661" y="2276856"/>
            <a:ext cx="3442106" cy="2832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Hesap yok, abonelik yok, senkronizasyon sunucusu yok. Hiçbir şey makineden çıkmaz.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Pano 20 saniye sonra otomatik temizlenir; oturum boşta kalınca kilitlenir (varsayılan 300 sn).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Sızıntı kontrolü </a:t>
            </a:r>
            <a:pPr indent="0" marL="0">
              <a:lnSpc>
                <a:spcPts val="1294"/>
              </a:lnSpc>
              <a:buNone/>
            </a:pPr>
            <a:r>
              <a:rPr lang="en-US" sz="9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k-anonimlik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ile çalışır — SHA-1'in yalnızca ilk 5 hex karakteri makineden çıkar.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tema (Dark · White · Matrix) ve baştan sona Türkçe arayüz.</a:t>
            </a:r>
            <a:endParaRPr lang="en-US" sz="980" dirty="0"/>
          </a:p>
          <a:p>
            <a:pPr indent="0" marL="0">
              <a:lnSpc>
                <a:spcPts val="1294"/>
              </a:lnSpc>
              <a:spcAft>
                <a:spcPts val="500"/>
              </a:spcAft>
              <a:buNone/>
            </a:pPr>
            <a:r>
              <a:rPr lang="en-US" sz="8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94"/>
              </a:lnSpc>
              <a:buNone/>
            </a:pPr>
            <a:r>
              <a:rPr lang="en-US" sz="9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Dürüst sınır: mobil uygulama ve tarayıcı otomatik doldurma yok — iş akışı kopyala butonu.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66928" y="5365242"/>
            <a:ext cx="11057839" cy="870966"/>
          </a:xfrm>
          <a:prstGeom prst="roundRect">
            <a:avLst>
              <a:gd name="adj" fmla="val 6299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465826"/>
            <a:ext cx="10765231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tüm kurulum, bir kez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chrome-extension    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yerel yardımcıyı kaydet (makine başına bir kez)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                  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 da sadece araç çubuğu simgesine tıkla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PAZAR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docs/comparison.md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NEREDE DURUYOR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yerel, sıfır altyapı, ajan-yerlisi — diğer üç pazarın açık bıraktığı boşluk.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6869887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var    ~ kısmen    ✕ yok    ★ yalnızca concealer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1275"/>
          <a:ext cx="11057839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253120"/>
                <a:gridCol w="1253120"/>
                <a:gridCol w="1253120"/>
                <a:gridCol w="1253120"/>
                <a:gridCol w="1253120"/>
                <a:gridCol w="1253120"/>
                <a:gridCol w="1253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Yetenek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concealer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1Password / Bitwarden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HashiCorp Vault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Doppler / Infisical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SOPS + age (ham)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pass / gopass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secretctl</a:t>
                      </a:r>
                      <a:endParaRPr lang="en-US" sz="83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Dağıtım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Yerel, tek dosya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Self-host / HCP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 (veya self-host)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Yerel, tek ikili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Sunucu veya daemon gerekir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yok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bulut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sunucu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yok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Maliyet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 (MIT)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3–12 $ / kişi / ay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 OSS / $$$ kurumsal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ücretli paketler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Ücretsiz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Git'te versiyonlanabilir kasa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değerler şifreli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SQLite blob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Tipli secret'lar (db / api / ssh…)</a:t>
                      </a:r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★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şablonlu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öğe tipleri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Dört boyutlu kapsam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tenant/proje/ortam/repo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kasa, etiket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yollar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ortamlar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dizinler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joker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Kurcalama-belirtir denetim kaydı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HMAC + çapa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bulut log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git log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HMAC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ajanları için MCP-yerlisi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kapı + kota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SDK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SDK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MCP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Ajan başına sızdırma kotası</a:t>
                      </a:r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★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politika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Tamamen çevrimdışı çalışır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önbellek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Dinamik / kiralık secret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Çok kullanıcı / RBAC / SSO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tek sahip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alıcılar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8A909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anahtarlar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 uygulama / otomatik doldurma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7EE78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FFC4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6B73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</a:t>
                      </a:r>
                      <a:endParaRPr lang="en-US" sz="7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1A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66928" y="6053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concealer.fxerkan.com/comparison adresindeki 22 satırlık tam matristen özetlendi. Fiyatlar gösterge niteliğinde 2026 liste fiyatlarıdır — büyüklük mertebesi, teklif değil.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PAZAR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docs/comparison.md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DÜRÜST KARNE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737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concealer nerede kazanıyor — ve nerede başka bir şey kullanmalısın.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816411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KAZANDIĞI YERLER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072443"/>
            <a:ext cx="530032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273611"/>
            <a:ext cx="530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 altyapı.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Sunucu, container, bulut tenant'ı ya da daemon yok. 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kasa hazır.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Git-yerlisi.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Kodla aynı repo'da diff'lenip versiyonlanan şifreli bir YAML dosyası.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Ajan-öncelikli.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Matristeki tek araç ki MCP sunucusu AI ajanı tehdit modelleri üzerine kurulmuş: kayıt kapısı, ajan başına sızdırma kotası, temizlenmiş çıktı.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Tasarımı gereği kurcalama-belirtir.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HMAC zinciri artı kuyruk kırpmayı yakalayan bir baş çapası — bulut denetim hattı gerekmez.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Kilitlenme yok, telemetri yok, okunacak tek dosya.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Tescilli bir bulut kasasına güvenmekle karşılaştır — 2022 LastPass ihlaline bak.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6324448" y="1816411"/>
            <a:ext cx="530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KAZANMADIĞI YERLER — BAŞKASINI KULLAN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24448" y="2072443"/>
            <a:ext cx="530032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24448" y="2273611"/>
            <a:ext cx="5300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Ekipler.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SSO yok, RBAC yok, kullanıcı bazlı paylaşım yok. Tek sahipli bir kasa. → 1Password / Bitwarden / Vault.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Dinamik secret ve kiralama.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Talep üzerine üretilen kısa ömürlü DB credential'ı yok. → HashiCorp Vault.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rotasyon ve CI/CD senkron dokusu.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Rotasyon manuel. → Doppler / Infisical.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Tüketici deneyimi.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Mobil uygulama yok, tarayıcı otomatik doldurma yok, passkey yok. → 1Password / Bitwarden / Keeper.</a:t>
            </a:r>
            <a:endParaRPr lang="en-US" sz="1080" dirty="0"/>
          </a:p>
          <a:p>
            <a:pPr indent="0" marL="0">
              <a:lnSpc>
                <a:spcPts val="1426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426"/>
              </a:lnSpc>
              <a:buNone/>
            </a:pPr>
            <a:r>
              <a:rPr lang="en-US" sz="108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Anahtar teslim uyumluluk belgeleri.</a:t>
            </a:r>
            <a:pPr indent="0" marL="0">
              <a:lnSpc>
                <a:spcPts val="1426"/>
              </a:lnSpc>
              <a:buNone/>
            </a:pPr>
            <a:r>
              <a:rPr lang="en-US" sz="108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FedRAMP veya SOC 2 yok — bunlar aracı işleten kurumun kazandığı belgelerdir, aracın içinde gelmez. → Keeper / Vault / bulut KMS.</a:t>
            </a:r>
            <a:endParaRPr lang="en-US" sz="108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14475"/>
          <a:ext cx="11057839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8E8E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İhtiyacın…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4D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Kullan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1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Sunucusuz, git'te versiyonlanan kişisel veya tek geliştiricili kasa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Yerel AI ajanları ve MCP istemcileri için güvenli secret erişimi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Sadece bir repo içindeki config dosyasını şifrelemek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concealer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paylaşımı, SSO, mobil otomatik doldurma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1Password / Bitwarden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Dinamik DB credential'ı, kiralama, servis olarak şifreleme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HashiCorp Vault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CI/CD'ye senkronlanan yönetilen çok ortamlı secret'lar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E8E8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Doppler / Infisical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t">
                    <a:lnL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F3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5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Kaynak: docs/installation.md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763524"/>
            <a:ext cx="237744" cy="91440"/>
          </a:xfrm>
          <a:prstGeom prst="roundRect">
            <a:avLst>
              <a:gd name="adj" fmla="val 40000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85800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8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HIZLI BAŞLANGIÇ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024128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30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Yaklaşık bir dakikada çalışır durumda.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591056"/>
            <a:ext cx="9601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yöneticini seç — her biri concealer'ın sarmaladığı sops ve age ikililerini de kurar. Sonra bir kez init: 8 kurtarma kodu ve bir başlangıç token'ı basar, ardından düz metin age anahtarını diskten siler.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HOMEBREW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sops, age, expect ile birlikte gelir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fxerkan/tap/concealer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"$(cer unlock)"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344314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PIPX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44314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4314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90618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concealer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apt install sops age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"$(cer unlock)"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21701" y="2130552"/>
            <a:ext cx="3503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· SCOOP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21701" y="2386584"/>
            <a:ext cx="3503066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1701" y="2569464"/>
            <a:ext cx="3503066" cy="1412748"/>
          </a:xfrm>
          <a:prstGeom prst="roundRect">
            <a:avLst>
              <a:gd name="adj" fmla="val 3883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68005" y="2670048"/>
            <a:ext cx="3210458" cy="1211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bucket add fxerkan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https://github.com/fxerkan/scoop-bucket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install concealer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init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$env: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CONCEALER_TOKEN =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"…"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38454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 AJANI BAĞLA — IKI SATIR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640580"/>
            <a:ext cx="5852160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768596"/>
            <a:ext cx="5852160" cy="870966"/>
          </a:xfrm>
          <a:prstGeom prst="roundRect">
            <a:avLst>
              <a:gd name="adj" fmla="val 6299"/>
            </a:avLst>
          </a:prstGeom>
          <a:solidFill>
            <a:srgbClr val="06070A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4869180"/>
            <a:ext cx="5559552" cy="669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agent register claude      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iptal edilebilir bir CONCEALER_TOKEN basar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mcp add --scope user concealer </a:t>
            </a:r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FFB1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900" dirty="0"/>
          </a:p>
          <a:p>
            <a:pPr indent="0" marL="0">
              <a:lnSpc>
                <a:spcPts val="1422"/>
              </a:lnSpc>
              <a:buNone/>
            </a:pPr>
            <a:r>
              <a:rPr lang="en-US" sz="900" dirty="0">
                <a:solidFill>
                  <a:srgbClr val="D5D9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--env CONCEALER_TOKEN=&lt;token&gt; -- concealer mcp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76288" y="4384548"/>
            <a:ext cx="4748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SONRA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76288" y="4640580"/>
            <a:ext cx="4748479" cy="7315"/>
          </a:xfrm>
          <a:prstGeom prst="rect">
            <a:avLst/>
          </a:prstGeom>
          <a:solidFill>
            <a:srgbClr val="2A2F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76288" y="4805172"/>
            <a:ext cx="4748479" cy="1229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41"/>
              </a:lnSpc>
              <a:buNone/>
            </a:pP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kurtarma kodunu başka bir yerde sakla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bu makinede değil. Yalnızca bir kez gösterilir.</a:t>
            </a:r>
            <a:endParaRPr lang="en-US" sz="940" dirty="0"/>
          </a:p>
          <a:p>
            <a:pPr indent="0" marL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41"/>
              </a:lnSpc>
              <a:buNone/>
            </a:pP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Ortalıkta kalanları süpür: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scan ./repo --history --envvars --import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40" dirty="0"/>
          </a:p>
          <a:p>
            <a:pPr indent="0" marL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41"/>
              </a:lnSpc>
              <a:buNone/>
            </a:pP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Çoktan dışarı çıkanı kontrol et: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Riskler → Maruziyet, ya da 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expose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 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gitscan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40" dirty="0"/>
          </a:p>
          <a:p>
            <a:pPr indent="0" marL="0">
              <a:lnSpc>
                <a:spcPts val="1241"/>
              </a:lnSpc>
              <a:spcAft>
                <a:spcPts val="400"/>
              </a:spcAft>
              <a:buNone/>
            </a:pPr>
            <a:r>
              <a:rPr lang="en-US" sz="840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▪  </a:t>
            </a:r>
            <a:pPr indent="0" marL="0">
              <a:lnSpc>
                <a:spcPts val="1241"/>
              </a:lnSpc>
              <a:buNone/>
            </a:pPr>
            <a:r>
              <a:rPr lang="en-US" sz="940" b="1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eklentisini ekle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sonra makine başına bir kez 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cer chrome-extension</a:t>
            </a:r>
            <a:pPr indent="0" marL="0">
              <a:lnSpc>
                <a:spcPts val="1241"/>
              </a:lnSpc>
              <a:buNone/>
            </a:pPr>
            <a:r>
              <a:rPr lang="en-US" sz="94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4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3774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8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conceal</a:t>
            </a:r>
            <a:pPr indent="0" marL="0">
              <a:buNone/>
            </a:pPr>
            <a:r>
              <a:rPr lang="en-US" sz="12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509967" y="2377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6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BAŞLA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82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66767" y="638251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50" kern="0" dirty="0">
                <a:solidFill>
                  <a:srgbClr val="6B7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 v0.9.24  ·  MIT  ·  FXerkan tarafından geliştirildi — Code more, worry less.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274320" cy="100584"/>
          </a:xfrm>
          <a:prstGeom prst="roundRect">
            <a:avLst>
              <a:gd name="adj" fmla="val 36364"/>
            </a:avLst>
          </a:prstGeom>
          <a:solidFill>
            <a:srgbClr val="FF4D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20025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20" kern="0" dirty="0">
                <a:solidFill>
                  <a:srgbClr val="FF4D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AKILDA KALMASI GEREKEN TEK ŞEY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432304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4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Sohbet pencerelerine anahtar yapıştırmayı bırak.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611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Yalnızca yerel. Taşınabilir. Açık kaynak. Artık kod yazdığımız şekle göre tasarlandı.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224528"/>
            <a:ext cx="2443277" cy="310896"/>
          </a:xfrm>
          <a:prstGeom prst="roundRect">
            <a:avLst>
              <a:gd name="adj" fmla="val 50000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4224528"/>
            <a:ext cx="244327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fxerkan/tap/concealer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19933" y="4224528"/>
            <a:ext cx="1642262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19933" y="4224528"/>
            <a:ext cx="1642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pipx install concealer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71923" y="42245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71923" y="42245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scoop install concealer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90665" y="4224528"/>
            <a:ext cx="373990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90665" y="4224528"/>
            <a:ext cx="3739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74382" y="4224528"/>
            <a:ext cx="1709014" cy="310896"/>
          </a:xfrm>
          <a:prstGeom prst="roundRect">
            <a:avLst>
              <a:gd name="adj" fmla="val 50000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174382" y="4224528"/>
            <a:ext cx="17090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 · Linux · Windows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4828032"/>
            <a:ext cx="1867205" cy="384048"/>
          </a:xfrm>
          <a:prstGeom prst="roundRect">
            <a:avLst>
              <a:gd name="adj" fmla="val 16667"/>
            </a:avLst>
          </a:prstGeom>
          <a:solidFill>
            <a:srgbClr val="FF4D4D"/>
          </a:solidFill>
          <a:ln w="9525">
            <a:solidFill>
              <a:srgbClr val="FF4D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4828032"/>
            <a:ext cx="1867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B0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concealer.fxerkan.com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2149" y="4828032"/>
            <a:ext cx="742493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562149" y="4828032"/>
            <a:ext cx="7424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32658" y="4828032"/>
            <a:ext cx="1567282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32658" y="4828032"/>
            <a:ext cx="156728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karşılaştırma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127955" y="4828032"/>
            <a:ext cx="1492301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7955" y="4828032"/>
            <a:ext cx="149230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Chrome Web Store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48272" y="4828032"/>
            <a:ext cx="742493" cy="384048"/>
          </a:xfrm>
          <a:prstGeom prst="roundRect">
            <a:avLst>
              <a:gd name="adj" fmla="val 16667"/>
            </a:avLst>
          </a:prstGeom>
          <a:solidFill>
            <a:srgbClr val="161A20"/>
          </a:solidFill>
          <a:ln w="9525">
            <a:solidFill>
              <a:srgbClr val="2A2F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48272" y="4828032"/>
            <a:ext cx="7424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Destek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Concealer Tanıtım Sunumu</dc:title>
  <dc:subject>PptxGenJS Presentation</dc:subject>
  <dc:creator>FXerkan</dc:creator>
  <cp:lastModifiedBy>FXerkan</cp:lastModifiedBy>
  <cp:revision>1</cp:revision>
  <dcterms:created xsi:type="dcterms:W3CDTF">2026-09-12T20:39:39Z</dcterms:created>
  <dcterms:modified xsi:type="dcterms:W3CDTF">2026-09-12T20:39:39Z</dcterms:modified>
</cp:coreProperties>
</file>