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598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concealer — the AI Secret Manager. Local-only, SOPS + age, and an MCP server that lets agents use secrets without seeing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ncealer.fxerkan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ncealer.fxerkan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ncealer.fxerkan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ncealer.fxerkan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ncealer.fxerkan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ncealer.fxerkan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ncealer.fxerkan.com/" TargetMode="Externa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ncealer.fxerkan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ncealer.fxerkan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ncealer.fxerkan.com/" TargetMode="External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ncealer.fxerkan.com/" TargetMode="External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cealer.fxerkan.co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xerkan/concealer/issues" TargetMode="External"/><Relationship Id="rId3" Type="http://schemas.openxmlformats.org/officeDocument/2006/relationships/hyperlink" Target="https://pypi.org/project/concealer/" TargetMode="External"/><Relationship Id="rId7" Type="http://schemas.openxmlformats.org/officeDocument/2006/relationships/hyperlink" Target="https://chromewebstore.google.com/detail/concealer/hecffnhjbhldmdpcnpkpcffmodnemdcj?pli=1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ncealer.fxerkan.com/comparison.html" TargetMode="External"/><Relationship Id="rId5" Type="http://schemas.openxmlformats.org/officeDocument/2006/relationships/hyperlink" Target="https://github.com/fxerkan/concealer" TargetMode="External"/><Relationship Id="rId4" Type="http://schemas.openxmlformats.org/officeDocument/2006/relationships/hyperlink" Target="https://concealer.fxerka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DECK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23</a:t>
            </a:r>
            <a:endParaRPr lang="en-US" sz="850" dirty="0"/>
          </a:p>
        </p:txBody>
      </p:sp>
      <p:sp>
        <p:nvSpPr>
          <p:cNvPr id="5" name="Text 3">
            <a:hlinkClick r:id="rId3"/>
          </p:cNvPr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concealer.fxerkan.com  ·  github.com/fxerkan/concealer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14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34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1764792"/>
            <a:ext cx="274320" cy="100584"/>
          </a:xfrm>
          <a:prstGeom prst="roundRect">
            <a:avLst>
              <a:gd name="adj" fmla="val 36364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 txBox="1"/>
          <p:nvPr/>
        </p:nvSpPr>
        <p:spPr>
          <a:xfrm>
            <a:off x="950976" y="1682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4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AI SECRET MANAGER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1031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agents use your secrets. </a:t>
            </a:r>
          </a:p>
          <a:p>
            <a:pPr marL="0" indent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never </a:t>
            </a:r>
            <a:r>
              <a:rPr lang="en-US" sz="40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them.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66928" y="3703320"/>
            <a:ext cx="1371600" cy="45720"/>
          </a:xfrm>
          <a:prstGeom prst="rect">
            <a:avLst/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 txBox="1"/>
          <p:nvPr/>
        </p:nvSpPr>
        <p:spPr>
          <a:xfrm>
            <a:off x="566928" y="3968496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concealer is the local-only secret manager for the AI-coding era. 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cloud, no telemetry, no account — and an MCP server that lets any coding agent use a credential without the value ever entering its context.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513892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 w="9525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 txBox="1"/>
          <p:nvPr/>
        </p:nvSpPr>
        <p:spPr>
          <a:xfrm>
            <a:off x="566928" y="513892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Local-only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17904" y="5138928"/>
            <a:ext cx="1308506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 txBox="1"/>
          <p:nvPr/>
        </p:nvSpPr>
        <p:spPr>
          <a:xfrm>
            <a:off x="1517904" y="5138928"/>
            <a:ext cx="1308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AI-safe by design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36138" y="5138928"/>
            <a:ext cx="1308506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 txBox="1"/>
          <p:nvPr/>
        </p:nvSpPr>
        <p:spPr>
          <a:xfrm>
            <a:off x="2936138" y="5138928"/>
            <a:ext cx="1308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· Open source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54373" y="513892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 txBox="1"/>
          <p:nvPr/>
        </p:nvSpPr>
        <p:spPr>
          <a:xfrm>
            <a:off x="4354373" y="513892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SOPS + 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5349" y="5138928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 txBox="1"/>
          <p:nvPr/>
        </p:nvSpPr>
        <p:spPr>
          <a:xfrm>
            <a:off x="5305349" y="513892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· Web · TUI · MCP · Chrome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91349" y="5138928"/>
            <a:ext cx="1709014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 txBox="1"/>
          <p:nvPr/>
        </p:nvSpPr>
        <p:spPr>
          <a:xfrm>
            <a:off x="7591349" y="5138928"/>
            <a:ext cx="1709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· Linux · Windows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HOW WE CODE NOW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coding assistant reads every file in the repo.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91056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Gemini CLI, opencode, Cursor — all of them are wonderful, and all of them read your project files. The moment a key lands in a .env, a credentials.json, or a chat window, it has four ways out.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185416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 txBox="1"/>
          <p:nvPr/>
        </p:nvSpPr>
        <p:spPr>
          <a:xfrm>
            <a:off x="713232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24028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by the agent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sent to a model provider.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898648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 txBox="1"/>
          <p:nvPr/>
        </p:nvSpPr>
        <p:spPr>
          <a:xfrm>
            <a:off x="713232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295351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in logs or telemetry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whatever tool you happen to be using.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 txBox="1"/>
          <p:nvPr/>
        </p:nvSpPr>
        <p:spPr>
          <a:xfrm>
            <a:off x="713232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66674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to git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accident — and it stays in the history.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325112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8"/>
          <p:cNvSpPr txBox="1"/>
          <p:nvPr/>
        </p:nvSpPr>
        <p:spPr>
          <a:xfrm>
            <a:off x="713232" y="4370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37997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Copied across a dozen repos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 the same name, with no way to tell them apart.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2130552"/>
            <a:ext cx="5114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THAT COSTS YOU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10528" y="2386584"/>
            <a:ext cx="5114239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hape 22"/>
          <p:cNvSpPr/>
          <p:nvPr/>
        </p:nvSpPr>
        <p:spPr>
          <a:xfrm>
            <a:off x="6510528" y="2569464"/>
            <a:ext cx="5114239" cy="786384"/>
          </a:xfrm>
          <a:prstGeom prst="roundRect">
            <a:avLst>
              <a:gd name="adj" fmla="val 697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 txBox="1"/>
          <p:nvPr/>
        </p:nvSpPr>
        <p:spPr>
          <a:xfrm>
            <a:off x="6656832" y="2660904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6656832" y="2990088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WAYS A KEY ESCAPES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789088" y="2624328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6"/>
          <p:cNvSpPr txBox="1"/>
          <p:nvPr/>
        </p:nvSpPr>
        <p:spPr>
          <a:xfrm>
            <a:off x="7935392" y="2660904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7935392" y="2990088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 YOU'LL REGRET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067648" y="2624328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Text 29"/>
          <p:cNvSpPr txBox="1"/>
          <p:nvPr/>
        </p:nvSpPr>
        <p:spPr>
          <a:xfrm>
            <a:off x="9213952" y="2660904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9213952" y="2990088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THAT STOP IT IN THE TRANSCRIPT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346207" y="2624328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4" name="Text 32"/>
          <p:cNvSpPr txBox="1"/>
          <p:nvPr/>
        </p:nvSpPr>
        <p:spPr>
          <a:xfrm>
            <a:off x="10492511" y="2660904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10492511" y="2990088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 ONCE IT'S OUT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6510528" y="3557016"/>
            <a:ext cx="511423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8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on this list is a bug in the agent — it is what reading your files </a:t>
            </a:r>
            <a:r>
              <a:rPr lang="en-US" sz="1150" i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</a:t>
            </a:r>
            <a:r>
              <a:rPr lang="en-US" sz="11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  <a:p>
            <a:pPr marL="0" indent="0">
              <a:lnSpc>
                <a:spcPts val="1518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fix cannot be "be careful". It has to be that the value is never in the file, the transcript, or the history in the first place.</a:t>
            </a:r>
            <a:endParaRPr lang="en-US" sz="1150" dirty="0"/>
          </a:p>
          <a:p>
            <a:pPr marL="0" indent="0">
              <a:lnSpc>
                <a:spcPts val="1518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ever pasted a secret into a chat window and regretted it a second later — that is the itch concealer scratches.</a:t>
            </a:r>
            <a:endParaRPr lang="en-US" sz="115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70C159-C3B8-1BD3-718A-81B97BB26413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39" name="Shape 18">
              <a:extLst>
                <a:ext uri="{FF2B5EF4-FFF2-40B4-BE49-F238E27FC236}">
                  <a16:creationId xmlns:a16="http://schemas.microsoft.com/office/drawing/2014/main" id="{A26D8669-DF12-F03C-C3A9-744E114D5127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40" name="Text 19">
              <a:hlinkClick r:id="rId3"/>
              <a:extLst>
                <a:ext uri="{FF2B5EF4-FFF2-40B4-BE49-F238E27FC236}">
                  <a16:creationId xmlns:a16="http://schemas.microsoft.com/office/drawing/2014/main" id="{1DC10E2E-7FB8-2B3E-AC82-7B42070354DE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NOT A CLOUD VAULT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Doppler, Infisical, Vault and 1Password all solve a different problem.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71275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built for fleets, teams and sync. A single developer with an AI agent on one laptop needs five things none of them lead with: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465635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 txBox="1"/>
          <p:nvPr/>
        </p:nvSpPr>
        <p:spPr>
          <a:xfrm>
            <a:off x="722376" y="2584507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OFFLINE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" y="2794819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Local-only, provably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" y="3215443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never leave the machine. No account, no sync server, no telemetry — you can put a firewall in front of it and watch nothing phone home.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38218" y="2465635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 txBox="1"/>
          <p:nvPr/>
        </p:nvSpPr>
        <p:spPr>
          <a:xfrm>
            <a:off x="4493666" y="2584507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PORTABLE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493666" y="2794819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Password, not hardware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93666" y="3215443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vault decrypts on any machine with just the master password. It is not tied to this laptop's Keychain or TPM. Copy the files, type the password, done.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09509" y="2465635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 txBox="1"/>
          <p:nvPr/>
        </p:nvSpPr>
        <p:spPr>
          <a:xfrm>
            <a:off x="8264957" y="2584507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GIT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64957" y="2794819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Inspectable, versionable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64957" y="3215443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encrypted vault is a plain SOPS file you can commit — keys visible, values encrypted. The tool itself is one readable Python script, not a black box.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446934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 txBox="1"/>
          <p:nvPr/>
        </p:nvSpPr>
        <p:spPr>
          <a:xfrm>
            <a:off x="722376" y="4565806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AI-SAFE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22376" y="4776118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use, never see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" y="5196742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MCP server lets an agent list names and inject values into a command's environment. Plaintext is redacted from everything it reads back.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38218" y="4446934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5"/>
          <p:cNvSpPr txBox="1"/>
          <p:nvPr/>
        </p:nvSpPr>
        <p:spPr>
          <a:xfrm>
            <a:off x="4493666" y="4565806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SCOPED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493666" y="4776118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place, many projects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493666" y="5196742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value across many repos is disambiguated by tenant / project / environment / repo instead of one ambiguous name.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09509" y="4446934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Text 29"/>
          <p:cNvSpPr txBox="1"/>
          <p:nvPr/>
        </p:nvSpPr>
        <p:spPr>
          <a:xfrm>
            <a:off x="8264957" y="4565806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HONEST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264957" y="4776118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ceilings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64957" y="5196742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limit is written down, not hidden: the local audit key, CPython's un-zeroed memory, the single-user web server. A security review can read them.</a:t>
            </a:r>
            <a:endParaRPr lang="en-US" sz="10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3E44FB0-4012-9234-D8C5-8D5B7546BA82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35" name="Shape 18">
              <a:extLst>
                <a:ext uri="{FF2B5EF4-FFF2-40B4-BE49-F238E27FC236}">
                  <a16:creationId xmlns:a16="http://schemas.microsoft.com/office/drawing/2014/main" id="{C9B7B7D5-6BEB-1E3D-2F32-F3045FB4EBFF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36" name="Text 19">
              <a:hlinkClick r:id="rId3"/>
              <a:extLst>
                <a:ext uri="{FF2B5EF4-FFF2-40B4-BE49-F238E27FC236}">
                  <a16:creationId xmlns:a16="http://schemas.microsoft.com/office/drawing/2014/main" id="{CA3AF3D4-EE61-6A2E-FE25-25711C248063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5150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CONCEALER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479999" cy="132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thin, auditable wrapper around two battle-tested tools.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461211"/>
            <a:ext cx="547999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concealer implements no cryptography of its own. SOPS encrypts the vault; age is the backend. concealer adds only the part that was missing: typed secrets, four-dimension scoping, tags, a professional local web console, a tamper-evident audit chain, and an MCP server.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485339"/>
            <a:ext cx="5479999" cy="2641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encrypted file.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secrets.enc.yaml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per-value AES-256-GCM over age X25519, git-friendly.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readable script.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3, standard library only. MIT licensed. No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tool itself.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interfaces, one core.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 · Web UI · TUI · MCP · Chrome extension all funnel into the same code path — and the same audit log.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platforms.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macOS, Linux and Windows, each verified in CI.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Key-at-rest.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age private key is never written to disk in plaintext — only wrapped copies exist.</a:t>
            </a:r>
            <a:endParaRPr lang="en-US" sz="1180" dirty="0"/>
          </a:p>
        </p:txBody>
      </p:sp>
      <p:pic>
        <p:nvPicPr>
          <p:cNvPr id="11" name="Image 0" descr="img/hero-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127" y="1856232"/>
            <a:ext cx="5120640" cy="268833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504127" y="46542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local-only secret manager for the AI-coding era — concealer.fxerkan.com</a:t>
            </a:r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EFC590-BA8C-EA48-7D9D-C5AD1AFE283C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7DA125FD-E8FB-7AA2-3336-0AC8ACFFCCE9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5" name="Text 19">
              <a:hlinkClick r:id="rId4"/>
              <a:extLst>
                <a:ext uri="{FF2B5EF4-FFF2-40B4-BE49-F238E27FC236}">
                  <a16:creationId xmlns:a16="http://schemas.microsoft.com/office/drawing/2014/main" id="{A4A338EE-2EC5-C757-6C7D-948E416B199B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5699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IDEA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6028639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use secrets. They never read them.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602863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an agent, hand it a revocable token, and it can run psql or curl with a live credential — while the value stays out of its context entirely.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13119"/>
            <a:ext cx="6028639" cy="351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list_secrets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search_secrets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names, types, scopes and tags. </a:t>
            </a: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values.</a:t>
            </a:r>
            <a:endParaRPr lang="en-US" sz="1100" dirty="0"/>
          </a:p>
          <a:p>
            <a:pPr marL="0" indent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run_with_secrets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runs a command with the matching secrets injected into a child environment; values are </a:t>
            </a: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redacted from the returned output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marL="0" indent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set_secret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writes a value, and cannot retrieve the one it just wrote.</a:t>
            </a:r>
            <a:endParaRPr lang="en-US" sz="1100" dirty="0"/>
          </a:p>
          <a:p>
            <a:pPr marL="0" indent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is mandatory.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human token, or no token, gets </a:t>
            </a:r>
            <a:r>
              <a:rPr lang="en-US" sz="1100" i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denied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On a hardened vault the server </a:t>
            </a: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closed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marL="0" indent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Anti-bulk-exfiltration.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Per-agent quotas: 10 rows per call, 25 distinct names per rolling hour. Set the quota to 0 to block an agent outright.</a:t>
            </a:r>
            <a:endParaRPr lang="en-US" sz="1100" dirty="0"/>
          </a:p>
          <a:p>
            <a:pPr marL="0" indent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 is audited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r>
              <a:rPr lang="en-US" sz="11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source=mcp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agent's label as the actor.</a:t>
            </a:r>
            <a:endParaRPr lang="en-US" sz="1100" dirty="0"/>
          </a:p>
          <a:p>
            <a:pPr marL="0" indent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Claude Code, Codex CLI, Gemini CLI, opencode, Cursor, Cline and Continue — same stdio server, one config line.</a:t>
            </a:r>
            <a:endParaRPr lang="en-US" sz="1100" dirty="0"/>
          </a:p>
        </p:txBody>
      </p:sp>
      <p:pic>
        <p:nvPicPr>
          <p:cNvPr id="11" name="Image 0" descr="img/concealer-mcp-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767" y="1874520"/>
            <a:ext cx="4572000" cy="2651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052767" y="4636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MCP flow: the agent names a secret, the value goes to a child process, the output comes back redacted.</a:t>
            </a:r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5E2189-6BD4-6D8E-1A0B-FE62C21E6D35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EE1826D3-8D7D-3928-179E-14D8841365A4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5" name="Text 19">
              <a:hlinkClick r:id="rId4"/>
              <a:extLst>
                <a:ext uri="{FF2B5EF4-FFF2-40B4-BE49-F238E27FC236}">
                  <a16:creationId xmlns:a16="http://schemas.microsoft.com/office/drawing/2014/main" id="{59489F55-28CB-8EAA-9E41-AA351BF4199C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60196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6931152" y="685800"/>
            <a:ext cx="4693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01968" y="1024128"/>
            <a:ext cx="5022799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script, delegated crypto, five ways in.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018759"/>
            <a:ext cx="5022799" cy="4107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operation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load → decrypt to a dict → mutate → save → re-encrypt, shelling out to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sops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both ways.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 key reaches sops in memory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SOPS_AGE_KEY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never through a temp file.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Wrapped three ways: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the master password (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age-key.txt.age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by each recovery code, and by each unlock token.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not prompts.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Humans get a ~8 h TTL token from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each agent gets its own long-lived revocable token.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dependencies: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sops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installed for you by Homebrew, or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pywinpty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Windows.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committed: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keys/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secrets.enc.yaml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.sops.yaml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git-ignored. The repo ships the tool, never a vault.</a:t>
            </a:r>
            <a:endParaRPr lang="en-US" sz="1180" dirty="0"/>
          </a:p>
        </p:txBody>
      </p:sp>
      <p:pic>
        <p:nvPicPr>
          <p:cNvPr id="10" name="Image 0" descr="img/concealer-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56114"/>
            <a:ext cx="5577840" cy="368857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FF9634E-E6BB-1E04-897A-5F03EB078545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2" name="Shape 18">
              <a:extLst>
                <a:ext uri="{FF2B5EF4-FFF2-40B4-BE49-F238E27FC236}">
                  <a16:creationId xmlns:a16="http://schemas.microsoft.com/office/drawing/2014/main" id="{A64DC198-8393-6A57-88F8-E008799B36EC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3" name="Text 19">
              <a:hlinkClick r:id="rId4"/>
              <a:extLst>
                <a:ext uri="{FF2B5EF4-FFF2-40B4-BE49-F238E27FC236}">
                  <a16:creationId xmlns:a16="http://schemas.microsoft.com/office/drawing/2014/main" id="{8603926B-0FD9-344A-C90F-E0BD7405ED9E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MODEL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layers, and every ceiling written down.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66928" y="1591056"/>
            <a:ext cx="2599868" cy="1600200"/>
          </a:xfrm>
          <a:prstGeom prst="roundRect">
            <a:avLst>
              <a:gd name="adj" fmla="val 4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 txBox="1"/>
          <p:nvPr/>
        </p:nvSpPr>
        <p:spPr>
          <a:xfrm>
            <a:off x="722376" y="1709928"/>
            <a:ext cx="2288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22376" y="1920240"/>
            <a:ext cx="228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Delegated, not invented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" y="2340864"/>
            <a:ext cx="22889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via SOPS over age X25519. The only crypto concealer writes itself is a stdlib scrypt password verifier and the HMAC audit chain.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6252" y="1591056"/>
            <a:ext cx="2599868" cy="1600200"/>
          </a:xfrm>
          <a:prstGeom prst="roundRect">
            <a:avLst>
              <a:gd name="adj" fmla="val 4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 txBox="1"/>
          <p:nvPr/>
        </p:nvSpPr>
        <p:spPr>
          <a:xfrm>
            <a:off x="3541700" y="1709928"/>
            <a:ext cx="2288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KEY-AT-REST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541700" y="1920240"/>
            <a:ext cx="228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plaintext key on disk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41700" y="2340864"/>
            <a:ext cx="22889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master-password-, recovery-code- and token-wrapped copies exist. A stolen folder is inert without a password or a code.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5576" y="1591056"/>
            <a:ext cx="2599868" cy="1600200"/>
          </a:xfrm>
          <a:prstGeom prst="roundRect">
            <a:avLst>
              <a:gd name="adj" fmla="val 4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 txBox="1"/>
          <p:nvPr/>
        </p:nvSpPr>
        <p:spPr>
          <a:xfrm>
            <a:off x="6361024" y="1709928"/>
            <a:ext cx="2288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361024" y="1920240"/>
            <a:ext cx="228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Revocable, client-side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61024" y="2340864"/>
            <a:ext cx="22889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value lives only in CONCEALER_TOKEN. The vault keeps a scrypt hash and a token-wrapped key. Revoke it and that copy is dead.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24899" y="1591056"/>
            <a:ext cx="2599868" cy="1600200"/>
          </a:xfrm>
          <a:prstGeom prst="roundRect">
            <a:avLst>
              <a:gd name="adj" fmla="val 4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 txBox="1"/>
          <p:nvPr/>
        </p:nvSpPr>
        <p:spPr>
          <a:xfrm>
            <a:off x="9180347" y="1709928"/>
            <a:ext cx="2288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180347" y="1920240"/>
            <a:ext cx="228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second factor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80347" y="2340864"/>
            <a:ext cx="22889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one-time codes. Any one recovers the vault — and passwd consumes one, so a stolen master password alone cannot take the vault over.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50215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MODEL — MITIGATION AND RESIDUAL RISK, AS DOCUMENTED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3758184"/>
            <a:ext cx="11057839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86200"/>
          <a:ext cx="11155680" cy="17322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Threat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4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Mitigation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Residual risk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pasted into an AI chat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injects without revealing; output redacted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must be registered and rate-limited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 stolen, disk copied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Key-at-rest — wrapped key only, no plaintext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 password strength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 password leaked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passwd</a:t>
                      </a: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requires a recovery code as 2nd factor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Codes must be stored separately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Vault committed by accident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.gitignore</a:t>
                      </a: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covers the vault files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discipline on </a:t>
                      </a:r>
                      <a:r>
                        <a:rPr lang="en-US" sz="950" dirty="0">
                          <a:solidFill>
                            <a:srgbClr val="8A90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add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log tampered with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HMAC chain + </a:t>
                      </a:r>
                      <a:r>
                        <a:rPr lang="en-US" sz="95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</a:t>
                      </a: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tail anchor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FS-root attacker with the local key can re-forge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tries to dump the vault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 gate + per-agent quotas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Limits are tunable per agent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76BF5086-14C6-2285-15DE-0A03C925DCB1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29" name="Shape 18">
              <a:extLst>
                <a:ext uri="{FF2B5EF4-FFF2-40B4-BE49-F238E27FC236}">
                  <a16:creationId xmlns:a16="http://schemas.microsoft.com/office/drawing/2014/main" id="{593B6887-F01B-1A56-CC81-F98CD0F62152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30" name="Text 19">
              <a:hlinkClick r:id="rId3"/>
              <a:extLst>
                <a:ext uri="{FF2B5EF4-FFF2-40B4-BE49-F238E27FC236}">
                  <a16:creationId xmlns:a16="http://schemas.microsoft.com/office/drawing/2014/main" id="{114CE863-F3D9-928C-6ABA-7870CFBDB79D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5150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TAMPER-EVIDENT AUDIT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479999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read, write, copy and inject — chained.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54799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append-only log across all five interfaces. It records names and actions, never values.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13119"/>
            <a:ext cx="5479999" cy="351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chained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each entry's hash depends on the previous one.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seq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inside the signed payload, so reordering is detectable.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tail anchor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audit.head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catches truncation — deleting the last lines breaks verification.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Web UI: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by action / source / key / date, page through it, open a row, verify the chain, export CSV or JSON.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CLI: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audit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audit verify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ceiling: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keys/audit.key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local, so a filesystem-root attacker could re-forge the chain. An off-machine anchor push mitigates a full re-forge; true immutability needs an off-machine key.</a:t>
            </a:r>
            <a:endParaRPr lang="en-US" sz="1180" dirty="0"/>
          </a:p>
        </p:txBody>
      </p:sp>
      <p:pic>
        <p:nvPicPr>
          <p:cNvPr id="11" name="Image 0" descr="img/app-audit-lo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127" y="1551554"/>
            <a:ext cx="5120640" cy="329769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504127" y="495897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Logs — chain verification and CSV/JSON export, built into the local console.</a:t>
            </a:r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B92E73-8BCB-C1D3-DEF0-E87A735E3603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075F5F6D-E8F5-8805-50BB-C6D63731394B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5" name="Text 19">
              <a:hlinkClick r:id="rId4"/>
              <a:extLst>
                <a:ext uri="{FF2B5EF4-FFF2-40B4-BE49-F238E27FC236}">
                  <a16:creationId xmlns:a16="http://schemas.microsoft.com/office/drawing/2014/main" id="{F5FE7B56-2E8F-64AF-0E87-D0582AAC98BB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WAYS IN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WAYS IN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encrypted vault, however you like to work.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910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surface hits the same core and writes the same audit log. None of them is a bypass.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011680"/>
            <a:ext cx="2036003" cy="1901952"/>
          </a:xfrm>
          <a:prstGeom prst="roundRect">
            <a:avLst>
              <a:gd name="adj" fmla="val 3365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 txBox="1"/>
          <p:nvPr/>
        </p:nvSpPr>
        <p:spPr>
          <a:xfrm>
            <a:off x="722376" y="2130552"/>
            <a:ext cx="17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" y="2340864"/>
            <a:ext cx="172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" y="2761488"/>
            <a:ext cx="172510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Set, get, run-with and deploy from the terminal. Scriptable, CI-friendly.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" y="3566160"/>
            <a:ext cx="172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set · get · run · list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22387" y="2011680"/>
            <a:ext cx="2036003" cy="1901952"/>
          </a:xfrm>
          <a:prstGeom prst="roundRect">
            <a:avLst>
              <a:gd name="adj" fmla="val 3365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 txBox="1"/>
          <p:nvPr/>
        </p:nvSpPr>
        <p:spPr>
          <a:xfrm>
            <a:off x="2977835" y="2130552"/>
            <a:ext cx="17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977835" y="2340864"/>
            <a:ext cx="172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77835" y="2761488"/>
            <a:ext cx="172510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console: type-aware forms, filters, deploy renderers, audit viewer.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977835" y="3566160"/>
            <a:ext cx="172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web → 127.0.0.1:8787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77846" y="2011680"/>
            <a:ext cx="2036003" cy="1901952"/>
          </a:xfrm>
          <a:prstGeom prst="roundRect">
            <a:avLst>
              <a:gd name="adj" fmla="val 3365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 txBox="1"/>
          <p:nvPr/>
        </p:nvSpPr>
        <p:spPr>
          <a:xfrm>
            <a:off x="5233294" y="2130552"/>
            <a:ext cx="17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233294" y="2340864"/>
            <a:ext cx="172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33294" y="2761488"/>
            <a:ext cx="172510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panels, keyboard-only. Browse, search, reveal and edit in the terminal.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233294" y="3566160"/>
            <a:ext cx="172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tui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33305" y="2011680"/>
            <a:ext cx="2036003" cy="1901952"/>
          </a:xfrm>
          <a:prstGeom prst="roundRect">
            <a:avLst>
              <a:gd name="adj" fmla="val 3365"/>
            </a:avLst>
          </a:prstGeom>
          <a:solidFill>
            <a:srgbClr val="1C1418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 txBox="1"/>
          <p:nvPr/>
        </p:nvSpPr>
        <p:spPr>
          <a:xfrm>
            <a:off x="7488753" y="2130552"/>
            <a:ext cx="17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488753" y="2340864"/>
            <a:ext cx="172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88753" y="2761488"/>
            <a:ext cx="172510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list names and inject values. Registered tokens only, quota-gated.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488753" y="3566160"/>
            <a:ext cx="172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agent register claude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88764" y="2011680"/>
            <a:ext cx="2036003" cy="1901952"/>
          </a:xfrm>
          <a:prstGeom prst="roundRect">
            <a:avLst>
              <a:gd name="adj" fmla="val 3365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Text 29"/>
          <p:cNvSpPr txBox="1"/>
          <p:nvPr/>
        </p:nvSpPr>
        <p:spPr>
          <a:xfrm>
            <a:off x="9744212" y="2130552"/>
            <a:ext cx="17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744212" y="2340864"/>
            <a:ext cx="172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744212" y="2761488"/>
            <a:ext cx="172510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a secret from the toolbar. Per-field copy, generator, three themes.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744212" y="3566160"/>
            <a:ext cx="172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chrome-extension</a:t>
            </a:r>
            <a:endParaRPr lang="en-US" sz="8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24528"/>
          <a:ext cx="11155680" cy="1485900"/>
        </p:xfrm>
        <a:graphic>
          <a:graphicData uri="http://schemas.openxmlformats.org/drawingml/2006/table">
            <a:tbl>
              <a:tblPr/>
              <a:tblGrid>
                <a:gridCol w="786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You want…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4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Reach for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Scripting, CI, piping into </a:t>
                      </a: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</a:t>
                      </a: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or </a:t>
                      </a: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deploy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 forms, filters, risk views, the audit viewer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UI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keyboard browsing without leaving the terminal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agent that uses secrets without seeing them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password or Wi-Fi key copied while you're in the browser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Chrome extension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5E31ED41-1726-7385-4FF1-61905A85A682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37" name="Shape 18">
              <a:extLst>
                <a:ext uri="{FF2B5EF4-FFF2-40B4-BE49-F238E27FC236}">
                  <a16:creationId xmlns:a16="http://schemas.microsoft.com/office/drawing/2014/main" id="{6E4FA4BE-5FF4-4DEA-C230-EABA932E045E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38" name="Text 19">
              <a:hlinkClick r:id="rId3"/>
              <a:extLst>
                <a:ext uri="{FF2B5EF4-FFF2-40B4-BE49-F238E27FC236}">
                  <a16:creationId xmlns:a16="http://schemas.microsoft.com/office/drawing/2014/main" id="{1419B524-D561-8F6C-5F0C-A37E11B2D1C3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WAYS IN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5843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01 · CLI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6172200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command, any secret, nothing printed.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6172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is the short alias for concealer — both names work identically. Every command takes a scope; an omitted dimension is a wildcard.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613119"/>
            <a:ext cx="6172200" cy="1773936"/>
          </a:xfrm>
          <a:prstGeom prst="roundRect">
            <a:avLst>
              <a:gd name="adj" fmla="val 3093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 txBox="1"/>
          <p:nvPr/>
        </p:nvSpPr>
        <p:spPr>
          <a:xfrm>
            <a:off x="713232" y="2713703"/>
            <a:ext cx="5879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--name OPENAI_API_KEY --project web --env prod </a:t>
            </a: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'sk-…'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--tags ai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 --type database --tenant acme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 --name OPENAI_API_KEY --project web --env prod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rotate --name OPENAI_API_KEY --project web   </a:t>
            </a: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32 random bytes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--project web --env prod npm run deploy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deploy --target k8s --project web --env prod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scan ./myrepo --history --envvars --import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audit verify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88223"/>
            <a:ext cx="6172200" cy="1465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4"/>
              </a:lnSpc>
              <a:spcAft>
                <a:spcPts val="400"/>
              </a:spcAft>
              <a:buNone/>
            </a:pPr>
            <a:r>
              <a:rPr lang="en-US" sz="82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2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auto-detect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come from the current git repo when you omit them.</a:t>
            </a:r>
            <a:endParaRPr lang="en-US" sz="920" dirty="0"/>
          </a:p>
          <a:p>
            <a:pPr marL="0" indent="0">
              <a:lnSpc>
                <a:spcPts val="1214"/>
              </a:lnSpc>
              <a:spcAft>
                <a:spcPts val="400"/>
              </a:spcAft>
              <a:buNone/>
            </a:pPr>
            <a:r>
              <a:rPr lang="en-US" sz="82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2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injection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secret becomes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PG_HOST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PG_PORT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PG_PASSWORD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…; an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becomes one variable.</a:t>
            </a:r>
            <a:endParaRPr lang="en-US" sz="920" dirty="0"/>
          </a:p>
          <a:p>
            <a:pPr marL="0" indent="0">
              <a:lnSpc>
                <a:spcPts val="1214"/>
              </a:lnSpc>
              <a:spcAft>
                <a:spcPts val="400"/>
              </a:spcAft>
              <a:buNone/>
            </a:pPr>
            <a:r>
              <a:rPr lang="en-US" sz="82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2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deploy targets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 · export · docker · json · k8s · aws-secrets · aws-ssm · github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Rendered to stdout; nothing is pushed for you.</a:t>
            </a:r>
            <a:endParaRPr lang="en-US" sz="920" dirty="0"/>
          </a:p>
          <a:p>
            <a:pPr marL="0" indent="0">
              <a:lnSpc>
                <a:spcPts val="1214"/>
              </a:lnSpc>
              <a:spcAft>
                <a:spcPts val="400"/>
              </a:spcAft>
              <a:buNone/>
            </a:pPr>
            <a:r>
              <a:rPr lang="en-US" sz="82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2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rails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</a:t>
            </a: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refuse an ambiguous scope rather than guess.</a:t>
            </a:r>
            <a:endParaRPr lang="en-US" sz="920" dirty="0"/>
          </a:p>
        </p:txBody>
      </p:sp>
      <p:pic>
        <p:nvPicPr>
          <p:cNvPr id="13" name="Image 0" descr="img/cli-term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2613119"/>
            <a:ext cx="4428439" cy="265706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6CA01EF-99E5-42CF-D76F-03B08C30CB0F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5" name="Shape 18">
              <a:extLst>
                <a:ext uri="{FF2B5EF4-FFF2-40B4-BE49-F238E27FC236}">
                  <a16:creationId xmlns:a16="http://schemas.microsoft.com/office/drawing/2014/main" id="{D8EF21A4-7353-FC4C-3FEE-748C55F898AF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6" name="Text 19">
              <a:hlinkClick r:id="rId4"/>
              <a:extLst>
                <a:ext uri="{FF2B5EF4-FFF2-40B4-BE49-F238E27FC236}">
                  <a16:creationId xmlns:a16="http://schemas.microsoft.com/office/drawing/2014/main" id="{ABCADCC4-E12B-D2CF-9448-7EB8C88ED3A5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WAYS IN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5150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02 · WEB UI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479999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professional console that never leaves localhost.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54799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web serves a single-page app and a JSON API on 127.0.0.1 only. Single-user, unlocked with the master password.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13119"/>
            <a:ext cx="5479999" cy="351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TR / EN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throughout, with Dark · Light · Matrix themes and a responsive phone/tablet layout.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Type-aware CRUD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each of the 15 types renders exactly the fields it needs; secret fields are stored masked.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multi-select filters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type, tenant, project, environment, repo and tags; sortable and reorderable columns, including any custom field as its own column.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Per-secret Deploy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render the exact CLI or manifest for eight targets, right from the row.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Clipboard copy with auto-clear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 s), show/hide toggle, and a hard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auto-lock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(300 s by default).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· Policy · Scan folder · Audit · Settings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first-class tabs.</a:t>
            </a:r>
            <a:endParaRPr lang="en-US" sz="1180" dirty="0"/>
          </a:p>
        </p:txBody>
      </p:sp>
      <p:pic>
        <p:nvPicPr>
          <p:cNvPr id="11" name="Image 0" descr="img/app-secre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127" y="1493520"/>
            <a:ext cx="5120640" cy="3413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504127" y="50170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searchable, scoped home for every credential — typed, tagged, masked, and disambiguated by tenant / project / environment / repo.</a:t>
            </a:r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E0B360-4955-A776-0AAC-2307E2BF6C0C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A76E785B-9E88-ED3B-0B98-EA24D297A149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5" name="Text 19">
              <a:hlinkClick r:id="rId4"/>
              <a:extLst>
                <a:ext uri="{FF2B5EF4-FFF2-40B4-BE49-F238E27FC236}">
                  <a16:creationId xmlns:a16="http://schemas.microsoft.com/office/drawing/2014/main" id="{A795828E-7EF8-1449-CC3D-646935416324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WAYS IN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5150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02A · RISKS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479999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weak, stale, reused and already-leaked.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54799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sub-views — and not one of them sends a secret value anywhere.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439383"/>
            <a:ext cx="5479999" cy="3687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health dashboard: expired, expiring soon, rotation overdue, high-risk reuse, most used — each with how far past due it is.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Finds the same value under more than one record and scores the blast radius. If it leaks, everything sharing it is exposed at once.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Scans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history for credentials typed in the clear. Import them, then purge the lines.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HIBP Pwned Passwords via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k-anonymity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only the first 5 hex characters of a SHA-1 leave the machine. Plus email breach lookup and a git-history / tracked-files / logs scan with a generated cleanup guide.</a:t>
            </a:r>
            <a:endParaRPr lang="en-US" sz="1180" dirty="0"/>
          </a:p>
        </p:txBody>
      </p:sp>
      <p:pic>
        <p:nvPicPr>
          <p:cNvPr id="11" name="Image 0" descr="img/app-ris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127" y="868680"/>
            <a:ext cx="4792337" cy="2651760"/>
          </a:xfrm>
          <a:prstGeom prst="rect">
            <a:avLst/>
          </a:prstGeom>
        </p:spPr>
      </p:pic>
      <p:pic>
        <p:nvPicPr>
          <p:cNvPr id="12" name="Image 1" descr="img/app-risks-reu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127" y="3739896"/>
            <a:ext cx="5120640" cy="13245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04127" y="5174163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Reused values, scored by blast radius. concealer never runs history-rewriting commands — it writes out the steps for you.</a:t>
            </a:r>
            <a:endParaRPr lang="en-US" sz="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6E0299-FEAA-75CD-2760-92CD01A91103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5" name="Shape 18">
              <a:extLst>
                <a:ext uri="{FF2B5EF4-FFF2-40B4-BE49-F238E27FC236}">
                  <a16:creationId xmlns:a16="http://schemas.microsoft.com/office/drawing/2014/main" id="{10AEE5A2-9973-7988-1B48-B7F516425F81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6" name="Text 19">
              <a:hlinkClick r:id="rId5"/>
              <a:extLst>
                <a:ext uri="{FF2B5EF4-FFF2-40B4-BE49-F238E27FC236}">
                  <a16:creationId xmlns:a16="http://schemas.microsoft.com/office/drawing/2014/main" id="{23BF8A75-B92B-A544-5258-61E70A44CF9A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WAYS IN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02B · POLICY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669280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rules, enforced — and the agent gate.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566928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reminder rules, see exactly which secrets violate them, and bulk-fix the violators. Each rule carries a target audience: user · agent · cli · web · tui · mcp · all.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828003"/>
          <a:ext cx="5577840" cy="1630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Rule kind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Flags a secret when…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has no rotation policy, is overdue, or its interval exceeds your maximum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Expiry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is expired, expiring within N days, or missing an expiry field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value is shared with another record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name doesn't match a regex you provide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Tagging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is missing tags you require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5159723"/>
            <a:ext cx="5669280" cy="786384"/>
          </a:xfrm>
          <a:prstGeom prst="roundRect">
            <a:avLst>
              <a:gd name="adj" fmla="val 6977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9"/>
          <p:cNvSpPr txBox="1"/>
          <p:nvPr/>
        </p:nvSpPr>
        <p:spPr>
          <a:xfrm>
            <a:off x="713232" y="5260307"/>
            <a:ext cx="5376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1"/>
              </a:lnSpc>
              <a:buNone/>
            </a:pPr>
            <a:r>
              <a:rPr lang="en-US" sz="9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policy list</a:t>
            </a:r>
            <a:endParaRPr lang="en-US" sz="950" dirty="0"/>
          </a:p>
          <a:p>
            <a:pPr marL="0" indent="0">
              <a:lnSpc>
                <a:spcPts val="1501"/>
              </a:lnSpc>
              <a:buNone/>
            </a:pPr>
            <a:r>
              <a:rPr lang="en-US" sz="9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policy check   </a:t>
            </a:r>
            <a:r>
              <a:rPr lang="en-US" sz="95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non-zero exit on any violation — cron- and CI-friendly</a:t>
            </a:r>
            <a:endParaRPr lang="en-US" sz="950" dirty="0"/>
          </a:p>
        </p:txBody>
      </p:sp>
      <p:pic>
        <p:nvPicPr>
          <p:cNvPr id="13" name="Image 0" descr="img/app-polic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828003"/>
            <a:ext cx="4931359" cy="2896352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6693408" y="5834083"/>
            <a:ext cx="49313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— rules, violation lists, bulk-fix, notifications, and the per-agent MCP access limits.</a:t>
            </a:r>
            <a:endParaRPr lang="en-US" sz="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3EF287-7D94-8195-6BF3-0D42AF1A6138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89DD5FA5-6B5D-4566-7B89-BA25F5BCDD7E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 19">
              <a:hlinkClick r:id="rId4"/>
              <a:extLst>
                <a:ext uri="{FF2B5EF4-FFF2-40B4-BE49-F238E27FC236}">
                  <a16:creationId xmlns:a16="http://schemas.microsoft.com/office/drawing/2014/main" id="{51435759-13A9-CE8E-C4EA-9EB6AE4B46BD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WAYS IN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5150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03 · TUI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479999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vault, keyboard only.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54799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panels — Filters, Secrets, Details. Browse, search, reveal, copy and edit without leaving the shell.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13119"/>
            <a:ext cx="5479999" cy="351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Vim-style navigation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panels,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jump.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search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clears every filter.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per field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 record, or pick a single field in Details. Copy value, username or url with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Clipboard auto-clears after 45 s.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There is no paste — to put a value in, use add/edit.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toggles TR/EN, </a:t>
            </a: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the shortcut table in-app.</a:t>
            </a:r>
            <a:endParaRPr lang="en-US" sz="1180" dirty="0"/>
          </a:p>
          <a:p>
            <a:pPr marL="0" indent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bypass</a:t>
            </a: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reveal, create, update and delete is audited with its source.</a:t>
            </a:r>
            <a:endParaRPr lang="en-US" sz="1180" dirty="0"/>
          </a:p>
        </p:txBody>
      </p:sp>
      <p:pic>
        <p:nvPicPr>
          <p:cNvPr id="11" name="Image 0" descr="img/tui-secre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127" y="1541313"/>
            <a:ext cx="5120640" cy="331817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504127" y="4969215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TUI — filters, secret list and details, with masking that follows the same rules as everywhere else.</a:t>
            </a:r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728393-6B1D-9B67-FB49-49D997CBB984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AA7BE1FD-050F-C815-B0AA-D3C918E15606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5" name="Text 19">
              <a:hlinkClick r:id="rId4"/>
              <a:extLst>
                <a:ext uri="{FF2B5EF4-FFF2-40B4-BE49-F238E27FC236}">
                  <a16:creationId xmlns:a16="http://schemas.microsoft.com/office/drawing/2014/main" id="{8CDF3173-D9E5-49B4-8EBA-7A03990FAA0B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WAYS IN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6437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05 · CHROME EXTENSION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a secret from the toolbar.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91056"/>
            <a:ext cx="6766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 popover over your local vault. It talks only to 127.0.0.1 — no cloud, no account, no telemetry. On the Chrome Web Store.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185416"/>
            <a:ext cx="676656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Per-field copy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multi-field secrets expand into child rows; copy or reveal exactly the field you need.</a:t>
            </a:r>
            <a:endParaRPr lang="en-US" sz="1130" dirty="0"/>
          </a:p>
          <a:p>
            <a:pPr marL="0" indent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server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popup starts </a:t>
            </a:r>
            <a:r>
              <a:rPr lang="en-US" sz="113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 web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you open it and self-exits after 15 min idle. Nothing lingers.</a:t>
            </a:r>
            <a:endParaRPr lang="en-US" sz="1130" dirty="0"/>
          </a:p>
          <a:p>
            <a:pPr marL="0" indent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Auto-lock countdown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header, blinking as it runs out; clipboard auto-clears; values are never logged.</a:t>
            </a:r>
            <a:endParaRPr lang="en-US" sz="1130" dirty="0"/>
          </a:p>
          <a:p>
            <a:pPr marL="0" indent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 Generator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strong passwords, hex, base64url, UUID. Works before you unlock.</a:t>
            </a:r>
            <a:endParaRPr lang="en-US" sz="1130" dirty="0"/>
          </a:p>
          <a:p>
            <a:pPr marL="0" indent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themes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Dark · White · Matrix, matching the web console.</a:t>
            </a:r>
            <a:endParaRPr lang="en-US" sz="1130" dirty="0"/>
          </a:p>
          <a:p>
            <a:pPr marL="0" indent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native helper ships inside concealer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13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 native-host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</a:t>
            </a:r>
            <a:r>
              <a:rPr lang="en-US" sz="113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chrome-extension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registers it, once per machine.</a:t>
            </a:r>
            <a:endParaRPr lang="en-US" sz="1130" dirty="0"/>
          </a:p>
        </p:txBody>
      </p:sp>
      <p:pic>
        <p:nvPicPr>
          <p:cNvPr id="11" name="Image 0" descr="img/ext-fiel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185416"/>
            <a:ext cx="1798168" cy="112385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90688" y="3400711"/>
            <a:ext cx="179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Per-field copy for multi-field secrets.</a:t>
            </a:r>
            <a:endParaRPr lang="en-US" sz="800" dirty="0"/>
          </a:p>
        </p:txBody>
      </p:sp>
      <p:pic>
        <p:nvPicPr>
          <p:cNvPr id="13" name="Image 1" descr="img/ext-matri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6600" y="2185416"/>
            <a:ext cx="1798168" cy="112385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826600" y="3400711"/>
            <a:ext cx="179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theme.</a:t>
            </a:r>
            <a:endParaRPr lang="en-US" sz="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73294F-3F76-6996-2E36-8EE32BC10867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18A4F276-A617-3FBB-43FF-1149BB1CD14E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 19">
              <a:hlinkClick r:id="rId5"/>
              <a:extLst>
                <a:ext uri="{FF2B5EF4-FFF2-40B4-BE49-F238E27FC236}">
                  <a16:creationId xmlns:a16="http://schemas.microsoft.com/office/drawing/2014/main" id="{DAC42907-3701-1C26-A810-9E43B82470BF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6437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 MODEL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6766560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secrets, four-dimension scope.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6766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credential is not a string. Each type renders exactly the inputs it needs, and secret fields are stored masked and revealed only on demand — audited.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613119"/>
            <a:ext cx="6766560" cy="786384"/>
          </a:xfrm>
          <a:prstGeom prst="roundRect">
            <a:avLst>
              <a:gd name="adj" fmla="val 697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 txBox="1"/>
          <p:nvPr/>
        </p:nvSpPr>
        <p:spPr>
          <a:xfrm>
            <a:off x="713232" y="2704559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03374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TYPES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58568" y="2667983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 txBox="1"/>
          <p:nvPr/>
        </p:nvSpPr>
        <p:spPr>
          <a:xfrm>
            <a:off x="2404872" y="2704559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2404872" y="303374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DIMENSIONS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950208" y="2667983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 txBox="1"/>
          <p:nvPr/>
        </p:nvSpPr>
        <p:spPr>
          <a:xfrm>
            <a:off x="4096512" y="2704559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303374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TARGETS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41848" y="2667983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8"/>
          <p:cNvSpPr txBox="1"/>
          <p:nvPr/>
        </p:nvSpPr>
        <p:spPr>
          <a:xfrm>
            <a:off x="5788152" y="2704559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5788152" y="303374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 TYPES, BY DESIGN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637247"/>
            <a:ext cx="6766560" cy="248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types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113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· access_token · oauth · jwt · ssh_key · certificate · database · server · website · login · pin · wifi · membership · secure_note · custom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30" dirty="0"/>
          </a:p>
          <a:p>
            <a:pPr marL="0" indent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 is record-aware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resolved in order: per-field override → type template → field-name heuristic → value heuristic (a </a:t>
            </a:r>
            <a:r>
              <a:rPr lang="en-US" sz="113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scheme://user:pass@host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DSN is masked even in a plain field).</a:t>
            </a:r>
            <a:endParaRPr lang="en-US" sz="1130" dirty="0"/>
          </a:p>
          <a:p>
            <a:pPr marL="0" indent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tenant / project / environment / repo.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empty dimension is a wildcard; the most-specific match wins at inject time.</a:t>
            </a:r>
            <a:endParaRPr lang="en-US" sz="1130" dirty="0"/>
          </a:p>
          <a:p>
            <a:pPr marL="0" indent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PII by design</a:t>
            </a: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there are deliberately no credit-card, passport or national-ID types. This is a machine-and-account credential vault.</a:t>
            </a:r>
            <a:endParaRPr lang="en-US" sz="1130" dirty="0"/>
          </a:p>
        </p:txBody>
      </p:sp>
      <p:pic>
        <p:nvPicPr>
          <p:cNvPr id="23" name="Image 0" descr="img/secret-ty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2613119"/>
            <a:ext cx="1798168" cy="2101473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790688" y="4806032"/>
            <a:ext cx="179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type picker.</a:t>
            </a:r>
            <a:endParaRPr lang="en-US" sz="800" dirty="0"/>
          </a:p>
        </p:txBody>
      </p:sp>
      <p:pic>
        <p:nvPicPr>
          <p:cNvPr id="25" name="Image 1" descr="img/secrets-d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6600" y="2613119"/>
            <a:ext cx="1798168" cy="1995403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826600" y="4699962"/>
            <a:ext cx="179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database secret's form.</a:t>
            </a:r>
            <a:endParaRPr lang="en-US" sz="8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758DA51-48E5-B911-847A-14970EC374D8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28" name="Shape 18">
              <a:extLst>
                <a:ext uri="{FF2B5EF4-FFF2-40B4-BE49-F238E27FC236}">
                  <a16:creationId xmlns:a16="http://schemas.microsoft.com/office/drawing/2014/main" id="{8AE71D90-BA83-3ACA-FE42-316181555C54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29" name="Text 19">
              <a:hlinkClick r:id="rId5"/>
              <a:extLst>
                <a:ext uri="{FF2B5EF4-FFF2-40B4-BE49-F238E27FC236}">
                  <a16:creationId xmlns:a16="http://schemas.microsoft.com/office/drawing/2014/main" id="{B520C53D-DAEF-9F5B-838A-0138F37D8F9E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IT'S FOR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23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132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/ Platform Engineer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280160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pipelines and the blast radius. Needs secrets out of .env files, out of shell history, out of CI logs — and a gate that fails the build when they creep back in.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PAIN TODAY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 txBox="1"/>
          <p:nvPr/>
        </p:nvSpPr>
        <p:spPr>
          <a:xfrm>
            <a:off x="566928" y="2276856"/>
            <a:ext cx="3442106" cy="301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dozen repos each carrying their own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all with a key called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no way to tell them apart.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AWS_SECRET_ACCESS_KEY=…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sitting in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~/.zsh_history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clear.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key was committed six months ago and nobody knows which repos still carry it.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 of who read which credential, or when.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laptop = chasing credentials in Slack threads.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4374794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THEY USE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4794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 txBox="1"/>
          <p:nvPr/>
        </p:nvSpPr>
        <p:spPr>
          <a:xfrm>
            <a:off x="4374794" y="2276856"/>
            <a:ext cx="3442106" cy="301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run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injects the scoped secrets into a child process and redacts them from its output. Nothing lands in the shell.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deploy --target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renders to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 · export · docker · k8s · json · aws-secrets · aws-ssm · github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Nothing is pushed; you pipe it.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scan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sweeps a folder, shell history and live env vars, then imports what it finds tagged by origin.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policy check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exits non-zero on any violation. Drop it in cron, a pre-commit hook or CI.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gitscan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pickaxes git history and tracked files for vault values, then writes a cleanup guide (it never rewrites history for you).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audit verify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recomputes the HMAC chain and the tail anchor.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8182661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THEY GET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82661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 txBox="1"/>
          <p:nvPr/>
        </p:nvSpPr>
        <p:spPr>
          <a:xfrm>
            <a:off x="8182661" y="2276856"/>
            <a:ext cx="3442106" cy="301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never reach the terminal, the transcript or the log.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is auto-detected from the git repo —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--repo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--project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fill themselves in.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Most-specific scope wins at inject time: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acme/proj-a/prod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beats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proj-a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beats global.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 to run, patch or pay for.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vault is an encrypted SOPS file — it diffs and versions next to the code.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66928" y="5545836"/>
            <a:ext cx="11057839" cy="690372"/>
          </a:xfrm>
          <a:prstGeom prst="roundRect">
            <a:avLst>
              <a:gd name="adj" fmla="val 7947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 txBox="1"/>
          <p:nvPr/>
        </p:nvSpPr>
        <p:spPr>
          <a:xfrm>
            <a:off x="713232" y="5646420"/>
            <a:ext cx="10765231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command, scoped, nothing printed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--project web --env prod npm run deploy</a:t>
            </a:r>
            <a:endParaRPr lang="en-US" sz="9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ED50427-6EF5-91B1-D072-76A22D7F111F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7FA64A11-4CAD-7460-9C1B-BB6A93F69F6B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21" name="Text 19">
              <a:hlinkClick r:id="rId3"/>
              <a:extLst>
                <a:ext uri="{FF2B5EF4-FFF2-40B4-BE49-F238E27FC236}">
                  <a16:creationId xmlns:a16="http://schemas.microsoft.com/office/drawing/2014/main" id="{E902AF15-011B-CF1B-1949-E51596088357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IT'S FOR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23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132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 / Solution Architect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280160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demos, PoCs and pilots across many customers and three clouds. Has to defend the design in a security review — and hand the whole thing over without standing up a server.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PAIN TODAY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 txBox="1"/>
          <p:nvPr/>
        </p:nvSpPr>
        <p:spPr>
          <a:xfrm>
            <a:off x="566928" y="2276856"/>
            <a:ext cx="34421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credentials for a PoC mixed in with personal and internal keys.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clouds, a dozen tenants, four environments — one flat namespace can't express that.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review asks "where does this credential go?" and the honest answer is a shrug.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up Vault for a two-week PoC is absurd; a SaaS vault means procurement and a DPA.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vault is tied to one laptop's Keychain, so the handover is a rebuild.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4374794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THEY USE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4794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 txBox="1"/>
          <p:nvPr/>
        </p:nvSpPr>
        <p:spPr>
          <a:xfrm>
            <a:off x="4374794" y="2276856"/>
            <a:ext cx="34421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/ project / environment / repo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taxonomy — the same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exists once per customer and stage without name mangling.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console: type-aware forms, multi-select filters, sortable columns, per-secret deploy renderers.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threat-model table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ceilings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review artefacts — including what the tool does </a:t>
            </a:r>
            <a:r>
              <a:rPr lang="en-US" sz="980" i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protect.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export / import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password-protected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.cerbak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bundle to hand to the customer.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copy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secrets.enc.yaml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keys/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type the master password on the new machine. No TPM, no Keychain, no re-key.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matrix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build-vs-buy conversation.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8182661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THEY GET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82661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 txBox="1"/>
          <p:nvPr/>
        </p:nvSpPr>
        <p:spPr>
          <a:xfrm>
            <a:off x="8182661" y="2276856"/>
            <a:ext cx="34421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server, no container, no cloud tenant, no procurement —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there is a vault.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is delegated to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(CNCF) and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AES-256-GCM over X25519. Nothing home-grown.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readable MIT-licensed Python script a customer's security team can actually read.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copied folder is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inert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without the master password or a recovery code.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PII types by design — this is a machine-credential vault, not an identity store.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66928" y="5184648"/>
            <a:ext cx="11057839" cy="1051560"/>
          </a:xfrm>
          <a:prstGeom prst="roundRect">
            <a:avLst>
              <a:gd name="adj" fmla="val 5217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 txBox="1"/>
          <p:nvPr/>
        </p:nvSpPr>
        <p:spPr>
          <a:xfrm>
            <a:off x="713232" y="5285232"/>
            <a:ext cx="10765231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dimensions, one name, no collisions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--name MAIN_DB --type database </a:t>
            </a: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--tenant acme --project billing --env prod </a:t>
            </a: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host=db.acme.io port=5432 database=billing username=svc password=</a:t>
            </a: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'…'</a:t>
            </a:r>
            <a:endParaRPr lang="en-US" sz="9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F6B0502-403A-7230-4BF9-A2AA1D6F4CB8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453FA15A-F241-F2BA-B791-4C1469104D2F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21" name="Text 19">
              <a:hlinkClick r:id="rId3"/>
              <a:extLst>
                <a:ext uri="{FF2B5EF4-FFF2-40B4-BE49-F238E27FC236}">
                  <a16:creationId xmlns:a16="http://schemas.microsoft.com/office/drawing/2014/main" id="{0BCD5265-38DF-CDC2-72EF-12690D3AC2FD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IT'S FOR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23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132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User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280160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DevOps engineer. Has Wi-Fi passwords, door PINs, logins and a couple of API keys — and wants none of it in a notes app, a browser profile or someone else's cloud.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PAIN TODAY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 txBox="1"/>
          <p:nvPr/>
        </p:nvSpPr>
        <p:spPr>
          <a:xfrm>
            <a:off x="566928" y="2276856"/>
            <a:ext cx="3442106" cy="2832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in a notes file, a spreadsheet, or the browser's password manager.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password reused across half a dozen sites, with no idea which ones have leaked.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$3–12 a month subscription, and an account on someone else's server.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the master password means losing everything.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4374794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THEY USE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4794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 txBox="1"/>
          <p:nvPr/>
        </p:nvSpPr>
        <p:spPr>
          <a:xfrm>
            <a:off x="4374794" y="2276856"/>
            <a:ext cx="3442106" cy="2832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extension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click the toolbar icon, unlock, copy. Multi-field secrets expand so you copy exactly the field you need.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127.0.0.1:8787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fully bilingual TR/EN, with forms for </a:t>
            </a: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 · pin · login · website · membership · secure_note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 Generate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strong passwords, hex, base64url or a UUID — one click to copy.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→ Exposure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check a value against HIBP Pwned Passwords, and an address against HIBP breaches.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recovery codes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printed at setup — any one of them gets you back in.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8182661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THEY GET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82661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 txBox="1"/>
          <p:nvPr/>
        </p:nvSpPr>
        <p:spPr>
          <a:xfrm>
            <a:off x="8182661" y="2276856"/>
            <a:ext cx="3442106" cy="2832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account, no subscription, no sync server. Nothing leaves the machine.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Clipboard auto-clears after 20 s; the session auto-locks on idle (300 s by default).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 checks use </a:t>
            </a: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k-anonymity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only the first 5 hex characters of a SHA-1 ever leave the box.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themes (Dark · White · Matrix) and a Turkish interface throughout.</a:t>
            </a:r>
            <a:endParaRPr lang="en-US" sz="980" dirty="0"/>
          </a:p>
          <a:p>
            <a:pPr marL="0" indent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limits: no mobile app and no browser autofill — the copy button is the workflow.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66928" y="5365242"/>
            <a:ext cx="11057839" cy="870966"/>
          </a:xfrm>
          <a:prstGeom prst="roundRect">
            <a:avLst>
              <a:gd name="adj" fmla="val 6299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 txBox="1"/>
          <p:nvPr/>
        </p:nvSpPr>
        <p:spPr>
          <a:xfrm>
            <a:off x="713232" y="5465826"/>
            <a:ext cx="10765231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whole setup, once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chrome-extension     </a:t>
            </a: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register the native helper (one time per machine)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                   </a:t>
            </a: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just click the toolbar icon</a:t>
            </a:r>
            <a:endParaRPr lang="en-US" sz="9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92866A7-7CC2-2592-D7D5-F72EF23ECC6E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34A79B26-B0F9-FE8F-4F13-F0386EAA070D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21" name="Text 19">
              <a:hlinkClick r:id="rId3"/>
              <a:extLst>
                <a:ext uri="{FF2B5EF4-FFF2-40B4-BE49-F238E27FC236}">
                  <a16:creationId xmlns:a16="http://schemas.microsoft.com/office/drawing/2014/main" id="{96A11D23-CE91-EB08-13AA-07DF209B01C7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MARKET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CONCEALER COMPARES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Local-only, zero-infra, agent-native — the gap the other three markets leave open.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6869887" y="713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yes    ~ partial    ✕ no    ★ only concealer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1275"/>
          <a:ext cx="11057840" cy="344525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3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3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Capability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FFD4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concealer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1Password / Bitwarden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HashiCorp Vault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Doppler / Infisical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SOPS + age (raw)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 / gopass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secretctl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Local, single file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 / HCP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 (or self-host)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Local, single binary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or daemon needed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none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server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none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(MIT)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$3–12 / user / mo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OSS / $$$ ent.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tiers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Git-versionable vault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values encrypted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SQLite blob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Typed secrets (db / api / ssh…) ★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templates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item types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4-dimension scoping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tenant/proj/env/repo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vaults, tags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paths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envs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dirs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wildcards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Tamper-evident audit log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HMAC + anchor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cloud logs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git log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HMAC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MCP-native for AI agents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gate + quota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SDK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SDK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MCP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Per-agent exfiltration quotas ★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policy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fully offline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cache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/ leased secrets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Multi-user / RBAC / SSO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single-owner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recipients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keys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app / autofill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66928" y="60533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75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Condensed from the full 22-row matrix at concealer.fxerkan.com/comparison. Pricing figures are indicative 2026 list prices — order-of-magnitude, not quotes.</a:t>
            </a:r>
            <a:endParaRPr lang="en-US" sz="7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BB203EF-F362-1064-FDF7-836074246F14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2" name="Shape 18">
              <a:extLst>
                <a:ext uri="{FF2B5EF4-FFF2-40B4-BE49-F238E27FC236}">
                  <a16:creationId xmlns:a16="http://schemas.microsoft.com/office/drawing/2014/main" id="{0790630C-7978-6AFB-FAF8-B0B27A7DDEFC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3" name="Text 19">
              <a:hlinkClick r:id="rId3"/>
              <a:extLst>
                <a:ext uri="{FF2B5EF4-FFF2-40B4-BE49-F238E27FC236}">
                  <a16:creationId xmlns:a16="http://schemas.microsoft.com/office/drawing/2014/main" id="{2B4574DE-7FA2-214D-82AD-A1A955DF3399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MARKET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HONEST SCORECARD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concealer wins — and where you should use something else.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36192"/>
            <a:ext cx="530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WINS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1792224"/>
            <a:ext cx="5300320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 txBox="1"/>
          <p:nvPr/>
        </p:nvSpPr>
        <p:spPr>
          <a:xfrm>
            <a:off x="566928" y="1993392"/>
            <a:ext cx="530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infrastructure.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server, container, cloud tenant or daemon. </a:t>
            </a:r>
            <a:r>
              <a:rPr lang="en-US" sz="10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you have a vault.</a:t>
            </a:r>
            <a:endParaRPr lang="en-US" sz="1080" dirty="0"/>
          </a:p>
          <a:p>
            <a:pPr marL="0" indent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Git-native.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encrypted YAML file that diffs and versions in the same repo as the code.</a:t>
            </a:r>
            <a:endParaRPr lang="en-US" sz="1080" dirty="0"/>
          </a:p>
          <a:p>
            <a:pPr marL="0" indent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Agent-first.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only tool in the matrix with an MCP server designed around AI-agent threat models: registration gate, per-agent exfiltration quotas, redacted output.</a:t>
            </a:r>
            <a:endParaRPr lang="en-US" sz="1080" dirty="0"/>
          </a:p>
          <a:p>
            <a:pPr marL="0" indent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by design.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HMAC chain plus a head anchor that catches tail-truncation — no cloud audit pipeline required.</a:t>
            </a:r>
            <a:endParaRPr lang="en-US" sz="1080" dirty="0"/>
          </a:p>
          <a:p>
            <a:pPr marL="0" indent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 telemetry, one file to read.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 with trusting a proprietary cloud vault — see the 2022 LastPass breach.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6324448" y="1536192"/>
            <a:ext cx="530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DOESN'T — USE SOMETHING ELSE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24448" y="1792224"/>
            <a:ext cx="5300320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 txBox="1"/>
          <p:nvPr/>
        </p:nvSpPr>
        <p:spPr>
          <a:xfrm>
            <a:off x="6324448" y="1993392"/>
            <a:ext cx="530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Teams.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SSO, no RBAC, no per-user sharing. It is a single-owner vault. → 1Password / Bitwarden / Vault.</a:t>
            </a:r>
            <a:endParaRPr lang="en-US" sz="1080" dirty="0"/>
          </a:p>
          <a:p>
            <a:pPr marL="0" indent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secrets and leases.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short-lived DB credentials minted on demand. → HashiCorp Vault.</a:t>
            </a:r>
            <a:endParaRPr lang="en-US" sz="1080" dirty="0"/>
          </a:p>
          <a:p>
            <a:pPr marL="0" indent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rotation and a CI/CD sync fabric.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Rotation is manual. → Doppler / Infisical.</a:t>
            </a:r>
            <a:endParaRPr lang="en-US" sz="1080" dirty="0"/>
          </a:p>
          <a:p>
            <a:pPr marL="0" indent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UX.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mobile app, no browser autofill, no passkeys. → 1Password / Bitwarden / Keeper.</a:t>
            </a:r>
            <a:endParaRPr lang="en-US" sz="1080" dirty="0"/>
          </a:p>
          <a:p>
            <a:pPr marL="0" indent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compliance attestations.</a:t>
            </a: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FedRAMP or SOC 2 — those are earned by the entity operating a tool, not shipped by the tool. → Keeper / Vault / cloud KMS.</a:t>
            </a:r>
            <a:endParaRPr lang="en-US" sz="108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34256"/>
          <a:ext cx="11155680" cy="1732280"/>
        </p:xfrm>
        <a:graphic>
          <a:graphicData uri="http://schemas.openxmlformats.org/drawingml/2006/table">
            <a:tbl>
              <a:tblPr/>
              <a:tblGrid>
                <a:gridCol w="768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you need…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D4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Reach for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personal or single-dev vault with no server, versioned in git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concealer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secret access for local AI agents and MCP clients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concealer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just encrypt a config file in a repo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concealer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sharing, SSO, mobile autofill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1Password / Bitwarden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DB credentials, leases, encryption-as-a-service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HashiCorp Vault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 multi-environment secrets synced into CI/CD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Doppler / Infisical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E29EB303-E3D5-3ABC-E485-75B290734500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16" name="Shape 18">
              <a:extLst>
                <a:ext uri="{FF2B5EF4-FFF2-40B4-BE49-F238E27FC236}">
                  <a16:creationId xmlns:a16="http://schemas.microsoft.com/office/drawing/2014/main" id="{5ACFCED5-7E97-55AC-1ECD-53AC7630F247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7" name="Text 19">
              <a:hlinkClick r:id="rId3"/>
              <a:extLst>
                <a:ext uri="{FF2B5EF4-FFF2-40B4-BE49-F238E27FC236}">
                  <a16:creationId xmlns:a16="http://schemas.microsoft.com/office/drawing/2014/main" id="{7A6547F5-E5C2-08A6-AFBB-468CBE39E254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START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and running in about a minute.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91056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package manager — each one pulls in the sops and age binaries concealer wraps. Then init once: it prints 8 recovery codes and a starter token, and removes the plaintext age key from disk.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130552"/>
            <a:ext cx="3503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· HOMEBREW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386584"/>
            <a:ext cx="350306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hape 10"/>
          <p:cNvSpPr/>
          <p:nvPr/>
        </p:nvSpPr>
        <p:spPr>
          <a:xfrm>
            <a:off x="566928" y="2569464"/>
            <a:ext cx="3503066" cy="1412748"/>
          </a:xfrm>
          <a:prstGeom prst="roundRect">
            <a:avLst>
              <a:gd name="adj" fmla="val 3883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 txBox="1"/>
          <p:nvPr/>
        </p:nvSpPr>
        <p:spPr>
          <a:xfrm>
            <a:off x="713232" y="2670048"/>
            <a:ext cx="321045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pulls in sops, age, expect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install fxerkan/tap/concealer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"$(cer unlock)"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344314" y="2130552"/>
            <a:ext cx="3503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· PIPX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4314" y="2386584"/>
            <a:ext cx="350306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Shape 14"/>
          <p:cNvSpPr/>
          <p:nvPr/>
        </p:nvSpPr>
        <p:spPr>
          <a:xfrm>
            <a:off x="4344314" y="2569464"/>
            <a:ext cx="3503066" cy="1412748"/>
          </a:xfrm>
          <a:prstGeom prst="roundRect">
            <a:avLst>
              <a:gd name="adj" fmla="val 3883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 txBox="1"/>
          <p:nvPr/>
        </p:nvSpPr>
        <p:spPr>
          <a:xfrm>
            <a:off x="4490618" y="2670048"/>
            <a:ext cx="321045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pipx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install concealer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apt install sops age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"$(cer unlock)"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121701" y="2130552"/>
            <a:ext cx="3503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· SCOOP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21701" y="2386584"/>
            <a:ext cx="350306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Shape 18"/>
          <p:cNvSpPr/>
          <p:nvPr/>
        </p:nvSpPr>
        <p:spPr>
          <a:xfrm>
            <a:off x="8121701" y="2569464"/>
            <a:ext cx="3503066" cy="1412748"/>
          </a:xfrm>
          <a:prstGeom prst="roundRect">
            <a:avLst>
              <a:gd name="adj" fmla="val 3883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 txBox="1"/>
          <p:nvPr/>
        </p:nvSpPr>
        <p:spPr>
          <a:xfrm>
            <a:off x="8268005" y="2670048"/>
            <a:ext cx="321045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scoop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bucket add fxerkan </a:t>
            </a: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https://github.com/fxerkan/scoop-bucket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scoop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install concealer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CONCEALER_TOKEN = </a:t>
            </a: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"…"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3845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UP AN AGENT — TWO LINES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4640580"/>
            <a:ext cx="5852160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hape 22"/>
          <p:cNvSpPr/>
          <p:nvPr/>
        </p:nvSpPr>
        <p:spPr>
          <a:xfrm>
            <a:off x="566928" y="4768596"/>
            <a:ext cx="5852160" cy="870966"/>
          </a:xfrm>
          <a:prstGeom prst="roundRect">
            <a:avLst>
              <a:gd name="adj" fmla="val 6299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 txBox="1"/>
          <p:nvPr/>
        </p:nvSpPr>
        <p:spPr>
          <a:xfrm>
            <a:off x="713232" y="4869180"/>
            <a:ext cx="5559552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agent register claude       </a:t>
            </a: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prints a revocable CONCEALER_TOKEN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mcp add --scope user concealer </a:t>
            </a: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900" dirty="0"/>
          </a:p>
          <a:p>
            <a:pPr marL="0" indent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--env CONCEALER_TOKEN=&lt;token&gt; -- concealer mcp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4384548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kern="0" spc="14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76288" y="4640580"/>
            <a:ext cx="4748479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6"/>
          <p:cNvSpPr txBox="1"/>
          <p:nvPr/>
        </p:nvSpPr>
        <p:spPr>
          <a:xfrm>
            <a:off x="6876288" y="4805172"/>
            <a:ext cx="4748479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41"/>
              </a:lnSpc>
              <a:spcAft>
                <a:spcPts val="400"/>
              </a:spcAft>
              <a:buNone/>
            </a:pPr>
            <a:r>
              <a:rPr lang="en-US" sz="84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4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8 recovery codes somewhere else</a:t>
            </a: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on this machine. They are shown once.</a:t>
            </a:r>
            <a:endParaRPr lang="en-US" sz="940" dirty="0"/>
          </a:p>
          <a:p>
            <a:pPr marL="0" indent="0">
              <a:lnSpc>
                <a:spcPts val="1241"/>
              </a:lnSpc>
              <a:spcAft>
                <a:spcPts val="400"/>
              </a:spcAft>
              <a:buNone/>
            </a:pPr>
            <a:r>
              <a:rPr lang="en-US" sz="84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4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what's already loose:</a:t>
            </a: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4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scan ./repo --history --envvars --import</a:t>
            </a: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40" dirty="0"/>
          </a:p>
          <a:p>
            <a:pPr marL="0" indent="0">
              <a:lnSpc>
                <a:spcPts val="1241"/>
              </a:lnSpc>
              <a:spcAft>
                <a:spcPts val="400"/>
              </a:spcAft>
              <a:buNone/>
            </a:pPr>
            <a:r>
              <a:rPr lang="en-US" sz="84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4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what's already out:</a:t>
            </a: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Risks → Exposure, or </a:t>
            </a:r>
            <a:r>
              <a:rPr lang="en-US" sz="94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expose</a:t>
            </a: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94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gitscan</a:t>
            </a: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40" dirty="0"/>
          </a:p>
          <a:p>
            <a:pPr marL="0" indent="0">
              <a:lnSpc>
                <a:spcPts val="1241"/>
              </a:lnSpc>
              <a:spcAft>
                <a:spcPts val="400"/>
              </a:spcAft>
              <a:buNone/>
            </a:pPr>
            <a:r>
              <a:rPr lang="en-US" sz="84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94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Chrome extension</a:t>
            </a: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</a:t>
            </a:r>
            <a:r>
              <a:rPr lang="en-US" sz="94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chrome-extension</a:t>
            </a: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once per machine.</a:t>
            </a:r>
            <a:endParaRPr lang="en-US" sz="94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CBBDCD9-3C4B-3872-B5EA-75A965C64F78}"/>
              </a:ext>
            </a:extLst>
          </p:cNvPr>
          <p:cNvGrpSpPr/>
          <p:nvPr/>
        </p:nvGrpSpPr>
        <p:grpSpPr>
          <a:xfrm>
            <a:off x="9837666" y="6396228"/>
            <a:ext cx="1793035" cy="192024"/>
            <a:chOff x="1500530" y="5870448"/>
            <a:chExt cx="1867205" cy="384048"/>
          </a:xfrm>
        </p:grpSpPr>
        <p:sp>
          <p:nvSpPr>
            <p:cNvPr id="30" name="Shape 18">
              <a:extLst>
                <a:ext uri="{FF2B5EF4-FFF2-40B4-BE49-F238E27FC236}">
                  <a16:creationId xmlns:a16="http://schemas.microsoft.com/office/drawing/2014/main" id="{3A6FB60D-6321-9EC0-AE59-3124995EF562}"/>
                </a:ext>
              </a:extLst>
            </p:cNvPr>
            <p:cNvSpPr/>
            <p:nvPr/>
          </p:nvSpPr>
          <p:spPr>
            <a:xfrm>
              <a:off x="1500530" y="5870448"/>
              <a:ext cx="1867205" cy="384048"/>
            </a:xfrm>
            <a:prstGeom prst="roundRect">
              <a:avLst>
                <a:gd name="adj" fmla="val 16667"/>
              </a:avLst>
            </a:prstGeom>
            <a:solidFill>
              <a:srgbClr val="FF4D4D"/>
            </a:solidFill>
            <a:ln w="9525">
              <a:solidFill>
                <a:srgbClr val="FF4D4D"/>
              </a:solidFill>
              <a:prstDash val="solid"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31" name="Text 19">
              <a:hlinkClick r:id="rId3"/>
              <a:extLst>
                <a:ext uri="{FF2B5EF4-FFF2-40B4-BE49-F238E27FC236}">
                  <a16:creationId xmlns:a16="http://schemas.microsoft.com/office/drawing/2014/main" id="{3A00C6FE-D396-0E54-2428-AE9E59E769AF}"/>
                </a:ext>
              </a:extLst>
            </p:cNvPr>
            <p:cNvSpPr txBox="1"/>
            <p:nvPr/>
          </p:nvSpPr>
          <p:spPr>
            <a:xfrm>
              <a:off x="1500530" y="5870448"/>
              <a:ext cx="1867205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A0B0D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concealer.fxerkan.com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6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5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 v0.9.24  ·  MIT  ·  Developed by FXerkan — Code more, worry less.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274320" cy="100584"/>
          </a:xfrm>
          <a:prstGeom prst="roundRect">
            <a:avLst>
              <a:gd name="adj" fmla="val 36364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 txBox="1"/>
          <p:nvPr/>
        </p:nvSpPr>
        <p:spPr>
          <a:xfrm>
            <a:off x="950976" y="20025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THING TO TAKE AWAY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32304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pasting keys into </a:t>
            </a:r>
            <a:r>
              <a:rPr lang="en-US" sz="36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windows.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611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Local-only. Portable. Open source. Built for the way we code now.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4224528"/>
            <a:ext cx="2443277" cy="310896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 w="9525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 txBox="1"/>
          <p:nvPr/>
        </p:nvSpPr>
        <p:spPr>
          <a:xfrm>
            <a:off x="566928" y="4224528"/>
            <a:ext cx="24432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fxerkan/tap/concealer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19933" y="4224528"/>
            <a:ext cx="1642262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>
            <a:hlinkClick r:id="rId3"/>
          </p:cNvPr>
          <p:cNvSpPr txBox="1"/>
          <p:nvPr/>
        </p:nvSpPr>
        <p:spPr>
          <a:xfrm>
            <a:off x="3119933" y="4224528"/>
            <a:ext cx="1642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pipx install concealer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71923" y="4224528"/>
            <a:ext cx="1709014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 txBox="1"/>
          <p:nvPr/>
        </p:nvSpPr>
        <p:spPr>
          <a:xfrm>
            <a:off x="4871923" y="4224528"/>
            <a:ext cx="1709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scoop install concealer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90665" y="4224528"/>
            <a:ext cx="373990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 txBox="1"/>
          <p:nvPr/>
        </p:nvSpPr>
        <p:spPr>
          <a:xfrm>
            <a:off x="6690665" y="4224528"/>
            <a:ext cx="373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74382" y="4224528"/>
            <a:ext cx="1709014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 txBox="1"/>
          <p:nvPr/>
        </p:nvSpPr>
        <p:spPr>
          <a:xfrm>
            <a:off x="7174382" y="4224528"/>
            <a:ext cx="1709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· Linux · Windows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4828032"/>
            <a:ext cx="1867205" cy="384048"/>
          </a:xfrm>
          <a:prstGeom prst="roundRect">
            <a:avLst>
              <a:gd name="adj" fmla="val 16667"/>
            </a:avLst>
          </a:prstGeom>
          <a:solidFill>
            <a:srgbClr val="FF4D4D"/>
          </a:solidFill>
          <a:ln w="9525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>
            <a:hlinkClick r:id="rId4"/>
          </p:cNvPr>
          <p:cNvSpPr txBox="1"/>
          <p:nvPr/>
        </p:nvSpPr>
        <p:spPr>
          <a:xfrm>
            <a:off x="566928" y="4828032"/>
            <a:ext cx="18672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concealer.fxerkan.com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2149" y="4828032"/>
            <a:ext cx="742493" cy="384048"/>
          </a:xfrm>
          <a:prstGeom prst="roundRect">
            <a:avLst>
              <a:gd name="adj" fmla="val 1666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>
            <a:hlinkClick r:id="rId5"/>
          </p:cNvPr>
          <p:cNvSpPr txBox="1"/>
          <p:nvPr/>
        </p:nvSpPr>
        <p:spPr>
          <a:xfrm>
            <a:off x="2562149" y="4828032"/>
            <a:ext cx="7424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32658" y="4828032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>
            <a:hlinkClick r:id="rId6"/>
          </p:cNvPr>
          <p:cNvSpPr txBox="1"/>
          <p:nvPr/>
        </p:nvSpPr>
        <p:spPr>
          <a:xfrm>
            <a:off x="3432658" y="48280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comparison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77994" y="4828032"/>
            <a:ext cx="1492301" cy="384048"/>
          </a:xfrm>
          <a:prstGeom prst="roundRect">
            <a:avLst>
              <a:gd name="adj" fmla="val 1666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5">
            <a:hlinkClick r:id="rId7"/>
          </p:cNvPr>
          <p:cNvSpPr txBox="1"/>
          <p:nvPr/>
        </p:nvSpPr>
        <p:spPr>
          <a:xfrm>
            <a:off x="4977994" y="4828032"/>
            <a:ext cx="1492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 Web Store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98310" y="4828032"/>
            <a:ext cx="817474" cy="384048"/>
          </a:xfrm>
          <a:prstGeom prst="roundRect">
            <a:avLst>
              <a:gd name="adj" fmla="val 1666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7">
            <a:hlinkClick r:id="rId8"/>
          </p:cNvPr>
          <p:cNvSpPr txBox="1"/>
          <p:nvPr/>
        </p:nvSpPr>
        <p:spPr>
          <a:xfrm>
            <a:off x="6598310" y="4828032"/>
            <a:ext cx="817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5411</Words>
  <Application>Microsoft Macintosh PowerPoint</Application>
  <PresentationFormat>Widescreen</PresentationFormat>
  <Paragraphs>628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Concealer Pitch Deck</dc:title>
  <dc:subject>PptxGenJS Presentation</dc:subject>
  <dc:creator>FXerkan</dc:creator>
  <cp:lastModifiedBy>Erkan Çiftçi</cp:lastModifiedBy>
  <cp:revision>2</cp:revision>
  <dcterms:created xsi:type="dcterms:W3CDTF">2026-09-12T20:39:39Z</dcterms:created>
  <dcterms:modified xsi:type="dcterms:W3CDTF">2026-09-13T10:39:33Z</dcterms:modified>
</cp:coreProperties>
</file>